
<file path=[Content_Types].xml><?xml version="1.0" encoding="utf-8"?>
<Types xmlns="http://schemas.openxmlformats.org/package/2006/content-types">
  <Default Extension="xlsx" ContentType="application/vnd.openxmlformats-officedocument.spreadsheetml.sheet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olors1.xml" ContentType="application/vnd.ms-office.chartcolorstyle+xml"/>
  <Override PartName="/ppt/charts/colors2.xml" ContentType="application/vnd.ms-office.chartcolorstyle+xml"/>
  <Override PartName="/ppt/charts/colors3.xml" ContentType="application/vnd.ms-office.chartcolorstyle+xml"/>
  <Override PartName="/ppt/charts/style1.xml" ContentType="application/vnd.ms-office.chartstyle+xml"/>
  <Override PartName="/ppt/charts/style2.xml" ContentType="application/vnd.ms-office.chartstyle+xml"/>
  <Override PartName="/ppt/charts/style3.xml" ContentType="application/vnd.ms-office.chartstyle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Override1.xml" ContentType="application/vnd.openxmlformats-officedocument.themeOverrid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6"/>
  </p:notesMasterIdLst>
  <p:handoutMasterIdLst>
    <p:handoutMasterId r:id="rId18"/>
  </p:handoutMasterIdLst>
  <p:sldIdLst>
    <p:sldId id="265" r:id="rId3"/>
    <p:sldId id="264" r:id="rId4"/>
    <p:sldId id="268" r:id="rId5"/>
    <p:sldId id="256" r:id="rId7"/>
    <p:sldId id="271" r:id="rId8"/>
    <p:sldId id="258" r:id="rId9"/>
    <p:sldId id="259" r:id="rId10"/>
    <p:sldId id="260" r:id="rId11"/>
    <p:sldId id="261" r:id="rId12"/>
    <p:sldId id="269" r:id="rId13"/>
    <p:sldId id="262" r:id="rId14"/>
    <p:sldId id="263" r:id="rId15"/>
    <p:sldId id="272" r:id="rId16"/>
    <p:sldId id="270" r:id="rId17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3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99" d="100"/>
          <a:sy n="99" d="100"/>
        </p:scale>
        <p:origin x="84" y="582"/>
      </p:cViewPr>
      <p:guideLst>
        <p:guide orient="horz" pos="2130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1" Type="http://schemas.openxmlformats.org/officeDocument/2006/relationships/tableStyles" Target="tableStyles.xml"/><Relationship Id="rId20" Type="http://schemas.openxmlformats.org/officeDocument/2006/relationships/viewProps" Target="viewProps.xml"/><Relationship Id="rId2" Type="http://schemas.openxmlformats.org/officeDocument/2006/relationships/theme" Target="theme/theme1.xml"/><Relationship Id="rId19" Type="http://schemas.openxmlformats.org/officeDocument/2006/relationships/presProps" Target="presProps.xml"/><Relationship Id="rId18" Type="http://schemas.openxmlformats.org/officeDocument/2006/relationships/handoutMaster" Target="handoutMasters/handoutMaster1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charts/_rels/chart1.xml.rels><?xml version="1.0" encoding="UTF-8" standalone="yes"?>
<Relationships xmlns="http://schemas.openxmlformats.org/package/2006/relationships"><Relationship Id="rId3" Type="http://schemas.microsoft.com/office/2011/relationships/chartColorStyle" Target="colors1.xml"/><Relationship Id="rId2" Type="http://schemas.microsoft.com/office/2011/relationships/chartStyle" Target="style1.xml"/><Relationship Id="rId1" Type="http://schemas.openxmlformats.org/officeDocument/2006/relationships/package" Target="../embeddings/Workbook1.xlsx"/></Relationships>
</file>

<file path=ppt/charts/_rels/chart2.xml.rels><?xml version="1.0" encoding="UTF-8" standalone="yes"?>
<Relationships xmlns="http://schemas.openxmlformats.org/package/2006/relationships"><Relationship Id="rId3" Type="http://schemas.microsoft.com/office/2011/relationships/chartColorStyle" Target="colors2.xml"/><Relationship Id="rId2" Type="http://schemas.microsoft.com/office/2011/relationships/chartStyle" Target="style2.xml"/><Relationship Id="rId1" Type="http://schemas.openxmlformats.org/officeDocument/2006/relationships/package" Target="../embeddings/Workbook2.xlsx"/></Relationships>
</file>

<file path=ppt/charts/_rels/chart3.xml.rels><?xml version="1.0" encoding="UTF-8" standalone="yes"?>
<Relationships xmlns="http://schemas.openxmlformats.org/package/2006/relationships"><Relationship Id="rId4" Type="http://schemas.microsoft.com/office/2011/relationships/chartColorStyle" Target="colors3.xml"/><Relationship Id="rId3" Type="http://schemas.microsoft.com/office/2011/relationships/chartStyle" Target="style3.xml"/><Relationship Id="rId2" Type="http://schemas.openxmlformats.org/officeDocument/2006/relationships/themeOverride" Target="../theme/themeOverride1.xml"/><Relationship Id="rId1" Type="http://schemas.openxmlformats.org/officeDocument/2006/relationships/package" Target="../embeddings/Workbook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4"/>
    </mc:Choice>
    <mc:Fallback>
      <c:style val="4"/>
    </mc:Fallback>
  </mc:AlternateContent>
  <c:chart>
    <c:title>
      <c:tx>
        <c:rich>
          <a:bodyPr rot="0" spcFirstLastPara="0" vertOverflow="ellipsis" vert="horz" wrap="square" anchor="ctr" anchorCtr="1" forceAA="0"/>
          <a:lstStyle/>
          <a:p>
            <a:pPr defTabSz="914400">
              <a:defRPr lang="zh-CN" sz="960" b="1" i="0" u="none" strike="noStrike" kern="1200" spc="0" baseline="0">
                <a:solidFill>
                  <a:schemeClr val="accent2">
                    <a:lumMod val="75000"/>
                  </a:schemeClr>
                </a:solidFill>
                <a:latin typeface="微软雅黑" charset="-122"/>
                <a:ea typeface="微软雅黑" charset="-122"/>
                <a:cs typeface="微软雅黑" charset="-122"/>
                <a:sym typeface="微软雅黑" charset="-122"/>
              </a:defRPr>
            </a:pPr>
            <a:r>
              <a:rPr sz="960" b="1">
                <a:solidFill>
                  <a:schemeClr val="accent2">
                    <a:lumMod val="75000"/>
                  </a:schemeClr>
                </a:solidFill>
              </a:rPr>
              <a:t>Gender</a:t>
            </a:r>
            <a:endParaRPr sz="960" b="1">
              <a:solidFill>
                <a:schemeClr val="accent2">
                  <a:lumMod val="75000"/>
                </a:schemeClr>
              </a:solidFill>
            </a:endParaRPr>
          </a:p>
        </c:rich>
      </c:tx>
      <c:layout>
        <c:manualLayout>
          <c:xMode val="edge"/>
          <c:yMode val="edge"/>
          <c:x val="0.39949947312961"/>
          <c:y val="0.16196542311192"/>
        </c:manualLayout>
      </c:layout>
      <c:overlay val="0"/>
      <c:spPr>
        <a:noFill/>
        <a:ln>
          <a:noFill/>
        </a:ln>
        <a:effectLst/>
      </c:spPr>
    </c:title>
    <c:autoTitleDeleted val="0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Gender</c:v>
                </c:pt>
              </c:strCache>
            </c:strRef>
          </c:tx>
          <c:spPr>
            <a:effectLst>
              <a:outerShdw blurRad="50800" dist="38100" dir="2700000" algn="tl" rotWithShape="0">
                <a:schemeClr val="accent1">
                  <a:alpha val="40000"/>
                </a:schemeClr>
              </a:outerShdw>
            </a:effectLst>
          </c:spPr>
          <c:explosion val="0"/>
          <c:dPt>
            <c:idx val="0"/>
            <c:bubble3D val="0"/>
            <c:spPr>
              <a:solidFill>
                <a:schemeClr val="accent2">
                  <a:shade val="76667"/>
                </a:schemeClr>
              </a:solidFill>
              <a:ln w="19050">
                <a:solidFill>
                  <a:schemeClr val="lt1"/>
                </a:solidFill>
              </a:ln>
              <a:effectLst>
                <a:outerShdw blurRad="50800" dist="38100" dir="2700000" algn="tl" rotWithShape="0">
                  <a:schemeClr val="accent1">
                    <a:alpha val="40000"/>
                  </a:schemeClr>
                </a:outerShdw>
              </a:effectLst>
            </c:spPr>
          </c:dPt>
          <c:dPt>
            <c:idx val="1"/>
            <c:bubble3D val="0"/>
            <c:spPr>
              <a:solidFill>
                <a:schemeClr val="accent2">
                  <a:tint val="76667"/>
                </a:schemeClr>
              </a:solidFill>
              <a:ln w="19050">
                <a:solidFill>
                  <a:schemeClr val="lt1"/>
                </a:solidFill>
              </a:ln>
              <a:effectLst>
                <a:outerShdw blurRad="50800" dist="38100" dir="2700000" algn="tl" rotWithShape="0">
                  <a:schemeClr val="accent2">
                    <a:alpha val="40000"/>
                  </a:schemeClr>
                </a:outerShdw>
              </a:effectLst>
            </c:spPr>
          </c:dPt>
          <c:dLbls>
            <c:numFmt formatCode="General" sourceLinked="1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 forceAA="0">
                <a:spAutoFit/>
              </a:bodyPr>
              <a:lstStyle/>
              <a:p>
                <a:pPr>
                  <a:defRPr lang="zh-CN" sz="800" b="1" i="0" u="none" strike="noStrike" kern="1200" baseline="0">
                    <a:solidFill>
                      <a:schemeClr val="accent2">
                        <a:lumMod val="75000"/>
                      </a:schemeClr>
                    </a:solidFill>
                    <a:latin typeface="微软雅黑" charset="-122"/>
                    <a:ea typeface="微软雅黑" charset="-122"/>
                    <a:cs typeface="微软雅黑" charset="-122"/>
                    <a:sym typeface="微软雅黑" charset="-122"/>
                  </a:defRPr>
                </a:pPr>
              </a:p>
            </c:txPr>
            <c:dLblPos val="inEnd"/>
            <c:showLegendKey val="0"/>
            <c:showVal val="1"/>
            <c:showCatName val="1"/>
            <c:showSerName val="0"/>
            <c:showPercent val="0"/>
            <c:showBubbleSize val="0"/>
            <c:separator>
</c:separator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Sheet1!$A$2:$A$3</c:f>
              <c:strCache>
                <c:ptCount val="2"/>
                <c:pt idx="0">
                  <c:v>Male</c:v>
                </c:pt>
                <c:pt idx="1">
                  <c:v>Female</c:v>
                </c:pt>
              </c:strCache>
            </c:strRef>
          </c:cat>
          <c:val>
            <c:numRef>
              <c:f>Sheet1!$B$2:$B$3</c:f>
              <c:numCache>
                <c:formatCode>0%</c:formatCode>
                <c:ptCount val="2"/>
                <c:pt idx="0">
                  <c:v>0.3</c:v>
                </c:pt>
                <c:pt idx="1">
                  <c:v>0.7</c:v>
                </c:pt>
              </c:numCache>
            </c:numRef>
          </c:val>
        </c:ser>
        <c:dLbls>
          <c:showLegendKey val="0"/>
          <c:showVal val="1"/>
          <c:showCatName val="1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plotVisOnly val="1"/>
    <c:dispBlanksAs val="gap"/>
    <c:showDLblsOverMax val="0"/>
    <c:extLst>
      <c:ext uri="{0b15fc19-7d7d-44ad-8c2d-2c3a37ce22c3}">
        <chartProps xmlns="https://web.wps.cn/et/2018/main" chartId="{aa2a87ab-0412-415c-a7c4-a618dc76b82e}"/>
      </c:ext>
    </c:extLst>
  </c:chart>
  <c:spPr>
    <a:noFill/>
    <a:ln w="6350" cap="flat" cmpd="sng" algn="ctr">
      <a:noFill/>
      <a:round/>
    </a:ln>
    <a:effectLst/>
  </c:spPr>
  <c:txPr>
    <a:bodyPr/>
    <a:lstStyle/>
    <a:p>
      <a:pPr>
        <a:defRPr lang="zh-CN" sz="800" b="1">
          <a:solidFill>
            <a:schemeClr val="accent2">
              <a:lumMod val="75000"/>
            </a:schemeClr>
          </a:solidFill>
          <a:latin typeface="微软雅黑" charset="-122"/>
          <a:ea typeface="微软雅黑" charset="-122"/>
          <a:cs typeface="微软雅黑" charset="-122"/>
          <a:sym typeface="微软雅黑" charset="-122"/>
        </a:defRPr>
      </a:pPr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4"/>
    </mc:Choice>
    <mc:Fallback>
      <c:style val="4"/>
    </mc:Fallback>
  </mc:AlternateContent>
  <c:chart>
    <c:title>
      <c:tx>
        <c:rich>
          <a:bodyPr rot="0" spcFirstLastPara="0" vertOverflow="ellipsis" vert="horz" wrap="square" anchor="ctr" anchorCtr="1"/>
          <a:lstStyle/>
          <a:p>
            <a:pPr defTabSz="914400">
              <a:defRPr lang="zh-CN" sz="960" b="1" i="0" u="none" strike="noStrike" kern="1200" baseline="0">
                <a:solidFill>
                  <a:schemeClr val="accent2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sz="960">
                <a:solidFill>
                  <a:schemeClr val="accent2">
                    <a:lumMod val="75000"/>
                  </a:schemeClr>
                </a:solidFill>
              </a:rPr>
              <a:t>Locations</a:t>
            </a:r>
            <a:endParaRPr sz="960">
              <a:solidFill>
                <a:schemeClr val="accent2">
                  <a:lumMod val="75000"/>
                </a:schemeClr>
              </a:solidFill>
            </a:endParaRPr>
          </a:p>
        </c:rich>
      </c:tx>
      <c:layout>
        <c:manualLayout>
          <c:xMode val="edge"/>
          <c:yMode val="edge"/>
          <c:x val="0.373633358759217"/>
          <c:y val="0.152021089630931"/>
        </c:manualLayout>
      </c:layout>
      <c:overlay val="0"/>
      <c:spPr>
        <a:noFill/>
        <a:ln>
          <a:noFill/>
        </a:ln>
        <a:effectLst/>
      </c:spPr>
    </c:title>
    <c:autoTitleDeleted val="0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Location</c:v>
                </c:pt>
              </c:strCache>
            </c:strRef>
          </c:tx>
          <c:spPr/>
          <c:explosion val="0"/>
          <c:dPt>
            <c:idx val="0"/>
            <c:bubble3D val="0"/>
            <c:explosion val="5"/>
            <c:spPr>
              <a:gradFill>
                <a:gsLst>
                  <a:gs pos="0">
                    <a:schemeClr val="accent2">
                      <a:shade val="58000"/>
                      <a:lumMod val="40000"/>
                      <a:lumOff val="60000"/>
                    </a:schemeClr>
                  </a:gs>
                  <a:gs pos="90000">
                    <a:schemeClr val="accent2">
                      <a:shade val="58000"/>
                    </a:schemeClr>
                  </a:gs>
                </a:gsLst>
                <a:lin ang="5400000" scaled="0"/>
              </a:gradFill>
              <a:ln>
                <a:gradFill>
                  <a:gsLst>
                    <a:gs pos="0">
                      <a:schemeClr val="accent2">
                        <a:shade val="58000"/>
                      </a:schemeClr>
                    </a:gs>
                    <a:gs pos="100000">
                      <a:schemeClr val="accent2">
                        <a:shade val="58000"/>
                        <a:lumMod val="75000"/>
                      </a:schemeClr>
                    </a:gs>
                  </a:gsLst>
                  <a:lin ang="5400000" scaled="1"/>
                </a:gradFill>
              </a:ln>
              <a:effectLst/>
            </c:spPr>
          </c:dPt>
          <c:dPt>
            <c:idx val="1"/>
            <c:bubble3D val="0"/>
            <c:spPr>
              <a:gradFill>
                <a:gsLst>
                  <a:gs pos="0">
                    <a:schemeClr val="accent2">
                      <a:shade val="86000"/>
                      <a:lumMod val="40000"/>
                      <a:lumOff val="60000"/>
                    </a:schemeClr>
                  </a:gs>
                  <a:gs pos="90000">
                    <a:schemeClr val="accent2">
                      <a:shade val="86000"/>
                    </a:schemeClr>
                  </a:gs>
                </a:gsLst>
                <a:lin ang="5400000" scaled="0"/>
              </a:gradFill>
              <a:ln>
                <a:gradFill>
                  <a:gsLst>
                    <a:gs pos="0">
                      <a:schemeClr val="accent2">
                        <a:shade val="86000"/>
                      </a:schemeClr>
                    </a:gs>
                    <a:gs pos="100000">
                      <a:schemeClr val="accent2">
                        <a:shade val="86000"/>
                        <a:lumMod val="75000"/>
                      </a:schemeClr>
                    </a:gs>
                  </a:gsLst>
                  <a:lin ang="5400000" scaled="1"/>
                </a:gradFill>
              </a:ln>
              <a:effectLst/>
            </c:spPr>
          </c:dPt>
          <c:dPt>
            <c:idx val="2"/>
            <c:bubble3D val="0"/>
            <c:spPr>
              <a:gradFill>
                <a:gsLst>
                  <a:gs pos="0">
                    <a:schemeClr val="accent2">
                      <a:tint val="86000"/>
                      <a:lumMod val="40000"/>
                      <a:lumOff val="60000"/>
                    </a:schemeClr>
                  </a:gs>
                  <a:gs pos="90000">
                    <a:schemeClr val="accent2">
                      <a:tint val="86000"/>
                    </a:schemeClr>
                  </a:gs>
                </a:gsLst>
                <a:lin ang="5400000" scaled="0"/>
              </a:gradFill>
              <a:ln>
                <a:gradFill>
                  <a:gsLst>
                    <a:gs pos="0">
                      <a:schemeClr val="accent2">
                        <a:tint val="86000"/>
                      </a:schemeClr>
                    </a:gs>
                    <a:gs pos="100000">
                      <a:schemeClr val="accent2">
                        <a:tint val="86000"/>
                        <a:lumMod val="75000"/>
                      </a:schemeClr>
                    </a:gs>
                  </a:gsLst>
                  <a:lin ang="5400000" scaled="1"/>
                </a:gradFill>
              </a:ln>
              <a:effectLst/>
            </c:spPr>
          </c:dPt>
          <c:dPt>
            <c:idx val="3"/>
            <c:bubble3D val="0"/>
            <c:spPr>
              <a:gradFill>
                <a:gsLst>
                  <a:gs pos="0">
                    <a:schemeClr val="accent2">
                      <a:tint val="58000"/>
                      <a:lumMod val="40000"/>
                      <a:lumOff val="60000"/>
                    </a:schemeClr>
                  </a:gs>
                  <a:gs pos="90000">
                    <a:schemeClr val="accent2">
                      <a:tint val="58000"/>
                    </a:schemeClr>
                  </a:gs>
                </a:gsLst>
                <a:lin ang="5400000" scaled="0"/>
              </a:gradFill>
              <a:ln>
                <a:gradFill>
                  <a:gsLst>
                    <a:gs pos="0">
                      <a:schemeClr val="accent2">
                        <a:tint val="58000"/>
                      </a:schemeClr>
                    </a:gs>
                    <a:gs pos="100000">
                      <a:schemeClr val="accent2">
                        <a:tint val="58000"/>
                        <a:lumMod val="75000"/>
                      </a:schemeClr>
                    </a:gs>
                  </a:gsLst>
                  <a:lin ang="5400000" scaled="1"/>
                </a:gradFill>
              </a:ln>
              <a:effectLst/>
            </c:spPr>
          </c:dPt>
          <c:dLbls>
            <c:dLbl>
              <c:idx val="0"/>
              <c:layout/>
              <c:numFmt formatCode="General" sourceLinked="1"/>
              <c:spPr>
                <a:noFill/>
                <a:ln>
                  <a:noFill/>
                </a:ln>
                <a:effectLst/>
              </c:spPr>
              <c:txPr>
                <a:bodyPr rot="0" spcFirstLastPara="0" vertOverflow="ellipsis" vert="horz" wrap="square" lIns="38100" tIns="19050" rIns="38100" bIns="19050" anchor="ctr" anchorCtr="1"/>
                <a:lstStyle/>
                <a:p>
                  <a:pPr>
                    <a:defRPr lang="zh-CN" sz="700" b="0" i="0" u="none" strike="noStrike" kern="1200" baseline="0">
                      <a:solidFill>
                        <a:schemeClr val="accent2">
                          <a:lumMod val="50000"/>
                        </a:schemeClr>
                      </a:solidFill>
                      <a:latin typeface="+mn-lt"/>
                      <a:ea typeface="+mn-ea"/>
                      <a:cs typeface="+mn-cs"/>
                    </a:defRPr>
                  </a:pPr>
                </a:p>
              </c:txPr>
              <c:dLblPos val="inEnd"/>
              <c:showLegendKey val="0"/>
              <c:showVal val="0"/>
              <c:showCatName val="1"/>
              <c:showSerName val="0"/>
              <c:showPercent val="1"/>
              <c:showBubbleSize val="0"/>
              <c:separator>
</c:separator>
              <c:extLst>
                <c:ext xmlns:c15="http://schemas.microsoft.com/office/drawing/2012/chart" uri="{CE6537A1-D6FC-4f65-9D91-7224C49458BB}"/>
              </c:extLst>
            </c:dLbl>
            <c:dLbl>
              <c:idx val="1"/>
              <c:layout>
                <c:manualLayout>
                  <c:x val="0.0829702660220612"/>
                  <c:y val="0.0603680741672116"/>
                </c:manualLayout>
              </c:layout>
              <c:numFmt formatCode="General" sourceLinked="1"/>
              <c:spPr>
                <a:noFill/>
                <a:ln>
                  <a:noFill/>
                </a:ln>
                <a:effectLst/>
              </c:spPr>
              <c:txPr>
                <a:bodyPr rot="0" spcFirstLastPara="0" vertOverflow="ellipsis" vert="horz" wrap="square" lIns="38100" tIns="19050" rIns="38100" bIns="19050" anchor="ctr" anchorCtr="1"/>
                <a:lstStyle/>
                <a:p>
                  <a:pPr>
                    <a:defRPr lang="zh-CN" sz="700" b="0" i="0" u="none" strike="noStrike" kern="1200" baseline="0">
                      <a:solidFill>
                        <a:schemeClr val="accent2">
                          <a:lumMod val="50000"/>
                        </a:schemeClr>
                      </a:solidFill>
                      <a:latin typeface="+mn-lt"/>
                      <a:ea typeface="+mn-ea"/>
                      <a:cs typeface="+mn-cs"/>
                    </a:defRPr>
                  </a:pPr>
                </a:p>
              </c:txPr>
              <c:dLblPos val="bestFit"/>
              <c:showLegendKey val="0"/>
              <c:showVal val="0"/>
              <c:showCatName val="1"/>
              <c:showSerName val="0"/>
              <c:showPercent val="1"/>
              <c:showBubbleSize val="0"/>
              <c:separator>
</c:separator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2"/>
              <c:layout>
                <c:manualLayout>
                  <c:x val="0.00935606750734812"/>
                  <c:y val="0.060189233457866"/>
                </c:manualLayout>
              </c:layout>
              <c:numFmt formatCode="General" sourceLinked="1"/>
              <c:spPr>
                <a:noFill/>
                <a:ln>
                  <a:noFill/>
                </a:ln>
                <a:effectLst/>
              </c:spPr>
              <c:txPr>
                <a:bodyPr rot="0" spcFirstLastPara="0" vertOverflow="ellipsis" vert="horz" wrap="square" lIns="38100" tIns="19050" rIns="38100" bIns="19050" anchor="ctr" anchorCtr="1"/>
                <a:lstStyle/>
                <a:p>
                  <a:pPr>
                    <a:defRPr lang="zh-CN" sz="700" b="0" i="0" u="none" strike="noStrike" kern="1200" baseline="0">
                      <a:solidFill>
                        <a:schemeClr val="accent2">
                          <a:lumMod val="50000"/>
                        </a:schemeClr>
                      </a:solidFill>
                      <a:latin typeface="+mn-lt"/>
                      <a:ea typeface="+mn-ea"/>
                      <a:cs typeface="+mn-cs"/>
                    </a:defRPr>
                  </a:pPr>
                </a:p>
              </c:txPr>
              <c:dLblPos val="bestFit"/>
              <c:showLegendKey val="0"/>
              <c:showVal val="0"/>
              <c:showCatName val="1"/>
              <c:showSerName val="0"/>
              <c:showPercent val="1"/>
              <c:showBubbleSize val="0"/>
              <c:separator>
</c:separator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3"/>
              <c:layout/>
              <c:numFmt formatCode="General" sourceLinked="1"/>
              <c:spPr>
                <a:noFill/>
                <a:ln>
                  <a:noFill/>
                </a:ln>
                <a:effectLst/>
              </c:spPr>
              <c:txPr>
                <a:bodyPr rot="0" spcFirstLastPara="0" vertOverflow="ellipsis" vert="horz" wrap="square" lIns="38100" tIns="19050" rIns="38100" bIns="19050" anchor="ctr" anchorCtr="1"/>
                <a:lstStyle/>
                <a:p>
                  <a:pPr>
                    <a:defRPr lang="zh-CN" sz="700" b="0" i="0" u="none" strike="noStrike" kern="1200" baseline="0">
                      <a:solidFill>
                        <a:schemeClr val="accent2">
                          <a:lumMod val="50000"/>
                        </a:schemeClr>
                      </a:solidFill>
                      <a:latin typeface="+mn-lt"/>
                      <a:ea typeface="+mn-ea"/>
                      <a:cs typeface="+mn-cs"/>
                    </a:defRPr>
                  </a:pPr>
                </a:p>
              </c:txPr>
              <c:dLblPos val="inEnd"/>
              <c:showLegendKey val="0"/>
              <c:showVal val="0"/>
              <c:showCatName val="1"/>
              <c:showSerName val="0"/>
              <c:showPercent val="1"/>
              <c:showBubbleSize val="0"/>
              <c:separator>
</c:separator>
              <c:extLst>
                <c:ext xmlns:c15="http://schemas.microsoft.com/office/drawing/2012/chart" uri="{CE6537A1-D6FC-4f65-9D91-7224C49458BB}">
                  <c15:layout>
                    <c:manualLayout>
                      <c:w val="0.196574440052701"/>
                      <c:h val="0.188524590163934"/>
                    </c:manualLayout>
                  </c15:layout>
                </c:ext>
              </c:extLst>
            </c:dLbl>
            <c:numFmt formatCode="General" sourceLinked="1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700" b="0" i="0" u="none" strike="noStrike" kern="1200" baseline="0">
                    <a:solidFill>
                      <a:schemeClr val="accent2">
                        <a:lumMod val="50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inEnd"/>
            <c:showLegendKey val="0"/>
            <c:showVal val="0"/>
            <c:showCatName val="1"/>
            <c:showSerName val="0"/>
            <c:showPercent val="1"/>
            <c:showBubbleSize val="0"/>
            <c:showLeaderLines val="1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Sheet1!$A$2:$A$5</c:f>
              <c:strCache>
                <c:ptCount val="4"/>
                <c:pt idx="0">
                  <c:v>UK</c:v>
                </c:pt>
                <c:pt idx="1">
                  <c:v>DE</c:v>
                </c:pt>
                <c:pt idx="2">
                  <c:v>FR</c:v>
                </c:pt>
                <c:pt idx="3">
                  <c:v>Other</c:v>
                </c:pt>
              </c:strCache>
            </c:strRef>
          </c:cat>
          <c:val>
            <c:numRef>
              <c:f>Sheet1!$B$2:$B$5</c:f>
              <c:numCache>
                <c:formatCode>0%</c:formatCode>
                <c:ptCount val="4"/>
                <c:pt idx="0">
                  <c:v>0.7</c:v>
                </c:pt>
                <c:pt idx="1">
                  <c:v>0.15</c:v>
                </c:pt>
                <c:pt idx="2">
                  <c:v>0.1</c:v>
                </c:pt>
                <c:pt idx="3">
                  <c:v>0.05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plotVisOnly val="1"/>
    <c:dispBlanksAs val="gap"/>
    <c:showDLblsOverMax val="0"/>
    <c:extLst>
      <c:ext uri="{0b15fc19-7d7d-44ad-8c2d-2c3a37ce22c3}">
        <chartProps xmlns="https://web.wps.cn/et/2018/main" chartId="{1f6cb5c9-5a26-4343-9297-6c09d3161f34}"/>
      </c:ext>
    </c:extLst>
  </c:chart>
  <c:spPr>
    <a:noFill/>
    <a:ln>
      <a:noFill/>
    </a:ln>
    <a:effectLst/>
  </c:spPr>
  <c:txPr>
    <a:bodyPr/>
    <a:lstStyle/>
    <a:p>
      <a:pPr>
        <a:defRPr lang="zh-CN" sz="800">
          <a:solidFill>
            <a:schemeClr val="accent2">
              <a:lumMod val="75000"/>
            </a:schemeClr>
          </a:solidFill>
        </a:defRPr>
      </a:pPr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title>
      <c:tx>
        <c:rich>
          <a:bodyPr rot="0" spcFirstLastPara="0" vertOverflow="ellipsis" vert="horz" wrap="square" anchor="ctr" anchorCtr="1" forceAA="0"/>
          <a:lstStyle/>
          <a:p>
            <a:pPr defTabSz="914400">
              <a:defRPr lang="zh-CN" sz="960" b="0" i="0" u="none" strike="noStrike" kern="1200" baseline="0">
                <a:solidFill>
                  <a:schemeClr val="accent2">
                    <a:lumMod val="50000"/>
                  </a:schemeClr>
                </a:solidFill>
                <a:latin typeface="微软雅黑" charset="-122"/>
                <a:ea typeface="微软雅黑" charset="-122"/>
                <a:cs typeface="微软雅黑" charset="-122"/>
                <a:sym typeface="微软雅黑" charset="-122"/>
              </a:defRPr>
            </a:pPr>
            <a:r>
              <a:rPr lang="en-US" altLang="zh-CN" sz="960">
                <a:solidFill>
                  <a:schemeClr val="accent2">
                    <a:lumMod val="50000"/>
                  </a:schemeClr>
                </a:solidFill>
              </a:rPr>
              <a:t>Age</a:t>
            </a:r>
            <a:endParaRPr lang="en-US" altLang="zh-CN" sz="960">
              <a:solidFill>
                <a:schemeClr val="accent2">
                  <a:lumMod val="50000"/>
                </a:schemeClr>
              </a:solidFill>
            </a:endParaRPr>
          </a:p>
        </c:rich>
      </c:tx>
      <c:layout>
        <c:manualLayout>
          <c:xMode val="edge"/>
          <c:yMode val="edge"/>
          <c:x val="0.416071062250569"/>
          <c:y val="0.0593165346437705"/>
        </c:manualLayout>
      </c:layout>
      <c:overlay val="0"/>
      <c:spPr>
        <a:noFill/>
        <a:ln>
          <a:noFill/>
        </a:ln>
        <a:effectLst/>
      </c:spPr>
    </c:title>
    <c:autoTitleDeleted val="0"/>
    <c:plotArea>
      <c:layout>
        <c:manualLayout>
          <c:layoutTarget val="inner"/>
          <c:xMode val="edge"/>
          <c:yMode val="edge"/>
          <c:x val="0.240817901234568"/>
          <c:y val="0.249479708636837"/>
          <c:w val="0.701697530864198"/>
          <c:h val="0.5184703433923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0-18</c:v>
                </c:pt>
              </c:strCache>
            </c:strRef>
          </c:tx>
          <c:spPr>
            <a:solidFill>
              <a:schemeClr val="accent1"/>
            </a:solidFill>
            <a:ln w="31750" cap="rnd">
              <a:noFill/>
              <a:round/>
            </a:ln>
            <a:effectLst/>
            <a:sp3d contourW="31750"/>
          </c:spPr>
          <c:invertIfNegative val="0"/>
          <c:dLbls>
            <c:delete val="1"/>
          </c:dLbls>
          <c:cat>
            <c:strRef>
              <c:f>Sheet1!$A$2</c:f>
              <c:strCache>
                <c:ptCount val="1"/>
                <c:pt idx="0">
                  <c:v>Age</c:v>
                </c:pt>
              </c:strCache>
            </c:strRef>
          </c:cat>
          <c:val>
            <c:numRef>
              <c:f>Sheet1!$B$2</c:f>
              <c:numCache>
                <c:formatCode>0%</c:formatCode>
                <c:ptCount val="1"/>
                <c:pt idx="0">
                  <c:v>0.1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18-25</c:v>
                </c:pt>
              </c:strCache>
            </c:strRef>
          </c:tx>
          <c:spPr>
            <a:solidFill>
              <a:schemeClr val="accent2"/>
            </a:solidFill>
            <a:ln w="31750" cap="rnd">
              <a:noFill/>
              <a:round/>
            </a:ln>
            <a:effectLst/>
            <a:sp3d contourW="31750"/>
          </c:spPr>
          <c:invertIfNegative val="0"/>
          <c:dLbls>
            <c:delete val="1"/>
          </c:dLbls>
          <c:cat>
            <c:strRef>
              <c:f>Sheet1!$A$2</c:f>
              <c:strCache>
                <c:ptCount val="1"/>
                <c:pt idx="0">
                  <c:v>Age</c:v>
                </c:pt>
              </c:strCache>
            </c:strRef>
          </c:cat>
          <c:val>
            <c:numRef>
              <c:f>Sheet1!$C$2</c:f>
              <c:numCache>
                <c:formatCode>0%</c:formatCode>
                <c:ptCount val="1"/>
                <c:pt idx="0">
                  <c:v>0.5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25-40</c:v>
                </c:pt>
              </c:strCache>
            </c:strRef>
          </c:tx>
          <c:spPr>
            <a:solidFill>
              <a:schemeClr val="accent3"/>
            </a:solidFill>
            <a:ln w="31750" cap="rnd">
              <a:noFill/>
              <a:round/>
            </a:ln>
            <a:effectLst/>
            <a:sp3d contourW="31750"/>
          </c:spPr>
          <c:invertIfNegative val="0"/>
          <c:dLbls>
            <c:delete val="1"/>
          </c:dLbls>
          <c:cat>
            <c:strRef>
              <c:f>Sheet1!$A$2</c:f>
              <c:strCache>
                <c:ptCount val="1"/>
                <c:pt idx="0">
                  <c:v>Age</c:v>
                </c:pt>
              </c:strCache>
            </c:strRef>
          </c:cat>
          <c:val>
            <c:numRef>
              <c:f>Sheet1!$D$2</c:f>
              <c:numCache>
                <c:formatCode>0%</c:formatCode>
                <c:ptCount val="1"/>
                <c:pt idx="0">
                  <c:v>0.4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92"/>
        <c:overlap val="-21"/>
        <c:axId val="290641895"/>
        <c:axId val="379759648"/>
      </c:barChart>
      <c:catAx>
        <c:axId val="290641895"/>
        <c:scaling>
          <c:orientation val="minMax"/>
        </c:scaling>
        <c:delete val="1"/>
        <c:axPos val="b"/>
        <c:numFmt formatCode="General" sourceLinked="1"/>
        <c:majorTickMark val="none"/>
        <c:minorTickMark val="none"/>
        <c:tickLblPos val="nextTo"/>
        <c:txPr>
          <a:bodyPr rot="-60000000" spcFirstLastPara="0" vertOverflow="ellipsis" vert="horz" wrap="square" anchor="ctr" anchorCtr="1" forceAA="0"/>
          <a:lstStyle/>
          <a:p>
            <a:pPr>
              <a:defRPr lang="zh-CN" sz="800" b="0" i="0" u="none" strike="noStrike" kern="1200" baseline="0">
                <a:solidFill>
                  <a:schemeClr val="accent2">
                    <a:lumMod val="50000"/>
                  </a:schemeClr>
                </a:solidFill>
                <a:latin typeface="微软雅黑" charset="-122"/>
                <a:ea typeface="微软雅黑" charset="-122"/>
                <a:cs typeface="微软雅黑" charset="-122"/>
                <a:sym typeface="微软雅黑" charset="-122"/>
              </a:defRPr>
            </a:pPr>
          </a:p>
        </c:txPr>
        <c:crossAx val="379759648"/>
        <c:crosses val="autoZero"/>
        <c:auto val="1"/>
        <c:lblAlgn val="ctr"/>
        <c:lblOffset val="100"/>
        <c:noMultiLvlLbl val="0"/>
      </c:catAx>
      <c:valAx>
        <c:axId val="379759648"/>
        <c:scaling>
          <c:orientation val="minMax"/>
        </c:scaling>
        <c:delete val="0"/>
        <c:axPos val="l"/>
        <c:minorGridlines>
          <c:spPr>
            <a:ln w="9525" cap="flat" cmpd="sng" algn="ctr">
              <a:solidFill>
                <a:schemeClr val="tx1">
                  <a:lumMod val="50000"/>
                  <a:lumOff val="50000"/>
                  <a:alpha val="10000"/>
                </a:schemeClr>
              </a:solidFill>
              <a:round/>
            </a:ln>
            <a:effectLst/>
          </c:spPr>
        </c:minorGridlines>
        <c:numFmt formatCode="0%" sourceLinked="1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0" vertOverflow="ellipsis" vert="horz" wrap="square" anchor="ctr" anchorCtr="1" forceAA="0"/>
          <a:lstStyle/>
          <a:p>
            <a:pPr>
              <a:defRPr lang="zh-CN" sz="800" b="0" i="0" u="none" strike="noStrike" kern="1200" baseline="0">
                <a:solidFill>
                  <a:schemeClr val="accent2">
                    <a:lumMod val="50000"/>
                  </a:schemeClr>
                </a:solidFill>
                <a:latin typeface="微软雅黑" charset="-122"/>
                <a:ea typeface="微软雅黑" charset="-122"/>
                <a:cs typeface="微软雅黑" charset="-122"/>
                <a:sym typeface="微软雅黑" charset="-122"/>
              </a:defRPr>
            </a:pPr>
          </a:p>
        </c:txPr>
        <c:crossAx val="290641895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legendEntry>
        <c:idx val="0"/>
        <c:txPr>
          <a:bodyPr rot="0" spcFirstLastPara="0" vertOverflow="ellipsis" vert="horz" wrap="square" anchor="ctr" anchorCtr="1"/>
          <a:lstStyle/>
          <a:p>
            <a:pPr>
              <a:defRPr lang="zh-CN" sz="800" b="0" i="0" u="none" strike="noStrike" kern="1200" baseline="0">
                <a:solidFill>
                  <a:schemeClr val="accent2">
                    <a:lumMod val="50000"/>
                  </a:schemeClr>
                </a:solidFill>
                <a:latin typeface="微软雅黑" charset="-122"/>
                <a:ea typeface="微软雅黑" charset="-122"/>
                <a:cs typeface="微软雅黑" charset="-122"/>
                <a:sym typeface="微软雅黑" charset="-122"/>
              </a:defRPr>
            </a:pPr>
          </a:p>
        </c:txPr>
      </c:legendEntry>
      <c:legendEntry>
        <c:idx val="1"/>
        <c:txPr>
          <a:bodyPr rot="0" spcFirstLastPara="0" vertOverflow="ellipsis" vert="horz" wrap="square" anchor="ctr" anchorCtr="1"/>
          <a:lstStyle/>
          <a:p>
            <a:pPr>
              <a:defRPr lang="zh-CN" sz="800" b="0" i="0" u="none" strike="noStrike" kern="1200" baseline="0">
                <a:solidFill>
                  <a:schemeClr val="accent2">
                    <a:lumMod val="50000"/>
                  </a:schemeClr>
                </a:solidFill>
                <a:latin typeface="微软雅黑" charset="-122"/>
                <a:ea typeface="微软雅黑" charset="-122"/>
                <a:cs typeface="微软雅黑" charset="-122"/>
                <a:sym typeface="微软雅黑" charset="-122"/>
              </a:defRPr>
            </a:pPr>
          </a:p>
        </c:txPr>
      </c:legendEntry>
      <c:legendEntry>
        <c:idx val="2"/>
        <c:txPr>
          <a:bodyPr rot="0" spcFirstLastPara="0" vertOverflow="ellipsis" vert="horz" wrap="square" anchor="ctr" anchorCtr="1"/>
          <a:lstStyle/>
          <a:p>
            <a:pPr>
              <a:defRPr lang="zh-CN" sz="800" b="0" i="0" u="none" strike="noStrike" kern="1200" baseline="0">
                <a:solidFill>
                  <a:schemeClr val="accent2">
                    <a:lumMod val="50000"/>
                  </a:schemeClr>
                </a:solidFill>
                <a:latin typeface="微软雅黑" charset="-122"/>
                <a:ea typeface="微软雅黑" charset="-122"/>
                <a:cs typeface="微软雅黑" charset="-122"/>
                <a:sym typeface="微软雅黑" charset="-122"/>
              </a:defRPr>
            </a:pPr>
          </a:p>
        </c:txPr>
      </c:legendEntry>
      <c:layout>
        <c:manualLayout>
          <c:xMode val="edge"/>
          <c:yMode val="edge"/>
          <c:x val="0.171601208459215"/>
          <c:y val="0.804625199362041"/>
        </c:manualLayout>
      </c:layout>
      <c:overlay val="0"/>
      <c:spPr>
        <a:noFill/>
        <a:ln>
          <a:noFill/>
        </a:ln>
        <a:effectLst/>
      </c:spPr>
      <c:txPr>
        <a:bodyPr rot="0" spcFirstLastPara="0" vertOverflow="ellipsis" vert="horz" wrap="square" anchor="ctr" anchorCtr="1" forceAA="0"/>
        <a:lstStyle/>
        <a:p>
          <a:pPr>
            <a:defRPr lang="zh-CN" sz="800" b="0" i="0" u="none" strike="noStrike" kern="1200" baseline="0">
              <a:solidFill>
                <a:schemeClr val="accent2">
                  <a:lumMod val="50000"/>
                </a:schemeClr>
              </a:solidFill>
              <a:latin typeface="微软雅黑" charset="-122"/>
              <a:ea typeface="微软雅黑" charset="-122"/>
              <a:cs typeface="微软雅黑" charset="-122"/>
              <a:sym typeface="微软雅黑" charset="-122"/>
            </a:defRPr>
          </a:pPr>
        </a:p>
      </c:txPr>
    </c:legend>
    <c:plotVisOnly val="1"/>
    <c:dispBlanksAs val="gap"/>
    <c:showDLblsOverMax val="0"/>
    <c:extLst>
      <c:ext uri="{0b15fc19-7d7d-44ad-8c2d-2c3a37ce22c3}">
        <chartProps xmlns="https://web.wps.cn/et/2018/main" chartId="{7f27ac9f-c4dc-4548-bec0-cee0689c91f7}"/>
      </c:ext>
    </c:extLst>
  </c:chart>
  <c:spPr>
    <a:noFill/>
    <a:ln w="6350" cap="flat" cmpd="sng" algn="ctr">
      <a:noFill/>
      <a:round/>
    </a:ln>
    <a:effectLst/>
  </c:spPr>
  <c:txPr>
    <a:bodyPr/>
    <a:lstStyle/>
    <a:p>
      <a:pPr>
        <a:defRPr lang="zh-CN" sz="800">
          <a:solidFill>
            <a:schemeClr val="accent2">
              <a:lumMod val="50000"/>
            </a:schemeClr>
          </a:solidFill>
          <a:latin typeface="微软雅黑" charset="-122"/>
          <a:ea typeface="微软雅黑" charset="-122"/>
          <a:cs typeface="微软雅黑" charset="-122"/>
          <a:sym typeface="微软雅黑" charset="-122"/>
        </a:defRPr>
      </a:pPr>
    </a:p>
  </c:txPr>
  <c:externalData r:id="rId1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withinLinear" id="15">
  <a:schemeClr val="accent2"/>
</cs:colorStyle>
</file>

<file path=ppt/charts/colors2.xml><?xml version="1.0" encoding="utf-8"?>
<cs:colorStyle xmlns:cs="http://schemas.microsoft.com/office/drawing/2012/chartStyle" xmlns:a="http://schemas.openxmlformats.org/drawingml/2006/main" meth="withinLinear" id="15">
  <a:schemeClr val="accent2"/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1008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0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0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>
      <cs:styleClr val="auto"/>
    </cs:lnRef>
    <cs:fillRef idx="0">
      <cs:styleClr val="auto"/>
    </cs:fillRef>
    <cs:effectRef idx="0"/>
    <cs:fontRef idx="minor">
      <a:schemeClr val="dk1"/>
    </cs:fontRef>
    <cs:spPr>
      <a:gradFill>
        <a:gsLst>
          <a:gs pos="0">
            <a:schemeClr val="phClr">
              <a:lumMod val="40000"/>
              <a:lumOff val="60000"/>
            </a:schemeClr>
          </a:gs>
          <a:gs pos="90000">
            <a:schemeClr val="phClr"/>
          </a:gs>
        </a:gsLst>
        <a:lin ang="5400000" scaled="0"/>
      </a:gradFill>
      <a:ln>
        <a:gradFill>
          <a:gsLst>
            <a:gs pos="0">
              <a:schemeClr val="phClr"/>
            </a:gs>
            <a:gs pos="100000">
              <a:schemeClr val="phClr">
                <a:lumMod val="75000"/>
              </a:schemeClr>
            </a:gs>
          </a:gsLst>
          <a:lin ang="5400000" scaled="1"/>
        </a:gradFill>
      </a:ln>
      <a:effectLst/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lt1">
            <a:lumMod val="902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75000"/>
        <a:lumOff val="25000"/>
      </a:schemeClr>
    </cs:fontRef>
    <cs:defRPr sz="1400" b="1" kern="120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100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0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0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>
      <cs:styleClr val="auto"/>
    </cs:lnRef>
    <cs:fillRef idx="1">
      <cs:styleClr val="auto"/>
    </cs:fillRef>
    <cs:effectRef idx="0"/>
    <cs:fontRef idx="minor">
      <a:schemeClr val="dk1"/>
    </cs:fontRef>
    <cs:spPr>
      <a:ln>
        <a:noFill/>
      </a:ln>
      <a:effectLst/>
    </cs:spPr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lt1">
            <a:lumMod val="902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75000"/>
        <a:lumOff val="25000"/>
      </a:schemeClr>
    </cs:fontRef>
    <cs:defRPr sz="1400" b="1" kern="120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algn="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  <a:endParaRPr lang="cs-CZ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algn="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  <a:endParaRPr lang="cs-CZ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algn="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  <a:endParaRPr lang="cs-CZ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04000"/>
            <a:ext cx="5342400" cy="4140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04000"/>
            <a:ext cx="5342400" cy="4140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单击此处编辑文本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397600"/>
            <a:ext cx="9799200" cy="11052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5040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2"/>
          <p:cNvPicPr>
            <a:picLocks noChangeAspect="1"/>
          </p:cNvPicPr>
          <p:nvPr userDrawn="1"/>
        </p:nvPicPr>
        <p:blipFill>
          <a:blip r:embed="rId2" cstate="screen"/>
          <a:srcRect/>
          <a:stretch>
            <a:fillRect/>
          </a:stretch>
        </p:blipFill>
        <p:spPr>
          <a:xfrm rot="10800000" flipV="1">
            <a:off x="0" y="0"/>
            <a:ext cx="12192000" cy="6858000"/>
          </a:xfrm>
          <a:prstGeom prst="rect">
            <a:avLst/>
          </a:prstGeom>
          <a:ln w="12700">
            <a:noFill/>
            <a:prstDash val="solid"/>
          </a:ln>
        </p:spPr>
      </p:pic>
      <p:pic>
        <p:nvPicPr>
          <p:cNvPr id="6" name="Picture 89"/>
          <p:cNvPicPr>
            <a:picLocks noChangeAspect="1"/>
          </p:cNvPicPr>
          <p:nvPr userDrawn="1"/>
        </p:nvPicPr>
        <p:blipFill>
          <a:blip r:embed="rId3" cstate="screen"/>
          <a:stretch>
            <a:fillRect/>
          </a:stretch>
        </p:blipFill>
        <p:spPr>
          <a:xfrm>
            <a:off x="10671810" y="439796"/>
            <a:ext cx="1191979" cy="228599"/>
          </a:xfrm>
          <a:prstGeom prst="rect">
            <a:avLst/>
          </a:prstGeom>
          <a:ln w="12700">
            <a:noFill/>
            <a:prstDash val="solid"/>
          </a:ln>
        </p:spPr>
      </p:pic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标题幻灯片">
    <p:bg>
      <p:bgPr>
        <a:solidFill>
          <a:srgbClr val="FFFB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89"/>
          <p:cNvPicPr>
            <a:picLocks noChangeAspect="1"/>
          </p:cNvPicPr>
          <p:nvPr userDrawn="1"/>
        </p:nvPicPr>
        <p:blipFill>
          <a:blip r:embed="rId2" cstate="screen"/>
          <a:stretch>
            <a:fillRect/>
          </a:stretch>
        </p:blipFill>
        <p:spPr>
          <a:xfrm>
            <a:off x="10671810" y="439796"/>
            <a:ext cx="1191979" cy="228599"/>
          </a:xfrm>
          <a:prstGeom prst="rect">
            <a:avLst/>
          </a:prstGeom>
          <a:ln w="12700">
            <a:noFill/>
            <a:prstDash val="solid"/>
          </a:ln>
        </p:spPr>
      </p:pic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0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9" Type="http://schemas.openxmlformats.org/officeDocument/2006/relationships/tags" Target="../tags/tag62.xml"/><Relationship Id="rId18" Type="http://schemas.openxmlformats.org/officeDocument/2006/relationships/tags" Target="../tags/tag61.xml"/><Relationship Id="rId17" Type="http://schemas.openxmlformats.org/officeDocument/2006/relationships/tags" Target="../tags/tag60.xml"/><Relationship Id="rId16" Type="http://schemas.openxmlformats.org/officeDocument/2006/relationships/tags" Target="../tags/tag59.xml"/><Relationship Id="rId15" Type="http://schemas.openxmlformats.org/officeDocument/2006/relationships/tags" Target="../tags/tag58.xml"/><Relationship Id="rId14" Type="http://schemas.openxmlformats.org/officeDocument/2006/relationships/tags" Target="../tags/tag57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4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5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6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7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8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9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0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ea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9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9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9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9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.xml"/><Relationship Id="rId4" Type="http://schemas.openxmlformats.org/officeDocument/2006/relationships/tags" Target="../tags/tag64.xml"/><Relationship Id="rId3" Type="http://schemas.openxmlformats.org/officeDocument/2006/relationships/image" Target="../media/image4.png"/><Relationship Id="rId2" Type="http://schemas.openxmlformats.org/officeDocument/2006/relationships/tags" Target="../tags/tag63.xml"/><Relationship Id="rId1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tags" Target="../tags/tag65.xml"/><Relationship Id="rId2" Type="http://schemas.openxmlformats.org/officeDocument/2006/relationships/image" Target="../media/image6.png"/><Relationship Id="rId1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1.xml"/><Relationship Id="rId5" Type="http://schemas.openxmlformats.org/officeDocument/2006/relationships/tags" Target="../tags/tag66.xml"/><Relationship Id="rId4" Type="http://schemas.openxmlformats.org/officeDocument/2006/relationships/image" Target="../media/image10.png"/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13.xml"/><Relationship Id="rId1" Type="http://schemas.openxmlformats.org/officeDocument/2006/relationships/image" Target="../media/image11.png"/></Relationships>
</file>

<file path=ppt/slides/_rels/slide6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1.xml"/><Relationship Id="rId6" Type="http://schemas.openxmlformats.org/officeDocument/2006/relationships/tags" Target="../tags/tag67.xml"/><Relationship Id="rId5" Type="http://schemas.openxmlformats.org/officeDocument/2006/relationships/image" Target="../media/image9.png"/><Relationship Id="rId4" Type="http://schemas.openxmlformats.org/officeDocument/2006/relationships/image" Target="../media/image15.png"/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image" Target="../media/image12.png"/></Relationships>
</file>

<file path=ppt/slides/_rels/slide7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tags" Target="../tags/tag68.xml"/><Relationship Id="rId2" Type="http://schemas.openxmlformats.org/officeDocument/2006/relationships/image" Target="../media/image17.png"/><Relationship Id="rId1" Type="http://schemas.openxmlformats.org/officeDocument/2006/relationships/image" Target="../media/image16.png"/></Relationships>
</file>

<file path=ppt/slides/_rels/slide8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.xml"/><Relationship Id="rId4" Type="http://schemas.openxmlformats.org/officeDocument/2006/relationships/tags" Target="../tags/tag69.xml"/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image" Target="../media/image18.png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tags" Target="../tags/tag70.xml"/><Relationship Id="rId2" Type="http://schemas.openxmlformats.org/officeDocument/2006/relationships/image" Target="../media/image22.png"/><Relationship Id="rId1" Type="http://schemas.openxmlformats.org/officeDocument/2006/relationships/image" Target="../media/image21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tags" Target="../tags/tag71.xml"/><Relationship Id="rId1" Type="http://schemas.openxmlformats.org/officeDocument/2006/relationships/image" Target="../media/image23.png"/></Relationships>
</file>

<file path=ppt/slides/_rels/slide12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tags" Target="../tags/tag72.xml"/><Relationship Id="rId2" Type="http://schemas.openxmlformats.org/officeDocument/2006/relationships/image" Target="../media/image25.png"/><Relationship Id="rId1" Type="http://schemas.openxmlformats.org/officeDocument/2006/relationships/image" Target="../media/image24.png"/></Relationships>
</file>

<file path=ppt/slides/_rels/slide13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1.xml"/><Relationship Id="rId6" Type="http://schemas.openxmlformats.org/officeDocument/2006/relationships/tags" Target="../tags/tag73.xml"/><Relationship Id="rId5" Type="http://schemas.openxmlformats.org/officeDocument/2006/relationships/image" Target="../media/image26.png"/><Relationship Id="rId4" Type="http://schemas.openxmlformats.org/officeDocument/2006/relationships/image" Target="../media/image16.png"/><Relationship Id="rId3" Type="http://schemas.openxmlformats.org/officeDocument/2006/relationships/chart" Target="../charts/chart3.xml"/><Relationship Id="rId2" Type="http://schemas.openxmlformats.org/officeDocument/2006/relationships/chart" Target="../charts/chart2.xml"/><Relationship Id="rId1" Type="http://schemas.openxmlformats.org/officeDocument/2006/relationships/chart" Target="../charts/char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2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组合 18"/>
          <p:cNvGrpSpPr/>
          <p:nvPr/>
        </p:nvGrpSpPr>
        <p:grpSpPr>
          <a:xfrm>
            <a:off x="6096000" y="1049020"/>
            <a:ext cx="3505200" cy="1541780"/>
            <a:chOff x="4782" y="229"/>
            <a:chExt cx="5520" cy="2428"/>
          </a:xfrm>
        </p:grpSpPr>
        <p:pic>
          <p:nvPicPr>
            <p:cNvPr id="16" name="图片 15" descr="截屏2026-06-25 10.12.19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4782" y="237"/>
              <a:ext cx="5520" cy="2420"/>
            </a:xfrm>
            <a:prstGeom prst="rect">
              <a:avLst/>
            </a:prstGeom>
          </p:spPr>
        </p:pic>
        <p:sp>
          <p:nvSpPr>
            <p:cNvPr id="17" name="文本框 16"/>
            <p:cNvSpPr txBox="1"/>
            <p:nvPr/>
          </p:nvSpPr>
          <p:spPr>
            <a:xfrm>
              <a:off x="5967" y="889"/>
              <a:ext cx="3150" cy="82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zh-CN" altLang="en-US" sz="2800">
                  <a:highlight>
                    <a:srgbClr val="FFFF00"/>
                  </a:highlight>
                </a:rPr>
                <a:t>默认</a:t>
              </a:r>
              <a:r>
                <a:rPr lang="zh-CN" altLang="en-US" sz="2800">
                  <a:highlight>
                    <a:srgbClr val="FFFF00"/>
                  </a:highlight>
                </a:rPr>
                <a:t>背景色</a:t>
              </a:r>
              <a:endParaRPr lang="zh-CN" altLang="en-US" sz="2800">
                <a:highlight>
                  <a:srgbClr val="FFFF00"/>
                </a:highlight>
              </a:endParaRPr>
            </a:p>
          </p:txBody>
        </p:sp>
        <p:sp>
          <p:nvSpPr>
            <p:cNvPr id="18" name="矩形 17"/>
            <p:cNvSpPr/>
            <p:nvPr/>
          </p:nvSpPr>
          <p:spPr>
            <a:xfrm>
              <a:off x="4782" y="229"/>
              <a:ext cx="5521" cy="2421"/>
            </a:xfrm>
            <a:prstGeom prst="rect">
              <a:avLst/>
            </a:prstGeom>
            <a:noFill/>
            <a:ln w="38100">
              <a:solidFill>
                <a:srgbClr val="C00000"/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  <p:sp>
        <p:nvSpPr>
          <p:cNvPr id="2" name="文本框 1"/>
          <p:cNvSpPr txBox="1"/>
          <p:nvPr/>
        </p:nvSpPr>
        <p:spPr>
          <a:xfrm>
            <a:off x="516890" y="1387475"/>
            <a:ext cx="4064000" cy="175323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1. </a:t>
            </a:r>
            <a:r>
              <a:rPr lang="zh-CN" altLang="en-US"/>
              <a:t>所有背景色需支持</a:t>
            </a:r>
            <a:r>
              <a:rPr lang="zh-CN" altLang="en-US"/>
              <a:t>自定义</a:t>
            </a:r>
            <a:endParaRPr lang="zh-CN" altLang="en-US"/>
          </a:p>
          <a:p>
            <a:endParaRPr lang="zh-CN" altLang="en-US"/>
          </a:p>
          <a:p>
            <a:r>
              <a:rPr lang="en-US" altLang="zh-CN"/>
              <a:t>2.</a:t>
            </a:r>
            <a:r>
              <a:rPr lang="zh-CN" altLang="en-US"/>
              <a:t>初始模版按照给到的样式</a:t>
            </a:r>
            <a:r>
              <a:rPr lang="zh-CN" altLang="en-US"/>
              <a:t>产出，但要支持大小调整，移动，删除等</a:t>
            </a:r>
            <a:r>
              <a:rPr lang="zh-CN" altLang="en-US"/>
              <a:t>功能</a:t>
            </a:r>
            <a:endParaRPr lang="zh-CN" altLang="en-US"/>
          </a:p>
          <a:p>
            <a:endParaRPr lang="zh-CN" altLang="en-US"/>
          </a:p>
          <a:p>
            <a:r>
              <a:rPr lang="en-US" altLang="zh-CN"/>
              <a:t>3. </a:t>
            </a:r>
            <a:r>
              <a:rPr lang="zh-CN" altLang="en-US"/>
              <a:t>每一页</a:t>
            </a:r>
            <a:r>
              <a:rPr lang="zh-CN" altLang="en-US"/>
              <a:t>都要加上多麦</a:t>
            </a:r>
            <a:r>
              <a:rPr lang="en-US" altLang="zh-CN"/>
              <a:t>logo</a:t>
            </a:r>
            <a:endParaRPr lang="en-US" altLang="zh-CN"/>
          </a:p>
        </p:txBody>
      </p:sp>
      <p:cxnSp>
        <p:nvCxnSpPr>
          <p:cNvPr id="3" name="直接箭头连接符 2"/>
          <p:cNvCxnSpPr/>
          <p:nvPr/>
        </p:nvCxnSpPr>
        <p:spPr>
          <a:xfrm>
            <a:off x="3394075" y="1557020"/>
            <a:ext cx="3046730" cy="0"/>
          </a:xfrm>
          <a:prstGeom prst="straightConnector1">
            <a:avLst/>
          </a:prstGeom>
          <a:ln w="28575">
            <a:solidFill>
              <a:schemeClr val="accent6">
                <a:lumMod val="75000"/>
              </a:schemeClr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pic>
        <p:nvPicPr>
          <p:cNvPr id="43" name="图片 42" descr="图层 57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3492500" y="2787650"/>
            <a:ext cx="1576070" cy="304800"/>
          </a:xfrm>
          <a:prstGeom prst="rect">
            <a:avLst/>
          </a:prstGeom>
        </p:spPr>
      </p:pic>
    </p:spTree>
    <p:custDataLst>
      <p:tags r:id="rId4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758190" y="1122045"/>
            <a:ext cx="2428875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>
              <a:lnSpc>
                <a:spcPct val="150000"/>
              </a:lnSpc>
            </a:pPr>
            <a:r>
              <a:rPr lang="zh-CN" altLang="en-US" sz="3600"/>
              <a:t>封面</a:t>
            </a:r>
            <a:endParaRPr lang="zh-CN" altLang="en-US" sz="3600"/>
          </a:p>
        </p:txBody>
      </p:sp>
      <p:grpSp>
        <p:nvGrpSpPr>
          <p:cNvPr id="5" name="组合 4"/>
          <p:cNvGrpSpPr/>
          <p:nvPr/>
        </p:nvGrpSpPr>
        <p:grpSpPr>
          <a:xfrm>
            <a:off x="6973570" y="462915"/>
            <a:ext cx="5218430" cy="5890895"/>
            <a:chOff x="10982" y="729"/>
            <a:chExt cx="8218" cy="9277"/>
          </a:xfrm>
        </p:grpSpPr>
        <p:pic>
          <p:nvPicPr>
            <p:cNvPr id="2" name="图片 1" descr="截屏2026-06-25 10.06.39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10982" y="729"/>
              <a:ext cx="8218" cy="4669"/>
            </a:xfrm>
            <a:prstGeom prst="rect">
              <a:avLst/>
            </a:prstGeom>
          </p:spPr>
        </p:pic>
        <p:pic>
          <p:nvPicPr>
            <p:cNvPr id="3" name="图片 2" descr="截屏2026-06-25 10.07.00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0982" y="5398"/>
              <a:ext cx="8218" cy="4609"/>
            </a:xfrm>
            <a:prstGeom prst="rect">
              <a:avLst/>
            </a:prstGeom>
          </p:spPr>
        </p:pic>
      </p:grpSp>
      <p:sp>
        <p:nvSpPr>
          <p:cNvPr id="6" name="文本框 5"/>
          <p:cNvSpPr txBox="1"/>
          <p:nvPr/>
        </p:nvSpPr>
        <p:spPr>
          <a:xfrm>
            <a:off x="6973570" y="3168015"/>
            <a:ext cx="104521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800">
                <a:highlight>
                  <a:srgbClr val="FFFF00"/>
                </a:highlight>
              </a:rPr>
              <a:t>ref</a:t>
            </a:r>
            <a:endParaRPr lang="en-US" altLang="zh-CN" sz="2800">
              <a:highlight>
                <a:srgbClr val="FFFF00"/>
              </a:highlight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772160" y="2591435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品牌</a:t>
            </a:r>
            <a:r>
              <a:rPr lang="en-US" altLang="zh-CN"/>
              <a:t>logo x Duomai logo</a:t>
            </a:r>
            <a:r>
              <a:rPr lang="zh-CN" altLang="en-US"/>
              <a:t>（</a:t>
            </a:r>
            <a:r>
              <a:rPr lang="zh-CN" altLang="en-US"/>
              <a:t>图片）</a:t>
            </a:r>
            <a:endParaRPr lang="zh-CN" altLang="en-US"/>
          </a:p>
        </p:txBody>
      </p:sp>
      <p:sp>
        <p:nvSpPr>
          <p:cNvPr id="8" name="文本框 7"/>
          <p:cNvSpPr txBox="1"/>
          <p:nvPr/>
        </p:nvSpPr>
        <p:spPr>
          <a:xfrm>
            <a:off x="772160" y="3148965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Performance </a:t>
            </a:r>
            <a:r>
              <a:rPr lang="en-US" altLang="zh-CN"/>
              <a:t>Review</a:t>
            </a:r>
            <a:endParaRPr lang="en-US" altLang="zh-CN"/>
          </a:p>
        </p:txBody>
      </p:sp>
      <p:sp>
        <p:nvSpPr>
          <p:cNvPr id="9" name="文本框 8"/>
          <p:cNvSpPr txBox="1"/>
          <p:nvPr/>
        </p:nvSpPr>
        <p:spPr>
          <a:xfrm>
            <a:off x="772160" y="3706495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时间</a:t>
            </a:r>
            <a:r>
              <a:rPr lang="zh-CN" altLang="en-US"/>
              <a:t>自定义</a:t>
            </a:r>
            <a:endParaRPr lang="zh-CN" altLang="en-US"/>
          </a:p>
        </p:txBody>
      </p:sp>
      <p:sp>
        <p:nvSpPr>
          <p:cNvPr id="10" name="文本框 9"/>
          <p:cNvSpPr txBox="1"/>
          <p:nvPr/>
        </p:nvSpPr>
        <p:spPr>
          <a:xfrm>
            <a:off x="772160" y="2133600"/>
            <a:ext cx="262699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背景</a:t>
            </a:r>
            <a:r>
              <a:rPr lang="zh-CN" altLang="en-US"/>
              <a:t>支持自定义</a:t>
            </a:r>
            <a:endParaRPr lang="en-US" altLang="zh-CN"/>
          </a:p>
        </p:txBody>
      </p:sp>
      <p:sp>
        <p:nvSpPr>
          <p:cNvPr id="11" name="矩形 10"/>
          <p:cNvSpPr/>
          <p:nvPr/>
        </p:nvSpPr>
        <p:spPr>
          <a:xfrm>
            <a:off x="758190" y="2543810"/>
            <a:ext cx="3707765" cy="1699260"/>
          </a:xfrm>
          <a:prstGeom prst="rect">
            <a:avLst/>
          </a:prstGeom>
          <a:noFill/>
          <a:ln w="38100">
            <a:solidFill>
              <a:srgbClr val="C0000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2" name="矩形 11"/>
          <p:cNvSpPr/>
          <p:nvPr/>
        </p:nvSpPr>
        <p:spPr>
          <a:xfrm>
            <a:off x="6784340" y="4074795"/>
            <a:ext cx="2626360" cy="2176145"/>
          </a:xfrm>
          <a:prstGeom prst="rect">
            <a:avLst/>
          </a:prstGeom>
          <a:noFill/>
          <a:ln w="38100">
            <a:solidFill>
              <a:srgbClr val="C0000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cxnSp>
        <p:nvCxnSpPr>
          <p:cNvPr id="13" name="直接箭头连接符 12"/>
          <p:cNvCxnSpPr/>
          <p:nvPr/>
        </p:nvCxnSpPr>
        <p:spPr>
          <a:xfrm>
            <a:off x="4143375" y="3863975"/>
            <a:ext cx="2830195" cy="1769745"/>
          </a:xfrm>
          <a:prstGeom prst="straightConnector1">
            <a:avLst/>
          </a:prstGeom>
          <a:ln w="28575">
            <a:solidFill>
              <a:srgbClr val="C00000"/>
            </a:solidFill>
            <a:headEnd type="arrow"/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</p:spTree>
    <p:custDataLst>
      <p:tags r:id="rId3"/>
    </p:custData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68;p16"/>
          <p:cNvSpPr txBox="1"/>
          <p:nvPr/>
        </p:nvSpPr>
        <p:spPr>
          <a:xfrm>
            <a:off x="1056171" y="2451538"/>
            <a:ext cx="7683300" cy="255454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rtlCol="0" anchor="t">
            <a:spAutoFit/>
          </a:bodyPr>
          <a:lstStyle>
            <a:defPPr>
              <a:defRPr lang="zh-CN"/>
            </a:defPPr>
            <a:lvl1pPr indent="0">
              <a:lnSpc>
                <a:spcPct val="100000"/>
              </a:lnSpc>
              <a:defRPr sz="4000" b="1" i="0" u="none" strike="noStrike">
                <a:solidFill>
                  <a:srgbClr val="FF8C00"/>
                </a:solidFill>
                <a:latin typeface="Montserrat"/>
                <a:ea typeface="Montserrat"/>
                <a:cs typeface="Montserrat"/>
              </a:defRPr>
            </a:lvl1pPr>
          </a:lstStyle>
          <a:p>
            <a:r>
              <a:rPr lang="en-US" dirty="0">
                <a:sym typeface="Proxima Nova"/>
              </a:rPr>
              <a:t>PART 1:</a:t>
            </a:r>
            <a:endParaRPr dirty="0"/>
          </a:p>
          <a:p>
            <a:r>
              <a:rPr lang="en-US" altLang="zh-CN" dirty="0">
                <a:sym typeface="Proxima Nova"/>
              </a:rPr>
              <a:t>Performance</a:t>
            </a:r>
            <a:r>
              <a:rPr lang="zh-CN" altLang="en-US" dirty="0">
                <a:sym typeface="Proxima Nova"/>
              </a:rPr>
              <a:t> </a:t>
            </a:r>
            <a:r>
              <a:rPr lang="en-US" altLang="zh-CN" dirty="0">
                <a:sym typeface="Proxima Nova"/>
              </a:rPr>
              <a:t>Review</a:t>
            </a:r>
            <a:endParaRPr lang="en-US" altLang="zh-CN" dirty="0">
              <a:sym typeface="Proxima Nova"/>
            </a:endParaRPr>
          </a:p>
          <a:p>
            <a:r>
              <a:rPr lang="en-US" altLang="zh-CN" dirty="0"/>
              <a:t>([Start Date] – [End Date]).</a:t>
            </a:r>
            <a:endParaRPr lang="en-US" altLang="zh-CN" dirty="0"/>
          </a:p>
          <a:p>
            <a:endParaRPr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 descr="截屏2026-06-25 10.17.2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4778375" y="622300"/>
            <a:ext cx="4776470" cy="2678430"/>
          </a:xfrm>
          <a:prstGeom prst="rect">
            <a:avLst/>
          </a:prstGeom>
        </p:spPr>
      </p:pic>
      <p:pic>
        <p:nvPicPr>
          <p:cNvPr id="3" name="图片 2" descr="截屏2026-06-25 10.17.4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40590" y="437515"/>
            <a:ext cx="5422900" cy="3052445"/>
          </a:xfrm>
          <a:prstGeom prst="rect">
            <a:avLst/>
          </a:prstGeom>
        </p:spPr>
      </p:pic>
      <p:pic>
        <p:nvPicPr>
          <p:cNvPr id="5" name="图片 4" descr="截屏2026-06-25 10.18.1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4795520" y="3300730"/>
            <a:ext cx="4763135" cy="2678430"/>
          </a:xfrm>
          <a:prstGeom prst="rect">
            <a:avLst/>
          </a:prstGeom>
        </p:spPr>
      </p:pic>
      <p:sp>
        <p:nvSpPr>
          <p:cNvPr id="7" name="文本框 6"/>
          <p:cNvSpPr txBox="1"/>
          <p:nvPr/>
        </p:nvSpPr>
        <p:spPr>
          <a:xfrm>
            <a:off x="12340590" y="-84455"/>
            <a:ext cx="104521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800">
                <a:highlight>
                  <a:srgbClr val="FFFF00"/>
                </a:highlight>
              </a:rPr>
              <a:t>ref</a:t>
            </a:r>
            <a:endParaRPr lang="en-US" altLang="zh-CN" sz="2800">
              <a:highlight>
                <a:srgbClr val="FFFF00"/>
              </a:highlight>
            </a:endParaRPr>
          </a:p>
        </p:txBody>
      </p:sp>
      <p:sp>
        <p:nvSpPr>
          <p:cNvPr id="15" name="圆角矩形 14"/>
          <p:cNvSpPr/>
          <p:nvPr/>
        </p:nvSpPr>
        <p:spPr>
          <a:xfrm>
            <a:off x="255905" y="2966720"/>
            <a:ext cx="7261860" cy="3564255"/>
          </a:xfrm>
          <a:prstGeom prst="roundRect">
            <a:avLst>
              <a:gd name="adj" fmla="val 0"/>
            </a:avLst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3200">
                <a:solidFill>
                  <a:schemeClr val="tx1"/>
                </a:solidFill>
              </a:rPr>
              <a:t>Sales</a:t>
            </a:r>
            <a:r>
              <a:rPr lang="zh-CN" altLang="en-US" sz="3200">
                <a:solidFill>
                  <a:schemeClr val="tx1"/>
                </a:solidFill>
              </a:rPr>
              <a:t>展示</a:t>
            </a:r>
            <a:r>
              <a:rPr lang="en-US" altLang="zh-CN" sz="3200">
                <a:solidFill>
                  <a:schemeClr val="tx1"/>
                </a:solidFill>
              </a:rPr>
              <a:t> </a:t>
            </a:r>
            <a:r>
              <a:rPr lang="zh-CN" altLang="en-US" sz="3200">
                <a:solidFill>
                  <a:schemeClr val="tx1"/>
                </a:solidFill>
              </a:rPr>
              <a:t>图表部分</a:t>
            </a:r>
            <a:endParaRPr lang="zh-CN" altLang="en-US" sz="3200">
              <a:solidFill>
                <a:schemeClr val="tx1"/>
              </a:solidFill>
            </a:endParaRPr>
          </a:p>
          <a:p>
            <a:pPr algn="ctr"/>
            <a:r>
              <a:rPr lang="zh-CN" altLang="en-US" sz="3200">
                <a:solidFill>
                  <a:schemeClr val="tx1"/>
                </a:solidFill>
              </a:rPr>
              <a:t>（支持组合图：柱状</a:t>
            </a:r>
            <a:r>
              <a:rPr lang="en-US" altLang="zh-CN" sz="3200">
                <a:solidFill>
                  <a:schemeClr val="tx1"/>
                </a:solidFill>
              </a:rPr>
              <a:t>+</a:t>
            </a:r>
            <a:r>
              <a:rPr lang="zh-CN" altLang="en-US" sz="3200">
                <a:solidFill>
                  <a:schemeClr val="tx1"/>
                </a:solidFill>
              </a:rPr>
              <a:t>折线）</a:t>
            </a:r>
            <a:endParaRPr lang="zh-CN" altLang="en-US" sz="3200">
              <a:solidFill>
                <a:schemeClr val="tx1"/>
              </a:solidFill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161290" y="-52705"/>
            <a:ext cx="8345170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>
              <a:lnSpc>
                <a:spcPct val="150000"/>
              </a:lnSpc>
            </a:pPr>
            <a:r>
              <a:rPr lang="en-US" altLang="zh-CN" sz="3200"/>
              <a:t>Duomai x </a:t>
            </a:r>
            <a:r>
              <a:rPr lang="zh-CN" altLang="en-US" sz="3200"/>
              <a:t>品牌</a:t>
            </a:r>
            <a:r>
              <a:rPr lang="en-US" altLang="zh-CN" sz="3200"/>
              <a:t> </a:t>
            </a:r>
            <a:r>
              <a:rPr lang="en-US" altLang="zh-CN" sz="3200"/>
              <a:t>Performance Overview</a:t>
            </a:r>
            <a:endParaRPr lang="en-US" altLang="zh-CN" sz="3200"/>
          </a:p>
        </p:txBody>
      </p:sp>
      <p:sp>
        <p:nvSpPr>
          <p:cNvPr id="9" name="圆角矩形 8"/>
          <p:cNvSpPr/>
          <p:nvPr/>
        </p:nvSpPr>
        <p:spPr>
          <a:xfrm>
            <a:off x="255905" y="1019175"/>
            <a:ext cx="7261225" cy="1705610"/>
          </a:xfrm>
          <a:prstGeom prst="roundRect">
            <a:avLst>
              <a:gd name="adj" fmla="val 0"/>
            </a:avLst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>
              <a:lnSpc>
                <a:spcPct val="0"/>
              </a:lnSpc>
            </a:pPr>
            <a:r>
              <a:rPr lang="zh-CN" altLang="en-US" sz="2800">
                <a:solidFill>
                  <a:schemeClr val="tx1"/>
                </a:solidFill>
              </a:rPr>
              <a:t>大数字部分</a:t>
            </a:r>
            <a:r>
              <a:rPr lang="en-US" altLang="zh-CN" sz="2800">
                <a:solidFill>
                  <a:schemeClr val="tx1"/>
                </a:solidFill>
              </a:rPr>
              <a:t>(</a:t>
            </a:r>
            <a:r>
              <a:rPr lang="zh-CN" altLang="en-US" sz="2800">
                <a:solidFill>
                  <a:schemeClr val="tx1"/>
                </a:solidFill>
              </a:rPr>
              <a:t>图标</a:t>
            </a:r>
            <a:r>
              <a:rPr lang="en-US" altLang="zh-CN" sz="2800">
                <a:solidFill>
                  <a:schemeClr val="tx1"/>
                </a:solidFill>
              </a:rPr>
              <a:t>+</a:t>
            </a:r>
            <a:r>
              <a:rPr lang="zh-CN" altLang="en-US" sz="2800">
                <a:solidFill>
                  <a:schemeClr val="tx1"/>
                </a:solidFill>
              </a:rPr>
              <a:t>文字</a:t>
            </a:r>
            <a:r>
              <a:rPr lang="en-US" altLang="zh-CN" sz="2800">
                <a:solidFill>
                  <a:schemeClr val="tx1"/>
                </a:solidFill>
              </a:rPr>
              <a:t>+</a:t>
            </a:r>
            <a:r>
              <a:rPr lang="zh-CN" altLang="en-US" sz="2800">
                <a:solidFill>
                  <a:schemeClr val="tx1"/>
                </a:solidFill>
              </a:rPr>
              <a:t>数据）</a:t>
            </a:r>
            <a:endParaRPr lang="zh-CN" altLang="en-US" sz="2800">
              <a:solidFill>
                <a:schemeClr val="tx1"/>
              </a:solidFill>
            </a:endParaRPr>
          </a:p>
        </p:txBody>
      </p:sp>
      <p:sp>
        <p:nvSpPr>
          <p:cNvPr id="10" name="圆角矩形 9"/>
          <p:cNvSpPr/>
          <p:nvPr/>
        </p:nvSpPr>
        <p:spPr>
          <a:xfrm>
            <a:off x="7743190" y="3489960"/>
            <a:ext cx="4064635" cy="1420495"/>
          </a:xfrm>
          <a:prstGeom prst="roundRect">
            <a:avLst>
              <a:gd name="adj" fmla="val 0"/>
            </a:avLst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2800">
                <a:solidFill>
                  <a:schemeClr val="tx1"/>
                </a:solidFill>
              </a:rPr>
              <a:t>insight</a:t>
            </a:r>
            <a:r>
              <a:rPr lang="zh-CN" altLang="en-US" sz="2800">
                <a:solidFill>
                  <a:schemeClr val="tx1"/>
                </a:solidFill>
              </a:rPr>
              <a:t>（</a:t>
            </a:r>
            <a:r>
              <a:rPr lang="zh-CN" altLang="en-US" sz="2800">
                <a:solidFill>
                  <a:schemeClr val="tx1"/>
                </a:solidFill>
              </a:rPr>
              <a:t>纯文字）</a:t>
            </a:r>
            <a:endParaRPr lang="zh-CN" altLang="en-US" sz="2800">
              <a:solidFill>
                <a:schemeClr val="tx1"/>
              </a:solidFill>
            </a:endParaRPr>
          </a:p>
        </p:txBody>
      </p:sp>
      <p:sp>
        <p:nvSpPr>
          <p:cNvPr id="11" name="圆角矩形 10"/>
          <p:cNvSpPr/>
          <p:nvPr/>
        </p:nvSpPr>
        <p:spPr>
          <a:xfrm>
            <a:off x="7742555" y="5110480"/>
            <a:ext cx="4064635" cy="1420495"/>
          </a:xfrm>
          <a:prstGeom prst="roundRect">
            <a:avLst>
              <a:gd name="adj" fmla="val 0"/>
            </a:avLst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2800">
                <a:solidFill>
                  <a:schemeClr val="tx1"/>
                </a:solidFill>
              </a:rPr>
              <a:t>Opportunity</a:t>
            </a:r>
            <a:r>
              <a:rPr lang="zh-CN" altLang="en-US" sz="2800">
                <a:solidFill>
                  <a:schemeClr val="tx1"/>
                </a:solidFill>
                <a:sym typeface="+mn-ea"/>
              </a:rPr>
              <a:t>（纯文字）</a:t>
            </a:r>
            <a:endParaRPr lang="en-US" altLang="zh-CN" sz="2800">
              <a:solidFill>
                <a:schemeClr val="tx1"/>
              </a:solidFill>
            </a:endParaRPr>
          </a:p>
        </p:txBody>
      </p:sp>
      <p:sp>
        <p:nvSpPr>
          <p:cNvPr id="12" name="圆角矩形 11"/>
          <p:cNvSpPr/>
          <p:nvPr/>
        </p:nvSpPr>
        <p:spPr>
          <a:xfrm>
            <a:off x="7743190" y="1019175"/>
            <a:ext cx="4064000" cy="2281555"/>
          </a:xfrm>
          <a:prstGeom prst="roundRect">
            <a:avLst>
              <a:gd name="adj" fmla="val 0"/>
            </a:avLst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3200">
                <a:solidFill>
                  <a:schemeClr val="tx1"/>
                </a:solidFill>
              </a:rPr>
              <a:t>其他图表</a:t>
            </a:r>
            <a:r>
              <a:rPr lang="zh-CN" altLang="en-US" sz="3200">
                <a:solidFill>
                  <a:schemeClr val="tx1"/>
                </a:solidFill>
              </a:rPr>
              <a:t>内容</a:t>
            </a:r>
            <a:endParaRPr lang="zh-CN" altLang="en-US" sz="3200">
              <a:solidFill>
                <a:schemeClr val="tx1"/>
              </a:solidFill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5546090" y="2414270"/>
            <a:ext cx="2775585" cy="1934210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noAutofit/>
          </a:bodyPr>
          <a:p>
            <a:pPr>
              <a:lnSpc>
                <a:spcPct val="150000"/>
              </a:lnSpc>
            </a:pPr>
            <a:r>
              <a:rPr lang="en-US" altLang="zh-CN" sz="1400"/>
              <a:t>Sales performance</a:t>
            </a:r>
            <a:r>
              <a:rPr lang="zh-CN" altLang="en-US" sz="1400"/>
              <a:t>：</a:t>
            </a:r>
            <a:endParaRPr lang="zh-CN" altLang="en-US" sz="1400"/>
          </a:p>
          <a:p>
            <a:pPr>
              <a:lnSpc>
                <a:spcPct val="150000"/>
              </a:lnSpc>
            </a:pPr>
            <a:r>
              <a:rPr lang="en-US" altLang="zh-CN" sz="1400"/>
              <a:t>- </a:t>
            </a:r>
            <a:r>
              <a:rPr lang="zh-CN" altLang="en-US" sz="1400"/>
              <a:t>大数字</a:t>
            </a:r>
            <a:endParaRPr lang="zh-CN" altLang="en-US" sz="1400"/>
          </a:p>
          <a:p>
            <a:pPr>
              <a:lnSpc>
                <a:spcPct val="150000"/>
              </a:lnSpc>
            </a:pPr>
            <a:r>
              <a:rPr lang="en-US" altLang="zh-CN" sz="1400"/>
              <a:t>- </a:t>
            </a:r>
            <a:r>
              <a:rPr lang="zh-CN" altLang="en-US" sz="1400"/>
              <a:t>两个图表（基础版本用到一个表，也需要支持多</a:t>
            </a:r>
            <a:r>
              <a:rPr lang="zh-CN" altLang="en-US" sz="1400"/>
              <a:t>图表插入）</a:t>
            </a:r>
            <a:endParaRPr lang="zh-CN" altLang="en-US" sz="1400"/>
          </a:p>
          <a:p>
            <a:pPr>
              <a:lnSpc>
                <a:spcPct val="150000"/>
              </a:lnSpc>
            </a:pPr>
            <a:r>
              <a:rPr lang="en-US" altLang="zh-CN" sz="1400"/>
              <a:t>- Insight</a:t>
            </a:r>
            <a:endParaRPr lang="zh-CN" altLang="en-US" sz="1400"/>
          </a:p>
          <a:p>
            <a:pPr>
              <a:lnSpc>
                <a:spcPct val="150000"/>
              </a:lnSpc>
            </a:pPr>
            <a:r>
              <a:rPr lang="en-US" altLang="zh-CN" sz="1400"/>
              <a:t>- Opportunity</a:t>
            </a:r>
            <a:endParaRPr lang="en-US" altLang="zh-CN" sz="1400"/>
          </a:p>
        </p:txBody>
      </p:sp>
      <p:cxnSp>
        <p:nvCxnSpPr>
          <p:cNvPr id="13" name="直接箭头连接符 12"/>
          <p:cNvCxnSpPr/>
          <p:nvPr/>
        </p:nvCxnSpPr>
        <p:spPr>
          <a:xfrm flipV="1">
            <a:off x="7880350" y="2697480"/>
            <a:ext cx="4737735" cy="744220"/>
          </a:xfrm>
          <a:prstGeom prst="straightConnector1">
            <a:avLst/>
          </a:prstGeom>
          <a:ln w="19050">
            <a:solidFill>
              <a:srgbClr val="C00000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4" name="圆角矩形 13"/>
          <p:cNvSpPr/>
          <p:nvPr/>
        </p:nvSpPr>
        <p:spPr>
          <a:xfrm>
            <a:off x="12340590" y="2062480"/>
            <a:ext cx="2113280" cy="1419860"/>
          </a:xfrm>
          <a:prstGeom prst="roundRect">
            <a:avLst/>
          </a:prstGeom>
          <a:noFill/>
          <a:ln>
            <a:solidFill>
              <a:srgbClr val="C0000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6" name="圆角矩形 15"/>
          <p:cNvSpPr/>
          <p:nvPr/>
        </p:nvSpPr>
        <p:spPr>
          <a:xfrm>
            <a:off x="-4765040" y="935990"/>
            <a:ext cx="3100070" cy="1150620"/>
          </a:xfrm>
          <a:prstGeom prst="roundRect">
            <a:avLst/>
          </a:prstGeom>
          <a:noFill/>
          <a:ln w="28575">
            <a:solidFill>
              <a:schemeClr val="accent6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cxnSp>
        <p:nvCxnSpPr>
          <p:cNvPr id="17" name="直接箭头连接符 16"/>
          <p:cNvCxnSpPr/>
          <p:nvPr/>
        </p:nvCxnSpPr>
        <p:spPr>
          <a:xfrm flipH="1" flipV="1">
            <a:off x="-1747520" y="1531620"/>
            <a:ext cx="3126105" cy="338455"/>
          </a:xfrm>
          <a:prstGeom prst="straightConnector1">
            <a:avLst/>
          </a:prstGeom>
          <a:ln w="28575">
            <a:solidFill>
              <a:schemeClr val="accent6">
                <a:lumMod val="75000"/>
              </a:schemeClr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8" name="圆角矩形 17"/>
          <p:cNvSpPr/>
          <p:nvPr/>
        </p:nvSpPr>
        <p:spPr>
          <a:xfrm>
            <a:off x="-3657600" y="4217035"/>
            <a:ext cx="2319020" cy="521335"/>
          </a:xfrm>
          <a:prstGeom prst="roundRect">
            <a:avLst/>
          </a:prstGeom>
          <a:noFill/>
          <a:ln w="28575">
            <a:solidFill>
              <a:schemeClr val="accent6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cxnSp>
        <p:nvCxnSpPr>
          <p:cNvPr id="19" name="直接箭头连接符 18"/>
          <p:cNvCxnSpPr>
            <a:endCxn id="18" idx="3"/>
          </p:cNvCxnSpPr>
          <p:nvPr/>
        </p:nvCxnSpPr>
        <p:spPr>
          <a:xfrm flipH="1">
            <a:off x="-1338580" y="2138045"/>
            <a:ext cx="2293620" cy="2339975"/>
          </a:xfrm>
          <a:prstGeom prst="straightConnector1">
            <a:avLst/>
          </a:prstGeom>
          <a:ln w="28575">
            <a:solidFill>
              <a:schemeClr val="accent6">
                <a:lumMod val="75000"/>
              </a:schemeClr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pic>
        <p:nvPicPr>
          <p:cNvPr id="20" name="图片 19" descr="截屏2026-06-25 10.32.0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6390" y="6998970"/>
            <a:ext cx="6341110" cy="3637280"/>
          </a:xfrm>
          <a:prstGeom prst="rect">
            <a:avLst/>
          </a:prstGeom>
        </p:spPr>
      </p:pic>
      <p:sp>
        <p:nvSpPr>
          <p:cNvPr id="21" name="文本框 20"/>
          <p:cNvSpPr txBox="1"/>
          <p:nvPr/>
        </p:nvSpPr>
        <p:spPr>
          <a:xfrm>
            <a:off x="-883920" y="2967990"/>
            <a:ext cx="777875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800">
                <a:highlight>
                  <a:srgbClr val="FFFF00"/>
                </a:highlight>
              </a:rPr>
              <a:t>ref</a:t>
            </a:r>
            <a:endParaRPr lang="en-US" altLang="zh-CN" sz="2800">
              <a:highlight>
                <a:srgbClr val="FFFF00"/>
              </a:highlight>
            </a:endParaRPr>
          </a:p>
        </p:txBody>
      </p:sp>
      <p:sp>
        <p:nvSpPr>
          <p:cNvPr id="22" name="文本框 21"/>
          <p:cNvSpPr txBox="1"/>
          <p:nvPr/>
        </p:nvSpPr>
        <p:spPr>
          <a:xfrm>
            <a:off x="326390" y="6998970"/>
            <a:ext cx="104521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800">
                <a:highlight>
                  <a:srgbClr val="FFFF00"/>
                </a:highlight>
              </a:rPr>
              <a:t>ref</a:t>
            </a:r>
            <a:endParaRPr lang="en-US" altLang="zh-CN" sz="2800">
              <a:highlight>
                <a:srgbClr val="FFFF00"/>
              </a:highlight>
            </a:endParaRPr>
          </a:p>
        </p:txBody>
      </p:sp>
      <p:sp>
        <p:nvSpPr>
          <p:cNvPr id="23" name="圆角矩形 22"/>
          <p:cNvSpPr/>
          <p:nvPr/>
        </p:nvSpPr>
        <p:spPr>
          <a:xfrm>
            <a:off x="2089150" y="7366000"/>
            <a:ext cx="4458970" cy="1790700"/>
          </a:xfrm>
          <a:prstGeom prst="roundRect">
            <a:avLst/>
          </a:prstGeom>
          <a:noFill/>
          <a:ln w="28575">
            <a:solidFill>
              <a:schemeClr val="accent6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cxnSp>
        <p:nvCxnSpPr>
          <p:cNvPr id="24" name="直接箭头连接符 23"/>
          <p:cNvCxnSpPr/>
          <p:nvPr/>
        </p:nvCxnSpPr>
        <p:spPr>
          <a:xfrm flipH="1">
            <a:off x="2922905" y="5387340"/>
            <a:ext cx="93980" cy="2692400"/>
          </a:xfrm>
          <a:prstGeom prst="straightConnector1">
            <a:avLst/>
          </a:prstGeom>
          <a:ln w="28575">
            <a:solidFill>
              <a:schemeClr val="accent6">
                <a:lumMod val="75000"/>
              </a:schemeClr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5" name="直接箭头连接符 24"/>
          <p:cNvCxnSpPr/>
          <p:nvPr/>
        </p:nvCxnSpPr>
        <p:spPr>
          <a:xfrm flipV="1">
            <a:off x="11386820" y="2940685"/>
            <a:ext cx="5228590" cy="2169795"/>
          </a:xfrm>
          <a:prstGeom prst="straightConnector1">
            <a:avLst/>
          </a:prstGeom>
          <a:ln w="19050">
            <a:solidFill>
              <a:srgbClr val="C00000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26" name="文本框 25"/>
          <p:cNvSpPr txBox="1"/>
          <p:nvPr/>
        </p:nvSpPr>
        <p:spPr>
          <a:xfrm>
            <a:off x="1545590" y="1758950"/>
            <a:ext cx="4737735" cy="11684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400">
                <a:highlight>
                  <a:srgbClr val="00FF00"/>
                </a:highlight>
              </a:rPr>
              <a:t>大数字：</a:t>
            </a:r>
            <a:endParaRPr lang="zh-CN" altLang="en-US" sz="1400">
              <a:highlight>
                <a:srgbClr val="00FF00"/>
              </a:highlight>
            </a:endParaRPr>
          </a:p>
          <a:p>
            <a:r>
              <a:rPr lang="en-US" altLang="zh-CN" sz="1400">
                <a:highlight>
                  <a:srgbClr val="00FF00"/>
                </a:highlight>
              </a:rPr>
              <a:t>Sales</a:t>
            </a:r>
            <a:r>
              <a:rPr lang="zh-CN" altLang="en-US" sz="1400">
                <a:highlight>
                  <a:srgbClr val="00FF00"/>
                </a:highlight>
              </a:rPr>
              <a:t>，</a:t>
            </a:r>
            <a:r>
              <a:rPr lang="en-US" altLang="zh-CN" sz="1400">
                <a:highlight>
                  <a:srgbClr val="00FF00"/>
                </a:highlight>
              </a:rPr>
              <a:t>Commission</a:t>
            </a:r>
            <a:r>
              <a:rPr lang="zh-CN" altLang="en-US" sz="1400">
                <a:highlight>
                  <a:srgbClr val="00FF00"/>
                </a:highlight>
              </a:rPr>
              <a:t>，</a:t>
            </a:r>
            <a:r>
              <a:rPr lang="en-US" altLang="zh-CN" sz="1400">
                <a:highlight>
                  <a:srgbClr val="00FF00"/>
                </a:highlight>
              </a:rPr>
              <a:t>Flat Fee, MOM</a:t>
            </a:r>
            <a:r>
              <a:rPr lang="zh-CN" altLang="en-US" sz="1400">
                <a:highlight>
                  <a:srgbClr val="00FF00"/>
                </a:highlight>
              </a:rPr>
              <a:t>，</a:t>
            </a:r>
            <a:r>
              <a:rPr lang="en-US" altLang="zh-CN" sz="1400">
                <a:highlight>
                  <a:srgbClr val="00FF00"/>
                </a:highlight>
              </a:rPr>
              <a:t>QOQ</a:t>
            </a:r>
            <a:r>
              <a:rPr lang="zh-CN" altLang="en-US" sz="1400">
                <a:highlight>
                  <a:srgbClr val="00FF00"/>
                </a:highlight>
              </a:rPr>
              <a:t>，</a:t>
            </a:r>
            <a:r>
              <a:rPr lang="en-US" altLang="zh-CN" sz="1400">
                <a:highlight>
                  <a:srgbClr val="00FF00"/>
                </a:highlight>
              </a:rPr>
              <a:t>YOY</a:t>
            </a:r>
            <a:r>
              <a:rPr lang="zh-CN" altLang="en-US" sz="1400">
                <a:highlight>
                  <a:srgbClr val="00FF00"/>
                </a:highlight>
              </a:rPr>
              <a:t>，</a:t>
            </a:r>
            <a:r>
              <a:rPr lang="en-US" altLang="zh-CN" sz="1400">
                <a:highlight>
                  <a:srgbClr val="00FF00"/>
                </a:highlight>
              </a:rPr>
              <a:t>Conversion Rate</a:t>
            </a:r>
            <a:r>
              <a:rPr lang="zh-CN" altLang="en-US" sz="1400">
                <a:highlight>
                  <a:srgbClr val="00FF00"/>
                </a:highlight>
              </a:rPr>
              <a:t>，</a:t>
            </a:r>
            <a:r>
              <a:rPr lang="en-US" altLang="zh-CN" sz="1400">
                <a:highlight>
                  <a:srgbClr val="00FF00"/>
                </a:highlight>
              </a:rPr>
              <a:t>New Customer Rate</a:t>
            </a:r>
            <a:r>
              <a:rPr lang="zh-CN" altLang="en-US" sz="1400">
                <a:highlight>
                  <a:srgbClr val="00FF00"/>
                </a:highlight>
              </a:rPr>
              <a:t>，</a:t>
            </a:r>
            <a:r>
              <a:rPr lang="en-US" altLang="zh-CN" sz="1400">
                <a:highlight>
                  <a:srgbClr val="00FF00"/>
                </a:highlight>
              </a:rPr>
              <a:t> of Collaboration</a:t>
            </a:r>
            <a:r>
              <a:rPr lang="zh-CN" altLang="en-US" sz="1400">
                <a:highlight>
                  <a:srgbClr val="00FF00"/>
                </a:highlight>
              </a:rPr>
              <a:t>，</a:t>
            </a:r>
            <a:r>
              <a:rPr lang="en-US" altLang="zh-CN" sz="1400">
                <a:highlight>
                  <a:srgbClr val="00FF00"/>
                </a:highlight>
              </a:rPr>
              <a:t>Clicks,Orders, </a:t>
            </a:r>
            <a:r>
              <a:rPr lang="zh-CN" altLang="en-US" sz="1400">
                <a:highlight>
                  <a:srgbClr val="00FF00"/>
                </a:highlight>
              </a:rPr>
              <a:t>自定义文本内容</a:t>
            </a:r>
            <a:endParaRPr lang="en-US" altLang="zh-CN" sz="1400">
              <a:highlight>
                <a:srgbClr val="00FF00"/>
              </a:highlight>
            </a:endParaRPr>
          </a:p>
          <a:p>
            <a:endParaRPr lang="en-US" altLang="zh-CN" sz="1400">
              <a:highlight>
                <a:srgbClr val="00FF00"/>
              </a:highlight>
            </a:endParaRPr>
          </a:p>
        </p:txBody>
      </p:sp>
      <p:sp>
        <p:nvSpPr>
          <p:cNvPr id="27" name="文本框 26"/>
          <p:cNvSpPr txBox="1"/>
          <p:nvPr/>
        </p:nvSpPr>
        <p:spPr>
          <a:xfrm>
            <a:off x="161290" y="437515"/>
            <a:ext cx="229362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>
              <a:lnSpc>
                <a:spcPct val="150000"/>
              </a:lnSpc>
            </a:pPr>
            <a:r>
              <a:rPr lang="en-US" altLang="zh-CN" sz="2400"/>
              <a:t>Timeline:</a:t>
            </a:r>
            <a:endParaRPr lang="en-US" altLang="zh-CN" sz="2400"/>
          </a:p>
        </p:txBody>
      </p:sp>
    </p:spTree>
    <p:custDataLst>
      <p:tags r:id="rId5"/>
    </p:custData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559435" y="715645"/>
            <a:ext cx="11332845" cy="887095"/>
          </a:xfrm>
          <a:prstGeom prst="roundRect">
            <a:avLst>
              <a:gd name="adj" fmla="val 0"/>
            </a:avLst>
          </a:prstGeom>
          <a:solidFill>
            <a:srgbClr val="DEE0E3">
              <a:alpha val="100000"/>
            </a:srgbClr>
          </a:solidFill>
          <a:ln w="25400">
            <a:noFill/>
            <a:prstDash val="solid"/>
          </a:ln>
        </p:spPr>
        <p:txBody>
          <a:bodyPr wrap="square" lIns="63500" tIns="63500" rIns="63500" bIns="63500" rtlCol="0" anchor="ctr"/>
          <a:lstStyle/>
          <a:p>
            <a:pPr algn="ctr">
              <a:lnSpc>
                <a:spcPct val="125000"/>
              </a:lnSpc>
            </a:pPr>
            <a:r>
              <a:rPr lang="en-US" altLang="zh-CN" sz="1600">
                <a:solidFill>
                  <a:srgbClr val="1F2329"/>
                </a:solidFill>
                <a:latin typeface="Noto Sans SC"/>
              </a:rPr>
              <a:t>Insight【</a:t>
            </a:r>
            <a:r>
              <a:rPr lang="en-US" altLang="zh-CN" sz="1600" dirty="0">
                <a:solidFill>
                  <a:srgbClr val="1F2329"/>
                </a:solidFill>
                <a:latin typeface="Noto Sans SC"/>
              </a:rPr>
              <a:t>TOP</a:t>
            </a:r>
            <a:r>
              <a:rPr lang="zh-CN" altLang="en-US" sz="1600">
                <a:solidFill>
                  <a:srgbClr val="1F2329"/>
                </a:solidFill>
                <a:latin typeface="Noto Sans SC"/>
              </a:rPr>
              <a:t>产品分析</a:t>
            </a:r>
            <a:r>
              <a:rPr lang="en-US" altLang="zh-CN" sz="1600">
                <a:solidFill>
                  <a:srgbClr val="1F2329"/>
                </a:solidFill>
                <a:latin typeface="Noto Sans SC"/>
              </a:rPr>
              <a:t>】</a:t>
            </a:r>
            <a:endParaRPr lang="en-US" sz="1600" dirty="0">
              <a:solidFill>
                <a:srgbClr val="1F2329"/>
              </a:solidFill>
              <a:latin typeface="Noto Sans SC"/>
            </a:endParaRPr>
          </a:p>
        </p:txBody>
      </p:sp>
      <p:sp>
        <p:nvSpPr>
          <p:cNvPr id="3" name="AutoShape 3"/>
          <p:cNvSpPr/>
          <p:nvPr/>
        </p:nvSpPr>
        <p:spPr>
          <a:xfrm>
            <a:off x="8406666" y="2338352"/>
            <a:ext cx="3225800" cy="24384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t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0" i="0" u="none" strike="noStrike" dirty="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【最佳销售Top5】</a:t>
            </a:r>
            <a:endParaRPr lang="en-US" sz="1100" dirty="0"/>
          </a:p>
          <a:p>
            <a:pPr indent="0" algn="l">
              <a:lnSpc>
                <a:spcPct val="125000"/>
              </a:lnSpc>
            </a:pPr>
            <a:r>
              <a:rPr lang="en-US" sz="1600" b="0" i="0" u="none" strike="noStrike" dirty="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1 </a:t>
            </a:r>
            <a:r>
              <a:rPr lang="en-US" sz="1600" b="0" i="0" u="none" strike="noStrike" dirty="0" err="1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哪些产品受到欢迎，归因</a:t>
            </a:r>
            <a:r>
              <a:rPr lang="en-US" sz="1600" b="0" i="0" u="none" strike="noStrike" dirty="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(</a:t>
            </a:r>
            <a:r>
              <a:rPr lang="en-US" sz="1600" b="0" i="0" u="none" strike="noStrike" dirty="0" err="1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各大联盟报表导出产品汇总分析,原因可考虑热门产品是否和投放曝光、产品有折扣、社交媒体热度、明星产品相关,限时提佣等</a:t>
            </a:r>
            <a:r>
              <a:rPr lang="en-US" sz="1600" b="0" i="0" u="none" strike="noStrike" dirty="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)</a:t>
            </a:r>
            <a:endParaRPr lang="en-US" sz="1600" b="0" i="0" u="none" strike="noStrike" dirty="0">
              <a:solidFill>
                <a:srgbClr val="1F2329"/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pPr indent="0" algn="l">
              <a:lnSpc>
                <a:spcPct val="125000"/>
              </a:lnSpc>
            </a:pPr>
            <a:r>
              <a:rPr lang="en-US" sz="1600" b="0" i="0" u="none" strike="noStrike" dirty="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2 </a:t>
            </a:r>
            <a:r>
              <a:rPr lang="en-US" sz="1600" b="0" i="0" u="none" strike="noStrike" dirty="0" err="1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多麦建议：例如单品加投，明星产品组合，单品给到额外佣金</a:t>
            </a:r>
            <a:endParaRPr lang="en-US" sz="1600" b="0" i="0" u="none" strike="noStrike" dirty="0">
              <a:solidFill>
                <a:srgbClr val="1F2329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4" name="AutoShape 4"/>
          <p:cNvSpPr/>
          <p:nvPr/>
        </p:nvSpPr>
        <p:spPr>
          <a:xfrm>
            <a:off x="559534" y="4507455"/>
            <a:ext cx="2638078" cy="886947"/>
          </a:xfrm>
          <a:prstGeom prst="roundRect">
            <a:avLst>
              <a:gd name="adj" fmla="val 22910"/>
            </a:avLst>
          </a:prstGeom>
          <a:solidFill>
            <a:srgbClr val="DEE0E3">
              <a:alpha val="100000"/>
            </a:srgbClr>
          </a:solidFill>
          <a:ln w="25400">
            <a:noFill/>
            <a:prstDash val="solid"/>
          </a:ln>
        </p:spPr>
        <p:txBody>
          <a:bodyPr wrap="square" lIns="63500" tIns="63500" rIns="63500" bIns="63500" rtlCol="0" anchor="ctr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600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xx sold</a:t>
            </a:r>
            <a:endParaRPr lang="en-US" sz="1100"/>
          </a:p>
          <a:p>
            <a:pPr indent="0" algn="ctr">
              <a:lnSpc>
                <a:spcPct val="125000"/>
              </a:lnSpc>
            </a:pPr>
            <a:r>
              <a:rPr lang="en-US" sz="1600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产品销售占比%</a:t>
            </a:r>
            <a:endParaRPr lang="en-US" sz="1600" b="0" i="0" u="none" strike="noStrike">
              <a:solidFill>
                <a:srgbClr val="1F2329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5" name="AutoShape 5"/>
          <p:cNvSpPr/>
          <p:nvPr/>
        </p:nvSpPr>
        <p:spPr>
          <a:xfrm>
            <a:off x="559534" y="1698065"/>
            <a:ext cx="2638078" cy="2569222"/>
          </a:xfrm>
          <a:prstGeom prst="roundRect">
            <a:avLst>
              <a:gd name="adj" fmla="val 7909"/>
            </a:avLst>
          </a:prstGeom>
          <a:solidFill>
            <a:srgbClr val="DEE0E3">
              <a:alpha val="100000"/>
            </a:srgbClr>
          </a:solidFill>
          <a:ln w="25400">
            <a:noFill/>
            <a:prstDash val="solid"/>
          </a:ln>
        </p:spPr>
        <p:txBody>
          <a:bodyPr wrap="square" lIns="63500" tIns="63500" rIns="63500" bIns="63500" rtlCol="0" anchor="ctr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600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产品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485317" y="5634570"/>
            <a:ext cx="7588650" cy="886947"/>
          </a:xfrm>
          <a:prstGeom prst="roundRect">
            <a:avLst>
              <a:gd name="adj" fmla="val 22910"/>
            </a:avLst>
          </a:prstGeom>
          <a:solidFill>
            <a:srgbClr val="DEE0E3">
              <a:alpha val="100000"/>
            </a:srgbClr>
          </a:solidFill>
          <a:ln w="25400">
            <a:noFill/>
            <a:prstDash val="solid"/>
          </a:ln>
        </p:spPr>
        <p:txBody>
          <a:bodyPr wrap="square" lIns="63500" tIns="63500" rIns="63500" bIns="63500" rtlCol="0" anchor="ctr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600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Opportunity 哪些品类or产品收欢迎</a:t>
            </a:r>
            <a:endParaRPr lang="en-US" sz="1100"/>
          </a:p>
          <a:p>
            <a:pPr indent="0" algn="ctr">
              <a:lnSpc>
                <a:spcPct val="125000"/>
              </a:lnSpc>
            </a:pPr>
            <a:r>
              <a:rPr lang="en-US" sz="1600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可以... 例如单品曝光加投，明星产品组合，单品给到额外佣金</a:t>
            </a:r>
            <a:endParaRPr lang="en-US" sz="1600" b="0" i="0" u="none" strike="noStrike">
              <a:solidFill>
                <a:srgbClr val="1F2329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7" name="AutoShape 4"/>
          <p:cNvSpPr/>
          <p:nvPr/>
        </p:nvSpPr>
        <p:spPr>
          <a:xfrm>
            <a:off x="3644320" y="4507455"/>
            <a:ext cx="2638078" cy="886947"/>
          </a:xfrm>
          <a:prstGeom prst="roundRect">
            <a:avLst>
              <a:gd name="adj" fmla="val 22910"/>
            </a:avLst>
          </a:prstGeom>
          <a:solidFill>
            <a:srgbClr val="DEE0E3">
              <a:alpha val="100000"/>
            </a:srgbClr>
          </a:solidFill>
          <a:ln w="25400">
            <a:noFill/>
            <a:prstDash val="solid"/>
          </a:ln>
        </p:spPr>
        <p:txBody>
          <a:bodyPr wrap="square" lIns="63500" tIns="63500" rIns="63500" bIns="63500" rtlCol="0" anchor="ctr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600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xx sold</a:t>
            </a:r>
            <a:endParaRPr lang="en-US" sz="1100"/>
          </a:p>
          <a:p>
            <a:pPr indent="0" algn="ctr">
              <a:lnSpc>
                <a:spcPct val="125000"/>
              </a:lnSpc>
            </a:pPr>
            <a:r>
              <a:rPr lang="en-US" sz="1600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产品销售占比%</a:t>
            </a:r>
            <a:endParaRPr lang="en-US" sz="1600" b="0" i="0" u="none" strike="noStrike">
              <a:solidFill>
                <a:srgbClr val="1F2329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8" name="AutoShape 5"/>
          <p:cNvSpPr/>
          <p:nvPr/>
        </p:nvSpPr>
        <p:spPr>
          <a:xfrm>
            <a:off x="3644320" y="1698065"/>
            <a:ext cx="2638078" cy="2569222"/>
          </a:xfrm>
          <a:prstGeom prst="roundRect">
            <a:avLst>
              <a:gd name="adj" fmla="val 7909"/>
            </a:avLst>
          </a:prstGeom>
          <a:solidFill>
            <a:srgbClr val="DEE0E3">
              <a:alpha val="100000"/>
            </a:srgbClr>
          </a:solidFill>
          <a:ln w="25400">
            <a:noFill/>
            <a:prstDash val="solid"/>
          </a:ln>
        </p:spPr>
        <p:txBody>
          <a:bodyPr wrap="square" lIns="63500" tIns="63500" rIns="63500" bIns="63500" rtlCol="0" anchor="ctr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600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产品</a:t>
            </a:r>
            <a:endParaRPr lang="en-US" sz="1100"/>
          </a:p>
        </p:txBody>
      </p:sp>
      <p:sp>
        <p:nvSpPr>
          <p:cNvPr id="10" name="文本框 9"/>
          <p:cNvSpPr txBox="1"/>
          <p:nvPr/>
        </p:nvSpPr>
        <p:spPr>
          <a:xfrm>
            <a:off x="161290" y="-114300"/>
            <a:ext cx="8345170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>
              <a:lnSpc>
                <a:spcPct val="150000"/>
              </a:lnSpc>
            </a:pPr>
            <a:r>
              <a:rPr lang="en-US" altLang="zh-CN" sz="3200">
                <a:solidFill>
                  <a:schemeClr val="tx1"/>
                </a:solidFill>
              </a:rPr>
              <a:t>Performance Review by </a:t>
            </a:r>
            <a:r>
              <a:rPr lang="en-US" altLang="zh-CN" sz="3200">
                <a:solidFill>
                  <a:schemeClr val="tx1"/>
                </a:solidFill>
                <a:latin typeface="Montserrat"/>
                <a:ea typeface="Montserrat"/>
                <a:sym typeface="+mn-ea"/>
              </a:rPr>
              <a:t>Top 5 Product</a:t>
            </a:r>
            <a:endParaRPr lang="en-US" altLang="zh-CN" sz="3200">
              <a:solidFill>
                <a:schemeClr val="tx1"/>
              </a:solidFill>
              <a:latin typeface="Montserrat"/>
              <a:ea typeface="Montserrat"/>
              <a:sym typeface="+mn-ea"/>
            </a:endParaRPr>
          </a:p>
        </p:txBody>
      </p:sp>
      <p:pic>
        <p:nvPicPr>
          <p:cNvPr id="9" name="图片 8" descr="截屏2026-06-26 15.22.4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383135" y="1189355"/>
            <a:ext cx="9457690" cy="5332095"/>
          </a:xfrm>
          <a:prstGeom prst="rect">
            <a:avLst/>
          </a:prstGeom>
        </p:spPr>
      </p:pic>
      <p:sp>
        <p:nvSpPr>
          <p:cNvPr id="11" name="文本框 10"/>
          <p:cNvSpPr txBox="1"/>
          <p:nvPr/>
        </p:nvSpPr>
        <p:spPr>
          <a:xfrm>
            <a:off x="12383135" y="667385"/>
            <a:ext cx="104521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800">
                <a:highlight>
                  <a:srgbClr val="FFFF00"/>
                </a:highlight>
              </a:rPr>
              <a:t>ref</a:t>
            </a:r>
            <a:endParaRPr lang="en-US" altLang="zh-CN" sz="2800">
              <a:highlight>
                <a:srgbClr val="FFFF00"/>
              </a:highlight>
            </a:endParaRPr>
          </a:p>
        </p:txBody>
      </p:sp>
      <p:cxnSp>
        <p:nvCxnSpPr>
          <p:cNvPr id="13" name="直接箭头连接符 12"/>
          <p:cNvCxnSpPr/>
          <p:nvPr/>
        </p:nvCxnSpPr>
        <p:spPr>
          <a:xfrm>
            <a:off x="5541010" y="3927475"/>
            <a:ext cx="7412990" cy="0"/>
          </a:xfrm>
          <a:prstGeom prst="straightConnector1">
            <a:avLst/>
          </a:prstGeom>
          <a:ln w="19050">
            <a:solidFill>
              <a:srgbClr val="C00000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4" name="直接箭头连接符 13"/>
          <p:cNvCxnSpPr/>
          <p:nvPr/>
        </p:nvCxnSpPr>
        <p:spPr>
          <a:xfrm>
            <a:off x="7645400" y="6181090"/>
            <a:ext cx="10936605" cy="0"/>
          </a:xfrm>
          <a:prstGeom prst="straightConnector1">
            <a:avLst/>
          </a:prstGeom>
          <a:ln w="19050">
            <a:solidFill>
              <a:srgbClr val="C00000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5" name="直接箭头连接符 14"/>
          <p:cNvCxnSpPr/>
          <p:nvPr/>
        </p:nvCxnSpPr>
        <p:spPr>
          <a:xfrm>
            <a:off x="11361420" y="1145540"/>
            <a:ext cx="5606415" cy="3843655"/>
          </a:xfrm>
          <a:prstGeom prst="straightConnector1">
            <a:avLst/>
          </a:prstGeom>
          <a:ln w="19050">
            <a:solidFill>
              <a:srgbClr val="C00000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 descr="截屏2026-06-25 10.35.5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296140" y="-247015"/>
            <a:ext cx="4638040" cy="2574925"/>
          </a:xfrm>
          <a:prstGeom prst="rect">
            <a:avLst/>
          </a:prstGeom>
        </p:spPr>
      </p:pic>
      <p:pic>
        <p:nvPicPr>
          <p:cNvPr id="5" name="图片 4" descr="截屏2026-06-25 10.36.2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277620" y="6858000"/>
            <a:ext cx="6289040" cy="3561080"/>
          </a:xfrm>
          <a:prstGeom prst="rect">
            <a:avLst/>
          </a:prstGeom>
        </p:spPr>
      </p:pic>
      <p:pic>
        <p:nvPicPr>
          <p:cNvPr id="6" name="图片 5" descr="截屏2026-06-25 10.39.4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11420" y="6858000"/>
            <a:ext cx="7386320" cy="4300220"/>
          </a:xfrm>
          <a:prstGeom prst="rect">
            <a:avLst/>
          </a:prstGeom>
        </p:spPr>
      </p:pic>
      <p:sp>
        <p:nvSpPr>
          <p:cNvPr id="8" name="文本框 7"/>
          <p:cNvSpPr txBox="1"/>
          <p:nvPr/>
        </p:nvSpPr>
        <p:spPr>
          <a:xfrm>
            <a:off x="161290" y="0"/>
            <a:ext cx="8345170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>
              <a:lnSpc>
                <a:spcPct val="150000"/>
              </a:lnSpc>
            </a:pPr>
            <a:r>
              <a:rPr lang="en-US" altLang="zh-CN" sz="3200"/>
              <a:t>Performance Review by </a:t>
            </a:r>
            <a:r>
              <a:rPr lang="en-US" altLang="zh-CN" sz="3200"/>
              <a:t>Channels</a:t>
            </a:r>
            <a:endParaRPr lang="en-US" altLang="zh-CN" sz="3200"/>
          </a:p>
        </p:txBody>
      </p:sp>
      <p:sp>
        <p:nvSpPr>
          <p:cNvPr id="15" name="圆角矩形 14"/>
          <p:cNvSpPr/>
          <p:nvPr/>
        </p:nvSpPr>
        <p:spPr>
          <a:xfrm>
            <a:off x="332740" y="2911475"/>
            <a:ext cx="7889240" cy="3560445"/>
          </a:xfrm>
          <a:prstGeom prst="roundRect">
            <a:avLst>
              <a:gd name="adj" fmla="val 0"/>
            </a:avLst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3200">
                <a:solidFill>
                  <a:schemeClr val="tx1"/>
                </a:solidFill>
              </a:rPr>
              <a:t>渠道展示</a:t>
            </a:r>
            <a:r>
              <a:rPr lang="en-US" altLang="zh-CN" sz="3200">
                <a:solidFill>
                  <a:schemeClr val="tx1"/>
                </a:solidFill>
              </a:rPr>
              <a:t> </a:t>
            </a:r>
            <a:r>
              <a:rPr lang="zh-CN" altLang="en-US" sz="3200">
                <a:solidFill>
                  <a:schemeClr val="tx1"/>
                </a:solidFill>
              </a:rPr>
              <a:t>图表（</a:t>
            </a:r>
            <a:r>
              <a:rPr lang="zh-CN" altLang="en-US" sz="3200">
                <a:solidFill>
                  <a:schemeClr val="tx1"/>
                </a:solidFill>
              </a:rPr>
              <a:t>表格）</a:t>
            </a:r>
            <a:endParaRPr lang="zh-CN" altLang="en-US" sz="3200">
              <a:solidFill>
                <a:schemeClr val="tx1"/>
              </a:solidFill>
            </a:endParaRPr>
          </a:p>
        </p:txBody>
      </p:sp>
      <p:sp>
        <p:nvSpPr>
          <p:cNvPr id="9" name="圆角矩形 8"/>
          <p:cNvSpPr/>
          <p:nvPr/>
        </p:nvSpPr>
        <p:spPr>
          <a:xfrm>
            <a:off x="332740" y="1109345"/>
            <a:ext cx="7889240" cy="1522095"/>
          </a:xfrm>
          <a:prstGeom prst="roundRect">
            <a:avLst>
              <a:gd name="adj" fmla="val 0"/>
            </a:avLst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>
              <a:lnSpc>
                <a:spcPct val="0"/>
              </a:lnSpc>
            </a:pPr>
            <a:r>
              <a:rPr lang="zh-CN" altLang="en-US" sz="2800">
                <a:solidFill>
                  <a:schemeClr val="tx1"/>
                </a:solidFill>
              </a:rPr>
              <a:t>大数字部分</a:t>
            </a:r>
            <a:r>
              <a:rPr lang="en-US" altLang="zh-CN" sz="2800">
                <a:solidFill>
                  <a:schemeClr val="tx1"/>
                </a:solidFill>
              </a:rPr>
              <a:t>(</a:t>
            </a:r>
            <a:r>
              <a:rPr lang="zh-CN" altLang="en-US" sz="2800">
                <a:solidFill>
                  <a:schemeClr val="tx1"/>
                </a:solidFill>
              </a:rPr>
              <a:t>图标</a:t>
            </a:r>
            <a:r>
              <a:rPr lang="en-US" altLang="zh-CN" sz="2800">
                <a:solidFill>
                  <a:schemeClr val="tx1"/>
                </a:solidFill>
              </a:rPr>
              <a:t>+</a:t>
            </a:r>
            <a:r>
              <a:rPr lang="zh-CN" altLang="en-US" sz="2800">
                <a:solidFill>
                  <a:schemeClr val="tx1"/>
                </a:solidFill>
              </a:rPr>
              <a:t>文字</a:t>
            </a:r>
            <a:r>
              <a:rPr lang="en-US" altLang="zh-CN" sz="2800">
                <a:solidFill>
                  <a:schemeClr val="tx1"/>
                </a:solidFill>
              </a:rPr>
              <a:t>+</a:t>
            </a:r>
            <a:r>
              <a:rPr lang="zh-CN" altLang="en-US" sz="2800">
                <a:solidFill>
                  <a:schemeClr val="tx1"/>
                </a:solidFill>
              </a:rPr>
              <a:t>数据）</a:t>
            </a:r>
            <a:endParaRPr lang="zh-CN" altLang="en-US" sz="2800">
              <a:solidFill>
                <a:schemeClr val="tx1"/>
              </a:solidFill>
            </a:endParaRPr>
          </a:p>
        </p:txBody>
      </p:sp>
      <p:pic>
        <p:nvPicPr>
          <p:cNvPr id="2" name="图片 1" descr="截屏2026-06-25 10.35.1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285980" y="2578735"/>
            <a:ext cx="4264660" cy="2444750"/>
          </a:xfrm>
          <a:prstGeom prst="rect">
            <a:avLst/>
          </a:prstGeom>
        </p:spPr>
      </p:pic>
      <p:sp>
        <p:nvSpPr>
          <p:cNvPr id="10" name="圆角矩形 9"/>
          <p:cNvSpPr/>
          <p:nvPr/>
        </p:nvSpPr>
        <p:spPr>
          <a:xfrm>
            <a:off x="8444230" y="1109345"/>
            <a:ext cx="3473450" cy="1437005"/>
          </a:xfrm>
          <a:prstGeom prst="roundRect">
            <a:avLst>
              <a:gd name="adj" fmla="val 0"/>
            </a:avLst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2800">
                <a:solidFill>
                  <a:schemeClr val="tx1"/>
                </a:solidFill>
              </a:rPr>
              <a:t>insight</a:t>
            </a:r>
            <a:r>
              <a:rPr lang="zh-CN" altLang="en-US" sz="2800">
                <a:solidFill>
                  <a:schemeClr val="tx1"/>
                </a:solidFill>
              </a:rPr>
              <a:t>（</a:t>
            </a:r>
            <a:r>
              <a:rPr lang="zh-CN" altLang="en-US" sz="2800">
                <a:solidFill>
                  <a:schemeClr val="tx1"/>
                </a:solidFill>
              </a:rPr>
              <a:t>纯文字）</a:t>
            </a:r>
            <a:endParaRPr lang="zh-CN" altLang="en-US" sz="2800">
              <a:solidFill>
                <a:schemeClr val="tx1"/>
              </a:solidFill>
            </a:endParaRPr>
          </a:p>
        </p:txBody>
      </p:sp>
      <p:sp>
        <p:nvSpPr>
          <p:cNvPr id="11" name="圆角矩形 10"/>
          <p:cNvSpPr/>
          <p:nvPr/>
        </p:nvSpPr>
        <p:spPr>
          <a:xfrm>
            <a:off x="8424545" y="2738120"/>
            <a:ext cx="3473450" cy="1485265"/>
          </a:xfrm>
          <a:prstGeom prst="roundRect">
            <a:avLst>
              <a:gd name="adj" fmla="val 0"/>
            </a:avLst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2800">
                <a:solidFill>
                  <a:schemeClr val="tx1"/>
                </a:solidFill>
              </a:rPr>
              <a:t>Opportunity</a:t>
            </a:r>
            <a:r>
              <a:rPr lang="zh-CN" altLang="en-US" sz="2800">
                <a:solidFill>
                  <a:schemeClr val="tx1"/>
                </a:solidFill>
                <a:sym typeface="+mn-ea"/>
              </a:rPr>
              <a:t>（纯文字）</a:t>
            </a:r>
            <a:endParaRPr lang="en-US" altLang="zh-CN" sz="2800">
              <a:solidFill>
                <a:schemeClr val="tx1"/>
              </a:solidFill>
            </a:endParaRPr>
          </a:p>
        </p:txBody>
      </p:sp>
      <p:sp>
        <p:nvSpPr>
          <p:cNvPr id="12" name="圆角矩形 11"/>
          <p:cNvSpPr/>
          <p:nvPr/>
        </p:nvSpPr>
        <p:spPr>
          <a:xfrm>
            <a:off x="12398375" y="1466215"/>
            <a:ext cx="996950" cy="897255"/>
          </a:xfrm>
          <a:prstGeom prst="roundRect">
            <a:avLst/>
          </a:prstGeom>
          <a:noFill/>
          <a:ln w="28575">
            <a:solidFill>
              <a:schemeClr val="accent6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3" name="圆角矩形 12"/>
          <p:cNvSpPr/>
          <p:nvPr/>
        </p:nvSpPr>
        <p:spPr>
          <a:xfrm>
            <a:off x="8438515" y="4347845"/>
            <a:ext cx="3462655" cy="2116455"/>
          </a:xfrm>
          <a:prstGeom prst="roundRect">
            <a:avLst>
              <a:gd name="adj" fmla="val 0"/>
            </a:avLst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3200">
                <a:solidFill>
                  <a:schemeClr val="tx1"/>
                </a:solidFill>
              </a:rPr>
              <a:t>其他图表</a:t>
            </a:r>
            <a:r>
              <a:rPr lang="zh-CN" altLang="en-US" sz="3200">
                <a:solidFill>
                  <a:schemeClr val="tx1"/>
                </a:solidFill>
              </a:rPr>
              <a:t>内容</a:t>
            </a:r>
            <a:endParaRPr lang="zh-CN" altLang="en-US" sz="3200">
              <a:solidFill>
                <a:schemeClr val="tx1"/>
              </a:solidFill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5815965" y="2327910"/>
            <a:ext cx="2821940" cy="1753235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p>
            <a:pPr>
              <a:lnSpc>
                <a:spcPct val="150000"/>
              </a:lnSpc>
            </a:pPr>
            <a:r>
              <a:rPr lang="en-US" altLang="zh-CN" sz="1200"/>
              <a:t>Performance Review by Channels</a:t>
            </a:r>
            <a:r>
              <a:rPr lang="zh-CN" altLang="en-US" sz="1200"/>
              <a:t>：</a:t>
            </a:r>
            <a:endParaRPr lang="zh-CN" altLang="en-US" sz="1200"/>
          </a:p>
          <a:p>
            <a:pPr>
              <a:lnSpc>
                <a:spcPct val="150000"/>
              </a:lnSpc>
            </a:pPr>
            <a:r>
              <a:rPr lang="en-US" altLang="zh-CN" sz="1200"/>
              <a:t>- </a:t>
            </a:r>
            <a:r>
              <a:rPr lang="zh-CN" altLang="en-US" sz="1200"/>
              <a:t>大数字</a:t>
            </a:r>
            <a:endParaRPr lang="zh-CN" altLang="en-US" sz="1200"/>
          </a:p>
          <a:p>
            <a:pPr>
              <a:lnSpc>
                <a:spcPct val="150000"/>
              </a:lnSpc>
            </a:pPr>
            <a:r>
              <a:rPr lang="en-US" altLang="zh-CN" sz="1200"/>
              <a:t>- </a:t>
            </a:r>
            <a:r>
              <a:rPr lang="zh-CN" altLang="en-US" sz="1200"/>
              <a:t>图表</a:t>
            </a:r>
            <a:r>
              <a:rPr lang="zh-CN" altLang="en-US" sz="1200">
                <a:sym typeface="+mn-ea"/>
              </a:rPr>
              <a:t>（基础版本用到一个表，也需要支持多图表插入）</a:t>
            </a:r>
            <a:endParaRPr lang="zh-CN" altLang="en-US" sz="1200">
              <a:sym typeface="+mn-ea"/>
            </a:endParaRPr>
          </a:p>
          <a:p>
            <a:pPr>
              <a:lnSpc>
                <a:spcPct val="150000"/>
              </a:lnSpc>
            </a:pPr>
            <a:r>
              <a:rPr lang="en-US" altLang="zh-CN" sz="1200">
                <a:sym typeface="+mn-ea"/>
              </a:rPr>
              <a:t>- Insight</a:t>
            </a:r>
            <a:endParaRPr lang="zh-CN" altLang="en-US" sz="1200"/>
          </a:p>
          <a:p>
            <a:pPr>
              <a:lnSpc>
                <a:spcPct val="150000"/>
              </a:lnSpc>
            </a:pPr>
            <a:r>
              <a:rPr lang="en-US" altLang="zh-CN" sz="1200">
                <a:sym typeface="+mn-ea"/>
              </a:rPr>
              <a:t>- Opportunity</a:t>
            </a:r>
            <a:endParaRPr lang="en-US" altLang="zh-CN" sz="1200">
              <a:sym typeface="+mn-ea"/>
            </a:endParaRPr>
          </a:p>
        </p:txBody>
      </p:sp>
      <p:cxnSp>
        <p:nvCxnSpPr>
          <p:cNvPr id="7" name="直接箭头连接符 6"/>
          <p:cNvCxnSpPr/>
          <p:nvPr/>
        </p:nvCxnSpPr>
        <p:spPr>
          <a:xfrm>
            <a:off x="7569835" y="1630680"/>
            <a:ext cx="4821555" cy="0"/>
          </a:xfrm>
          <a:prstGeom prst="straightConnector1">
            <a:avLst/>
          </a:prstGeom>
          <a:ln w="28575">
            <a:solidFill>
              <a:schemeClr val="accent6">
                <a:lumMod val="75000"/>
              </a:schemeClr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4" name="直接箭头连接符 13"/>
          <p:cNvCxnSpPr/>
          <p:nvPr/>
        </p:nvCxnSpPr>
        <p:spPr>
          <a:xfrm flipH="1">
            <a:off x="1735455" y="5295900"/>
            <a:ext cx="1073150" cy="4112260"/>
          </a:xfrm>
          <a:prstGeom prst="straightConnector1">
            <a:avLst/>
          </a:prstGeom>
          <a:ln w="28575">
            <a:solidFill>
              <a:schemeClr val="accent6">
                <a:lumMod val="75000"/>
              </a:schemeClr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6" name="直接箭头连接符 15"/>
          <p:cNvCxnSpPr/>
          <p:nvPr/>
        </p:nvCxnSpPr>
        <p:spPr>
          <a:xfrm>
            <a:off x="4703445" y="5335270"/>
            <a:ext cx="767080" cy="2305050"/>
          </a:xfrm>
          <a:prstGeom prst="straightConnector1">
            <a:avLst/>
          </a:prstGeom>
          <a:ln w="28575">
            <a:solidFill>
              <a:schemeClr val="accent6">
                <a:lumMod val="75000"/>
              </a:schemeClr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7" name="圆角矩形 16"/>
          <p:cNvSpPr/>
          <p:nvPr/>
        </p:nvSpPr>
        <p:spPr>
          <a:xfrm>
            <a:off x="13522325" y="1466215"/>
            <a:ext cx="1596390" cy="897255"/>
          </a:xfrm>
          <a:prstGeom prst="roundRect">
            <a:avLst/>
          </a:prstGeom>
          <a:noFill/>
          <a:ln w="28575">
            <a:solidFill>
              <a:schemeClr val="accent6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cxnSp>
        <p:nvCxnSpPr>
          <p:cNvPr id="19" name="直接箭头连接符 18"/>
          <p:cNvCxnSpPr/>
          <p:nvPr/>
        </p:nvCxnSpPr>
        <p:spPr>
          <a:xfrm flipV="1">
            <a:off x="11584940" y="4354195"/>
            <a:ext cx="3503295" cy="1152525"/>
          </a:xfrm>
          <a:prstGeom prst="straightConnector1">
            <a:avLst/>
          </a:prstGeom>
          <a:ln w="28575">
            <a:solidFill>
              <a:schemeClr val="accent6">
                <a:lumMod val="75000"/>
              </a:schemeClr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0" name="直接箭头连接符 19"/>
          <p:cNvCxnSpPr/>
          <p:nvPr/>
        </p:nvCxnSpPr>
        <p:spPr>
          <a:xfrm flipV="1">
            <a:off x="11562080" y="2188210"/>
            <a:ext cx="2615565" cy="2835275"/>
          </a:xfrm>
          <a:prstGeom prst="straightConnector1">
            <a:avLst/>
          </a:prstGeom>
          <a:ln w="28575">
            <a:solidFill>
              <a:schemeClr val="accent6">
                <a:lumMod val="75000"/>
              </a:schemeClr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22" name="圆角矩形 21"/>
          <p:cNvSpPr/>
          <p:nvPr/>
        </p:nvSpPr>
        <p:spPr>
          <a:xfrm>
            <a:off x="5186045" y="7412990"/>
            <a:ext cx="4952365" cy="2116455"/>
          </a:xfrm>
          <a:prstGeom prst="roundRect">
            <a:avLst/>
          </a:prstGeom>
          <a:noFill/>
          <a:ln w="28575">
            <a:solidFill>
              <a:schemeClr val="accent6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3" name="圆角矩形 22"/>
          <p:cNvSpPr/>
          <p:nvPr/>
        </p:nvSpPr>
        <p:spPr>
          <a:xfrm>
            <a:off x="14986000" y="3429000"/>
            <a:ext cx="1515745" cy="1367790"/>
          </a:xfrm>
          <a:prstGeom prst="roundRect">
            <a:avLst/>
          </a:prstGeom>
          <a:noFill/>
          <a:ln w="28575">
            <a:solidFill>
              <a:schemeClr val="accent6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4" name="圆角矩形 23"/>
          <p:cNvSpPr/>
          <p:nvPr/>
        </p:nvSpPr>
        <p:spPr>
          <a:xfrm>
            <a:off x="-1101725" y="8302625"/>
            <a:ext cx="5804535" cy="2116455"/>
          </a:xfrm>
          <a:prstGeom prst="roundRect">
            <a:avLst/>
          </a:prstGeom>
          <a:noFill/>
          <a:ln w="28575">
            <a:solidFill>
              <a:schemeClr val="accent6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6" name="文本框 25"/>
          <p:cNvSpPr txBox="1"/>
          <p:nvPr/>
        </p:nvSpPr>
        <p:spPr>
          <a:xfrm>
            <a:off x="438785" y="1838960"/>
            <a:ext cx="4264025" cy="73723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400">
                <a:highlight>
                  <a:srgbClr val="00FF00"/>
                </a:highlight>
              </a:rPr>
              <a:t>大数字：</a:t>
            </a:r>
            <a:endParaRPr lang="zh-CN" altLang="en-US" sz="1400">
              <a:highlight>
                <a:srgbClr val="00FF00"/>
              </a:highlight>
            </a:endParaRPr>
          </a:p>
          <a:p>
            <a:r>
              <a:rPr lang="en-US" altLang="zh-CN" sz="1400">
                <a:highlight>
                  <a:srgbClr val="00FF00"/>
                </a:highlight>
              </a:rPr>
              <a:t>Engaged Publishers</a:t>
            </a:r>
            <a:r>
              <a:rPr lang="zh-CN" altLang="en-US" sz="1400">
                <a:highlight>
                  <a:srgbClr val="00FF00"/>
                </a:highlight>
              </a:rPr>
              <a:t>，</a:t>
            </a:r>
            <a:r>
              <a:rPr lang="en-US" altLang="zh-CN" sz="1400">
                <a:highlight>
                  <a:srgbClr val="00FF00"/>
                </a:highlight>
              </a:rPr>
              <a:t>Est impression, of Macro, of Mega, Reach Platforms</a:t>
            </a:r>
            <a:r>
              <a:rPr lang="zh-CN" altLang="en-US" sz="1400">
                <a:highlight>
                  <a:srgbClr val="00FF00"/>
                </a:highlight>
              </a:rPr>
              <a:t>（数字</a:t>
            </a:r>
            <a:r>
              <a:rPr lang="en-US" altLang="zh-CN" sz="1400">
                <a:highlight>
                  <a:srgbClr val="00FF00"/>
                </a:highlight>
              </a:rPr>
              <a:t>+</a:t>
            </a:r>
            <a:r>
              <a:rPr lang="zh-CN" altLang="en-US" sz="1400">
                <a:highlight>
                  <a:srgbClr val="00FF00"/>
                </a:highlight>
              </a:rPr>
              <a:t>平台</a:t>
            </a:r>
            <a:r>
              <a:rPr lang="en-US" altLang="zh-CN" sz="1400">
                <a:highlight>
                  <a:srgbClr val="00FF00"/>
                </a:highlight>
              </a:rPr>
              <a:t>logo</a:t>
            </a:r>
            <a:r>
              <a:rPr lang="zh-CN" altLang="en-US" sz="1400">
                <a:highlight>
                  <a:srgbClr val="00FF00"/>
                </a:highlight>
              </a:rPr>
              <a:t>）</a:t>
            </a:r>
            <a:endParaRPr lang="zh-CN" altLang="en-US" sz="1400">
              <a:highlight>
                <a:srgbClr val="00FF00"/>
              </a:highlight>
            </a:endParaRPr>
          </a:p>
        </p:txBody>
      </p:sp>
      <p:pic>
        <p:nvPicPr>
          <p:cNvPr id="25" name="图片 24" descr="截屏2026-06-25 10.18.19"/>
          <p:cNvPicPr>
            <a:picLocks noChangeAspect="1"/>
          </p:cNvPicPr>
          <p:nvPr/>
        </p:nvPicPr>
        <p:blipFill>
          <a:blip r:embed="rId5"/>
          <a:srcRect l="19837" t="29896" r="20917" b="44073"/>
          <a:stretch>
            <a:fillRect/>
          </a:stretch>
        </p:blipFill>
        <p:spPr>
          <a:xfrm>
            <a:off x="-4013200" y="1109345"/>
            <a:ext cx="3836670" cy="948055"/>
          </a:xfrm>
          <a:prstGeom prst="rect">
            <a:avLst/>
          </a:prstGeom>
        </p:spPr>
      </p:pic>
      <p:cxnSp>
        <p:nvCxnSpPr>
          <p:cNvPr id="27" name="直接箭头连接符 26"/>
          <p:cNvCxnSpPr/>
          <p:nvPr/>
        </p:nvCxnSpPr>
        <p:spPr>
          <a:xfrm flipH="1">
            <a:off x="-410845" y="1503680"/>
            <a:ext cx="2023745" cy="0"/>
          </a:xfrm>
          <a:prstGeom prst="straightConnector1">
            <a:avLst/>
          </a:prstGeom>
          <a:ln w="28575">
            <a:solidFill>
              <a:schemeClr val="accent6">
                <a:lumMod val="75000"/>
              </a:schemeClr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28" name="文本框 27"/>
          <p:cNvSpPr txBox="1"/>
          <p:nvPr/>
        </p:nvSpPr>
        <p:spPr>
          <a:xfrm>
            <a:off x="-934720" y="829945"/>
            <a:ext cx="104521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800">
                <a:highlight>
                  <a:srgbClr val="FFFF00"/>
                </a:highlight>
              </a:rPr>
              <a:t>ref</a:t>
            </a:r>
            <a:endParaRPr lang="en-US" altLang="zh-CN" sz="2800">
              <a:highlight>
                <a:srgbClr val="FFFF00"/>
              </a:highlight>
            </a:endParaRPr>
          </a:p>
        </p:txBody>
      </p:sp>
      <p:sp>
        <p:nvSpPr>
          <p:cNvPr id="29" name="文本框 28"/>
          <p:cNvSpPr txBox="1"/>
          <p:nvPr/>
        </p:nvSpPr>
        <p:spPr>
          <a:xfrm>
            <a:off x="4564380" y="6837045"/>
            <a:ext cx="104521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800">
                <a:highlight>
                  <a:srgbClr val="FFFF00"/>
                </a:highlight>
              </a:rPr>
              <a:t>ref</a:t>
            </a:r>
            <a:endParaRPr lang="en-US" altLang="zh-CN" sz="2800">
              <a:highlight>
                <a:srgbClr val="FFFF00"/>
              </a:highlight>
            </a:endParaRPr>
          </a:p>
        </p:txBody>
      </p:sp>
      <p:sp>
        <p:nvSpPr>
          <p:cNvPr id="30" name="文本框 29"/>
          <p:cNvSpPr txBox="1"/>
          <p:nvPr/>
        </p:nvSpPr>
        <p:spPr>
          <a:xfrm>
            <a:off x="12215495" y="2480945"/>
            <a:ext cx="104521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800">
                <a:highlight>
                  <a:srgbClr val="FFFF00"/>
                </a:highlight>
              </a:rPr>
              <a:t>ref</a:t>
            </a:r>
            <a:endParaRPr lang="en-US" altLang="zh-CN" sz="2800">
              <a:highlight>
                <a:srgbClr val="FFFF00"/>
              </a:highlight>
            </a:endParaRPr>
          </a:p>
        </p:txBody>
      </p:sp>
    </p:spTree>
    <p:custDataLst>
      <p:tags r:id="rId6"/>
    </p:custData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177165" y="-629285"/>
            <a:ext cx="3997960" cy="50673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>
              <a:lnSpc>
                <a:spcPct val="150000"/>
              </a:lnSpc>
            </a:pPr>
            <a:r>
              <a:rPr lang="en-US" altLang="zh-CN"/>
              <a:t>Breakdown-</a:t>
            </a:r>
            <a:r>
              <a:rPr lang="en-US" altLang="zh-CN"/>
              <a:t>Influencers</a:t>
            </a:r>
            <a:endParaRPr lang="en-US" altLang="zh-CN"/>
          </a:p>
        </p:txBody>
      </p:sp>
      <p:sp>
        <p:nvSpPr>
          <p:cNvPr id="11" name="圆角矩形 10"/>
          <p:cNvSpPr/>
          <p:nvPr/>
        </p:nvSpPr>
        <p:spPr>
          <a:xfrm>
            <a:off x="173990" y="666115"/>
            <a:ext cx="3879215" cy="5300980"/>
          </a:xfrm>
          <a:prstGeom prst="roundRect">
            <a:avLst>
              <a:gd name="adj" fmla="val 0"/>
            </a:avLst>
          </a:prstGeom>
          <a:solidFill>
            <a:schemeClr val="bg2">
              <a:lumMod val="75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/>
              <a:t>达人</a:t>
            </a:r>
            <a:r>
              <a:rPr lang="en-US" altLang="zh-CN"/>
              <a:t>Post</a:t>
            </a:r>
            <a:r>
              <a:rPr lang="zh-CN" altLang="en-US"/>
              <a:t>照片</a:t>
            </a:r>
            <a:br>
              <a:rPr lang="zh-CN" altLang="en-US"/>
            </a:br>
            <a:r>
              <a:rPr lang="zh-CN" altLang="en-US"/>
              <a:t>（可选多张图片</a:t>
            </a:r>
            <a:r>
              <a:rPr lang="zh-CN" altLang="en-US"/>
              <a:t>组合）</a:t>
            </a:r>
            <a:endParaRPr lang="zh-CN" altLang="en-US"/>
          </a:p>
        </p:txBody>
      </p:sp>
      <p:pic>
        <p:nvPicPr>
          <p:cNvPr id="12" name="图片 11" descr="Group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69033" y="290195"/>
            <a:ext cx="1288203" cy="253153"/>
          </a:xfrm>
          <a:prstGeom prst="rect">
            <a:avLst/>
          </a:prstGeom>
        </p:spPr>
      </p:pic>
      <p:sp>
        <p:nvSpPr>
          <p:cNvPr id="10" name="圆角矩形 9"/>
          <p:cNvSpPr/>
          <p:nvPr/>
        </p:nvSpPr>
        <p:spPr>
          <a:xfrm>
            <a:off x="5329555" y="666115"/>
            <a:ext cx="2442210" cy="1029970"/>
          </a:xfrm>
          <a:prstGeom prst="roundRect">
            <a:avLst>
              <a:gd name="adj" fmla="val 0"/>
            </a:avLst>
          </a:prstGeom>
          <a:solidFill>
            <a:schemeClr val="bg2">
              <a:lumMod val="90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4400"/>
              <a:t>ID</a:t>
            </a:r>
            <a:endParaRPr lang="en-US" altLang="zh-CN" sz="4400"/>
          </a:p>
        </p:txBody>
      </p:sp>
      <p:sp>
        <p:nvSpPr>
          <p:cNvPr id="16" name="圆角矩形 15"/>
          <p:cNvSpPr/>
          <p:nvPr/>
        </p:nvSpPr>
        <p:spPr>
          <a:xfrm>
            <a:off x="6778625" y="1885950"/>
            <a:ext cx="2497455" cy="558800"/>
          </a:xfrm>
          <a:prstGeom prst="roundRect">
            <a:avLst/>
          </a:prstGeom>
          <a:solidFill>
            <a:schemeClr val="bg2">
              <a:lumMod val="75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Type</a:t>
            </a:r>
            <a:endParaRPr lang="en-US" altLang="zh-CN"/>
          </a:p>
        </p:txBody>
      </p:sp>
      <p:sp>
        <p:nvSpPr>
          <p:cNvPr id="18" name="圆角矩形 17"/>
          <p:cNvSpPr/>
          <p:nvPr/>
        </p:nvSpPr>
        <p:spPr>
          <a:xfrm>
            <a:off x="3907790" y="2634615"/>
            <a:ext cx="8242300" cy="1592580"/>
          </a:xfrm>
          <a:prstGeom prst="roundRect">
            <a:avLst>
              <a:gd name="adj" fmla="val 0"/>
            </a:avLst>
          </a:prstGeom>
          <a:solidFill>
            <a:schemeClr val="bg2">
              <a:lumMod val="90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 altLang="zh-CN" sz="8800"/>
          </a:p>
        </p:txBody>
      </p:sp>
      <p:sp>
        <p:nvSpPr>
          <p:cNvPr id="19" name="圆角矩形 18"/>
          <p:cNvSpPr/>
          <p:nvPr/>
        </p:nvSpPr>
        <p:spPr>
          <a:xfrm>
            <a:off x="4174490" y="1885950"/>
            <a:ext cx="2497455" cy="558800"/>
          </a:xfrm>
          <a:prstGeom prst="roundRect">
            <a:avLst/>
          </a:prstGeom>
          <a:solidFill>
            <a:schemeClr val="bg2">
              <a:lumMod val="75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Base</a:t>
            </a:r>
            <a:endParaRPr lang="en-US" altLang="zh-CN"/>
          </a:p>
        </p:txBody>
      </p:sp>
      <p:sp>
        <p:nvSpPr>
          <p:cNvPr id="20" name="圆角矩形 19"/>
          <p:cNvSpPr/>
          <p:nvPr/>
        </p:nvSpPr>
        <p:spPr>
          <a:xfrm>
            <a:off x="9411970" y="1885950"/>
            <a:ext cx="2497455" cy="558800"/>
          </a:xfrm>
          <a:prstGeom prst="roundRect">
            <a:avLst/>
          </a:prstGeom>
          <a:solidFill>
            <a:schemeClr val="bg2">
              <a:lumMod val="75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Tier</a:t>
            </a:r>
            <a:r>
              <a:rPr lang="zh-CN" altLang="en-US"/>
              <a:t>（</a:t>
            </a:r>
            <a:r>
              <a:rPr lang="zh-CN" altLang="en-US"/>
              <a:t>可选）</a:t>
            </a:r>
            <a:endParaRPr lang="zh-CN" altLang="en-US"/>
          </a:p>
        </p:txBody>
      </p:sp>
      <p:sp>
        <p:nvSpPr>
          <p:cNvPr id="21" name="圆角矩形 20"/>
          <p:cNvSpPr/>
          <p:nvPr/>
        </p:nvSpPr>
        <p:spPr>
          <a:xfrm>
            <a:off x="4175125" y="2770505"/>
            <a:ext cx="7734935" cy="1339215"/>
          </a:xfrm>
          <a:prstGeom prst="roundRect">
            <a:avLst/>
          </a:prstGeom>
          <a:solidFill>
            <a:schemeClr val="bg2">
              <a:lumMod val="75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/>
              <a:t>大数字</a:t>
            </a:r>
            <a:r>
              <a:rPr lang="zh-CN" altLang="en-US"/>
              <a:t>部分</a:t>
            </a:r>
            <a:endParaRPr lang="zh-CN" altLang="en-US"/>
          </a:p>
        </p:txBody>
      </p:sp>
      <p:sp>
        <p:nvSpPr>
          <p:cNvPr id="33" name="圆角矩形 32"/>
          <p:cNvSpPr/>
          <p:nvPr/>
        </p:nvSpPr>
        <p:spPr>
          <a:xfrm>
            <a:off x="4175125" y="4453255"/>
            <a:ext cx="3764915" cy="2101850"/>
          </a:xfrm>
          <a:prstGeom prst="roundRect">
            <a:avLst/>
          </a:prstGeom>
          <a:solidFill>
            <a:schemeClr val="bg2">
              <a:lumMod val="75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>
              <a:lnSpc>
                <a:spcPct val="100000"/>
              </a:lnSpc>
            </a:pPr>
            <a:r>
              <a:rPr lang="en-US" altLang="zh-CN" b="1" dirty="0">
                <a:solidFill>
                  <a:schemeClr val="bg1"/>
                </a:solidFill>
                <a:effectLst/>
                <a:latin typeface="Arial Bold" panose="020B0604020202090204" charset="0"/>
                <a:ea typeface="+mj-ea"/>
                <a:cs typeface="Arial Bold" panose="020B0604020202090204" charset="0"/>
                <a:sym typeface="+mn-ea"/>
              </a:rPr>
              <a:t>Audience Demographics</a:t>
            </a:r>
            <a:endParaRPr lang="en-US" altLang="zh-CN" b="1" dirty="0">
              <a:solidFill>
                <a:schemeClr val="bg1"/>
              </a:solidFill>
              <a:effectLst/>
              <a:latin typeface="Arial Bold" panose="020B0604020202090204" charset="0"/>
              <a:ea typeface="+mj-ea"/>
              <a:cs typeface="Arial Bold" panose="020B0604020202090204" charset="0"/>
              <a:sym typeface="+mn-ea"/>
            </a:endParaRPr>
          </a:p>
        </p:txBody>
      </p:sp>
      <p:sp>
        <p:nvSpPr>
          <p:cNvPr id="36" name="圆角矩形 35"/>
          <p:cNvSpPr/>
          <p:nvPr/>
        </p:nvSpPr>
        <p:spPr>
          <a:xfrm>
            <a:off x="8133080" y="4417060"/>
            <a:ext cx="3777615" cy="2101850"/>
          </a:xfrm>
          <a:prstGeom prst="roundRect">
            <a:avLst/>
          </a:prstGeom>
          <a:solidFill>
            <a:schemeClr val="bg2">
              <a:lumMod val="75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/>
              <a:t>自定义文字（</a:t>
            </a:r>
            <a:r>
              <a:rPr lang="zh-CN" altLang="en-US"/>
              <a:t>可选）</a:t>
            </a:r>
            <a:endParaRPr lang="zh-CN" altLang="en-US"/>
          </a:p>
        </p:txBody>
      </p:sp>
      <p:sp>
        <p:nvSpPr>
          <p:cNvPr id="38" name="圆角矩形 37"/>
          <p:cNvSpPr/>
          <p:nvPr/>
        </p:nvSpPr>
        <p:spPr>
          <a:xfrm>
            <a:off x="174625" y="6068060"/>
            <a:ext cx="3879215" cy="457835"/>
          </a:xfrm>
          <a:prstGeom prst="roundRect">
            <a:avLst>
              <a:gd name="adj" fmla="val 0"/>
            </a:avLst>
          </a:prstGeom>
          <a:solidFill>
            <a:schemeClr val="bg2">
              <a:lumMod val="75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 Post L</a:t>
            </a:r>
            <a:r>
              <a:rPr lang="en-US" altLang="zh-CN"/>
              <a:t>ink</a:t>
            </a:r>
            <a:endParaRPr lang="en-US" altLang="zh-CN"/>
          </a:p>
        </p:txBody>
      </p:sp>
      <p:sp>
        <p:nvSpPr>
          <p:cNvPr id="6" name="圆角矩形 5"/>
          <p:cNvSpPr/>
          <p:nvPr/>
        </p:nvSpPr>
        <p:spPr>
          <a:xfrm>
            <a:off x="9668510" y="1024890"/>
            <a:ext cx="2238375" cy="683895"/>
          </a:xfrm>
          <a:prstGeom prst="roundRect">
            <a:avLst/>
          </a:prstGeom>
          <a:solidFill>
            <a:schemeClr val="bg2">
              <a:lumMod val="75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r"/>
            <a:r>
              <a:rPr lang="zh-CN" altLang="en-US"/>
              <a:t>品牌</a:t>
            </a:r>
            <a:r>
              <a:rPr lang="en-US" altLang="zh-CN"/>
              <a:t>Log</a:t>
            </a:r>
            <a:r>
              <a:rPr lang="en-US" altLang="zh-CN"/>
              <a:t>o</a:t>
            </a:r>
            <a:endParaRPr lang="en-US" altLang="zh-CN"/>
          </a:p>
        </p:txBody>
      </p:sp>
      <p:sp>
        <p:nvSpPr>
          <p:cNvPr id="7" name="椭圆 6"/>
          <p:cNvSpPr/>
          <p:nvPr/>
        </p:nvSpPr>
        <p:spPr>
          <a:xfrm>
            <a:off x="4175125" y="657860"/>
            <a:ext cx="1032510" cy="1057910"/>
          </a:xfrm>
          <a:prstGeom prst="ellipse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/>
              <a:t>达人</a:t>
            </a:r>
            <a:r>
              <a:rPr lang="zh-CN" altLang="en-US"/>
              <a:t>头像</a:t>
            </a:r>
            <a:endParaRPr lang="zh-CN" altLang="en-US"/>
          </a:p>
        </p:txBody>
      </p:sp>
      <p:sp>
        <p:nvSpPr>
          <p:cNvPr id="13" name="圆角矩形 12"/>
          <p:cNvSpPr/>
          <p:nvPr/>
        </p:nvSpPr>
        <p:spPr>
          <a:xfrm>
            <a:off x="3628390" y="365125"/>
            <a:ext cx="769620" cy="683260"/>
          </a:xfrm>
          <a:prstGeom prst="roundRect">
            <a:avLst/>
          </a:prstGeom>
          <a:solidFill>
            <a:schemeClr val="bg2">
              <a:lumMod val="90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400"/>
              <a:t>平台的</a:t>
            </a:r>
            <a:r>
              <a:rPr lang="en-US" altLang="zh-CN" sz="1400"/>
              <a:t>Logo</a:t>
            </a:r>
            <a:endParaRPr lang="en-US" altLang="zh-CN" sz="1400"/>
          </a:p>
        </p:txBody>
      </p:sp>
      <p:sp>
        <p:nvSpPr>
          <p:cNvPr id="8" name="文本框 7"/>
          <p:cNvSpPr txBox="1"/>
          <p:nvPr/>
        </p:nvSpPr>
        <p:spPr>
          <a:xfrm>
            <a:off x="11159490" y="574675"/>
            <a:ext cx="59753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2400">
                <a:solidFill>
                  <a:srgbClr val="F39B38"/>
                </a:solidFill>
                <a:latin typeface="Arial Black" panose="020B0A04020102020204" charset="0"/>
                <a:ea typeface="PingFang SC Semibold" panose="020B0400000000000000" charset="-122"/>
                <a:cs typeface="Arial Black" panose="020B0A04020102020204" charset="0"/>
              </a:rPr>
              <a:t>X</a:t>
            </a:r>
            <a:endParaRPr lang="en-US" altLang="zh-CN" sz="2400">
              <a:solidFill>
                <a:srgbClr val="F39B38"/>
              </a:solidFill>
              <a:latin typeface="Arial Black" panose="020B0A04020102020204" charset="0"/>
              <a:ea typeface="PingFang SC Semibold" panose="020B0400000000000000" charset="-122"/>
              <a:cs typeface="Arial Black" panose="020B0A04020102020204" charset="0"/>
            </a:endParaRPr>
          </a:p>
        </p:txBody>
      </p:sp>
      <p:pic>
        <p:nvPicPr>
          <p:cNvPr id="2" name="图片 1" descr="截屏2026-06-25 11.00.5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292330" y="613410"/>
            <a:ext cx="7322820" cy="411289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177165" y="-133350"/>
            <a:ext cx="8345170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>
              <a:lnSpc>
                <a:spcPct val="150000"/>
              </a:lnSpc>
            </a:pPr>
            <a:r>
              <a:rPr lang="en-US" altLang="zh-CN" sz="3200"/>
              <a:t>Top Influencer Collaboration</a:t>
            </a:r>
            <a:r>
              <a:rPr lang="en-US" altLang="zh-CN" sz="3200"/>
              <a:t>s</a:t>
            </a:r>
            <a:endParaRPr lang="en-US" altLang="zh-CN" sz="3200"/>
          </a:p>
        </p:txBody>
      </p:sp>
      <p:sp>
        <p:nvSpPr>
          <p:cNvPr id="5" name="文本框 4"/>
          <p:cNvSpPr txBox="1"/>
          <p:nvPr/>
        </p:nvSpPr>
        <p:spPr>
          <a:xfrm>
            <a:off x="12250420" y="91440"/>
            <a:ext cx="104521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800">
                <a:highlight>
                  <a:srgbClr val="FFFF00"/>
                </a:highlight>
              </a:rPr>
              <a:t>ref</a:t>
            </a:r>
            <a:endParaRPr lang="en-US" altLang="zh-CN" sz="2800">
              <a:highlight>
                <a:srgbClr val="FFFF00"/>
              </a:highlight>
            </a:endParaRPr>
          </a:p>
        </p:txBody>
      </p:sp>
    </p:spTree>
    <p:custDataLst>
      <p:tags r:id="rId3"/>
    </p:custData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0" y="-683895"/>
            <a:ext cx="5771515" cy="50673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>
              <a:lnSpc>
                <a:spcPct val="150000"/>
              </a:lnSpc>
            </a:pPr>
            <a:r>
              <a:rPr lang="en-US" altLang="zh-CN"/>
              <a:t>Breakdown - Influencers</a:t>
            </a:r>
            <a:r>
              <a:rPr lang="zh-CN" altLang="en-US"/>
              <a:t>，</a:t>
            </a:r>
            <a:r>
              <a:rPr lang="en-US" altLang="zh-CN"/>
              <a:t>Content Site</a:t>
            </a:r>
            <a:r>
              <a:rPr lang="zh-CN" altLang="en-US"/>
              <a:t>，</a:t>
            </a:r>
            <a:r>
              <a:rPr lang="en-US" altLang="zh-CN"/>
              <a:t>reddit</a:t>
            </a:r>
            <a:r>
              <a:rPr lang="zh-CN" altLang="en-US"/>
              <a:t>，</a:t>
            </a:r>
            <a:r>
              <a:rPr lang="en-US" altLang="zh-CN"/>
              <a:t>FB</a:t>
            </a:r>
            <a:endParaRPr lang="en-US" altLang="zh-CN"/>
          </a:p>
        </p:txBody>
      </p:sp>
      <p:sp>
        <p:nvSpPr>
          <p:cNvPr id="8" name="文本框 7"/>
          <p:cNvSpPr txBox="1"/>
          <p:nvPr/>
        </p:nvSpPr>
        <p:spPr>
          <a:xfrm>
            <a:off x="229235" y="13335"/>
            <a:ext cx="7784465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>
              <a:lnSpc>
                <a:spcPct val="100000"/>
              </a:lnSpc>
            </a:pPr>
            <a:r>
              <a:rPr lang="en-US" altLang="zh-CN" sz="3200"/>
              <a:t>Performance Review by Channels - </a:t>
            </a:r>
            <a:r>
              <a:rPr lang="en-US" altLang="zh-CN" sz="1600"/>
              <a:t>Content Sites / Reddit / Influencer(</a:t>
            </a:r>
            <a:r>
              <a:rPr lang="zh-CN" altLang="en-US" sz="1400"/>
              <a:t>简易版</a:t>
            </a:r>
            <a:r>
              <a:rPr lang="en-US" altLang="zh-CN" sz="1400"/>
              <a:t>)</a:t>
            </a:r>
            <a:endParaRPr lang="en-US" altLang="zh-CN" sz="1400"/>
          </a:p>
        </p:txBody>
      </p:sp>
      <p:sp>
        <p:nvSpPr>
          <p:cNvPr id="15" name="圆角矩形 14"/>
          <p:cNvSpPr/>
          <p:nvPr/>
        </p:nvSpPr>
        <p:spPr>
          <a:xfrm>
            <a:off x="304165" y="1692910"/>
            <a:ext cx="3041015" cy="4419600"/>
          </a:xfrm>
          <a:prstGeom prst="roundRect">
            <a:avLst>
              <a:gd name="adj" fmla="val 0"/>
            </a:avLst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2800">
                <a:solidFill>
                  <a:schemeClr val="tx1"/>
                </a:solidFill>
              </a:rPr>
              <a:t>Post1</a:t>
            </a:r>
            <a:endParaRPr lang="en-US" altLang="zh-CN" sz="2800">
              <a:solidFill>
                <a:schemeClr val="tx1"/>
              </a:solidFill>
            </a:endParaRPr>
          </a:p>
        </p:txBody>
      </p:sp>
      <p:sp>
        <p:nvSpPr>
          <p:cNvPr id="16" name="圆角矩形 15"/>
          <p:cNvSpPr/>
          <p:nvPr/>
        </p:nvSpPr>
        <p:spPr>
          <a:xfrm>
            <a:off x="304165" y="977900"/>
            <a:ext cx="3041015" cy="605155"/>
          </a:xfrm>
          <a:prstGeom prst="roundRect">
            <a:avLst>
              <a:gd name="adj" fmla="val 0"/>
            </a:avLst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2800">
                <a:solidFill>
                  <a:schemeClr val="tx1"/>
                </a:solidFill>
              </a:rPr>
              <a:t>ID/Web</a:t>
            </a:r>
            <a:endParaRPr lang="en-US" altLang="zh-CN" sz="2800">
              <a:solidFill>
                <a:schemeClr val="tx1"/>
              </a:solidFill>
            </a:endParaRPr>
          </a:p>
        </p:txBody>
      </p:sp>
      <p:sp>
        <p:nvSpPr>
          <p:cNvPr id="17" name="圆角矩形 16"/>
          <p:cNvSpPr/>
          <p:nvPr/>
        </p:nvSpPr>
        <p:spPr>
          <a:xfrm>
            <a:off x="304165" y="6222365"/>
            <a:ext cx="3041015" cy="318135"/>
          </a:xfrm>
          <a:prstGeom prst="roundRect">
            <a:avLst>
              <a:gd name="adj" fmla="val 0"/>
            </a:avLst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600">
                <a:solidFill>
                  <a:schemeClr val="tx1"/>
                </a:solidFill>
              </a:rPr>
              <a:t>Link</a:t>
            </a:r>
            <a:endParaRPr lang="en-US" altLang="zh-CN" sz="1600">
              <a:solidFill>
                <a:schemeClr val="tx1"/>
              </a:solidFill>
            </a:endParaRPr>
          </a:p>
        </p:txBody>
      </p:sp>
      <p:sp>
        <p:nvSpPr>
          <p:cNvPr id="5" name="圆角矩形 4"/>
          <p:cNvSpPr/>
          <p:nvPr/>
        </p:nvSpPr>
        <p:spPr>
          <a:xfrm>
            <a:off x="3807460" y="1692275"/>
            <a:ext cx="3041015" cy="4419600"/>
          </a:xfrm>
          <a:prstGeom prst="roundRect">
            <a:avLst>
              <a:gd name="adj" fmla="val 0"/>
            </a:avLst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2800">
                <a:solidFill>
                  <a:schemeClr val="tx1"/>
                </a:solidFill>
              </a:rPr>
              <a:t>Post2</a:t>
            </a:r>
            <a:endParaRPr lang="en-US" altLang="zh-CN" sz="2800">
              <a:solidFill>
                <a:schemeClr val="tx1"/>
              </a:solidFill>
            </a:endParaRPr>
          </a:p>
        </p:txBody>
      </p:sp>
      <p:sp>
        <p:nvSpPr>
          <p:cNvPr id="7" name="圆角矩形 6"/>
          <p:cNvSpPr/>
          <p:nvPr/>
        </p:nvSpPr>
        <p:spPr>
          <a:xfrm>
            <a:off x="3807460" y="977265"/>
            <a:ext cx="3041015" cy="605155"/>
          </a:xfrm>
          <a:prstGeom prst="roundRect">
            <a:avLst>
              <a:gd name="adj" fmla="val 0"/>
            </a:avLst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2800">
                <a:solidFill>
                  <a:schemeClr val="tx1"/>
                </a:solidFill>
              </a:rPr>
              <a:t>ID/Web</a:t>
            </a:r>
            <a:endParaRPr lang="en-US" altLang="zh-CN" sz="2800">
              <a:solidFill>
                <a:schemeClr val="tx1"/>
              </a:solidFill>
            </a:endParaRPr>
          </a:p>
        </p:txBody>
      </p:sp>
      <p:sp>
        <p:nvSpPr>
          <p:cNvPr id="18" name="圆角矩形 17"/>
          <p:cNvSpPr/>
          <p:nvPr/>
        </p:nvSpPr>
        <p:spPr>
          <a:xfrm>
            <a:off x="3807460" y="6221730"/>
            <a:ext cx="3041015" cy="318135"/>
          </a:xfrm>
          <a:prstGeom prst="roundRect">
            <a:avLst>
              <a:gd name="adj" fmla="val 0"/>
            </a:avLst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600">
                <a:solidFill>
                  <a:schemeClr val="tx1"/>
                </a:solidFill>
              </a:rPr>
              <a:t>Link</a:t>
            </a:r>
            <a:endParaRPr lang="en-US" altLang="zh-CN" sz="1600">
              <a:solidFill>
                <a:schemeClr val="tx1"/>
              </a:solidFill>
            </a:endParaRPr>
          </a:p>
        </p:txBody>
      </p:sp>
      <p:sp>
        <p:nvSpPr>
          <p:cNvPr id="19" name="圆角矩形 18"/>
          <p:cNvSpPr/>
          <p:nvPr/>
        </p:nvSpPr>
        <p:spPr>
          <a:xfrm>
            <a:off x="7310755" y="1691640"/>
            <a:ext cx="3041015" cy="4419600"/>
          </a:xfrm>
          <a:prstGeom prst="roundRect">
            <a:avLst>
              <a:gd name="adj" fmla="val 0"/>
            </a:avLst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2800">
                <a:solidFill>
                  <a:schemeClr val="tx1"/>
                </a:solidFill>
              </a:rPr>
              <a:t>Post3</a:t>
            </a:r>
            <a:endParaRPr lang="en-US" altLang="zh-CN" sz="2800">
              <a:solidFill>
                <a:schemeClr val="tx1"/>
              </a:solidFill>
            </a:endParaRPr>
          </a:p>
        </p:txBody>
      </p:sp>
      <p:sp>
        <p:nvSpPr>
          <p:cNvPr id="20" name="圆角矩形 19"/>
          <p:cNvSpPr/>
          <p:nvPr/>
        </p:nvSpPr>
        <p:spPr>
          <a:xfrm>
            <a:off x="7310755" y="976630"/>
            <a:ext cx="3041015" cy="605155"/>
          </a:xfrm>
          <a:prstGeom prst="roundRect">
            <a:avLst>
              <a:gd name="adj" fmla="val 0"/>
            </a:avLst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2800">
                <a:solidFill>
                  <a:schemeClr val="tx1"/>
                </a:solidFill>
              </a:rPr>
              <a:t>ID/Web</a:t>
            </a:r>
            <a:endParaRPr lang="en-US" altLang="zh-CN" sz="2800">
              <a:solidFill>
                <a:schemeClr val="tx1"/>
              </a:solidFill>
            </a:endParaRPr>
          </a:p>
        </p:txBody>
      </p:sp>
      <p:sp>
        <p:nvSpPr>
          <p:cNvPr id="21" name="圆角矩形 20"/>
          <p:cNvSpPr/>
          <p:nvPr/>
        </p:nvSpPr>
        <p:spPr>
          <a:xfrm>
            <a:off x="7310755" y="6221095"/>
            <a:ext cx="3041015" cy="318135"/>
          </a:xfrm>
          <a:prstGeom prst="roundRect">
            <a:avLst>
              <a:gd name="adj" fmla="val 0"/>
            </a:avLst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600">
                <a:solidFill>
                  <a:schemeClr val="tx1"/>
                </a:solidFill>
              </a:rPr>
              <a:t>Link</a:t>
            </a:r>
            <a:endParaRPr lang="en-US" altLang="zh-CN" sz="1600">
              <a:solidFill>
                <a:schemeClr val="tx1"/>
              </a:solidFill>
            </a:endParaRPr>
          </a:p>
        </p:txBody>
      </p:sp>
      <p:grpSp>
        <p:nvGrpSpPr>
          <p:cNvPr id="14" name="组合 13"/>
          <p:cNvGrpSpPr/>
          <p:nvPr/>
        </p:nvGrpSpPr>
        <p:grpSpPr>
          <a:xfrm>
            <a:off x="8162925" y="13335"/>
            <a:ext cx="4032250" cy="6841490"/>
            <a:chOff x="12855" y="21"/>
            <a:chExt cx="6350" cy="10774"/>
          </a:xfrm>
        </p:grpSpPr>
        <p:grpSp>
          <p:nvGrpSpPr>
            <p:cNvPr id="12" name="组合 11"/>
            <p:cNvGrpSpPr/>
            <p:nvPr/>
          </p:nvGrpSpPr>
          <p:grpSpPr>
            <a:xfrm>
              <a:off x="12855" y="21"/>
              <a:ext cx="6351" cy="10774"/>
              <a:chOff x="12855" y="21"/>
              <a:chExt cx="6351" cy="10774"/>
            </a:xfrm>
          </p:grpSpPr>
          <p:pic>
            <p:nvPicPr>
              <p:cNvPr id="2" name="图片 1" descr="截屏2026-06-25 11.19.17"/>
              <p:cNvPicPr>
                <a:picLocks noChangeAspect="1"/>
              </p:cNvPicPr>
              <p:nvPr/>
            </p:nvPicPr>
            <p:blipFill>
              <a:blip r:embed="rId1"/>
              <a:stretch>
                <a:fillRect/>
              </a:stretch>
            </p:blipFill>
            <p:spPr>
              <a:xfrm>
                <a:off x="12862" y="21"/>
                <a:ext cx="6345" cy="3550"/>
              </a:xfrm>
              <a:prstGeom prst="rect">
                <a:avLst/>
              </a:prstGeom>
            </p:spPr>
          </p:pic>
          <p:pic>
            <p:nvPicPr>
              <p:cNvPr id="3" name="图片 2" descr="截屏2026-06-25 11.20.17"/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12855" y="3603"/>
                <a:ext cx="6345" cy="3564"/>
              </a:xfrm>
              <a:prstGeom prst="rect">
                <a:avLst/>
              </a:prstGeom>
            </p:spPr>
          </p:pic>
          <p:pic>
            <p:nvPicPr>
              <p:cNvPr id="6" name="图片 5" descr="截屏2026-06-25 11.24.50"/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2862" y="7199"/>
                <a:ext cx="6345" cy="3596"/>
              </a:xfrm>
              <a:prstGeom prst="rect">
                <a:avLst/>
              </a:prstGeom>
            </p:spPr>
          </p:pic>
          <p:sp>
            <p:nvSpPr>
              <p:cNvPr id="9" name="圆角矩形 8"/>
              <p:cNvSpPr/>
              <p:nvPr/>
            </p:nvSpPr>
            <p:spPr>
              <a:xfrm>
                <a:off x="14209" y="112"/>
                <a:ext cx="1700" cy="382"/>
              </a:xfrm>
              <a:prstGeom prst="roundRect">
                <a:avLst/>
              </a:prstGeom>
              <a:noFill/>
              <a:ln w="28575">
                <a:solidFill>
                  <a:schemeClr val="accent6">
                    <a:lumMod val="75000"/>
                  </a:schemeClr>
                </a:solidFill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</a:ex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10" name="圆角矩形 9"/>
              <p:cNvSpPr/>
              <p:nvPr/>
            </p:nvSpPr>
            <p:spPr>
              <a:xfrm>
                <a:off x="14293" y="3655"/>
                <a:ext cx="1700" cy="382"/>
              </a:xfrm>
              <a:prstGeom prst="roundRect">
                <a:avLst/>
              </a:prstGeom>
              <a:noFill/>
              <a:ln w="28575">
                <a:solidFill>
                  <a:schemeClr val="accent6">
                    <a:lumMod val="75000"/>
                  </a:schemeClr>
                </a:solidFill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</a:ex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11" name="圆角矩形 10"/>
              <p:cNvSpPr/>
              <p:nvPr/>
            </p:nvSpPr>
            <p:spPr>
              <a:xfrm>
                <a:off x="15684" y="7282"/>
                <a:ext cx="1700" cy="382"/>
              </a:xfrm>
              <a:prstGeom prst="roundRect">
                <a:avLst/>
              </a:prstGeom>
              <a:noFill/>
              <a:ln w="28575">
                <a:solidFill>
                  <a:schemeClr val="accent6">
                    <a:lumMod val="75000"/>
                  </a:schemeClr>
                </a:solidFill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</a:ex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</p:grpSp>
        <p:sp>
          <p:nvSpPr>
            <p:cNvPr id="13" name="文本框 12"/>
            <p:cNvSpPr txBox="1"/>
            <p:nvPr/>
          </p:nvSpPr>
          <p:spPr>
            <a:xfrm>
              <a:off x="12862" y="2833"/>
              <a:ext cx="1646" cy="82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en-US" altLang="zh-CN" sz="2800">
                  <a:highlight>
                    <a:srgbClr val="FFFF00"/>
                  </a:highlight>
                </a:rPr>
                <a:t>ref</a:t>
              </a:r>
              <a:endParaRPr lang="en-US" altLang="zh-CN" sz="2800">
                <a:highlight>
                  <a:srgbClr val="FFFF00"/>
                </a:highlight>
              </a:endParaRPr>
            </a:p>
          </p:txBody>
        </p:sp>
      </p:grpSp>
    </p:spTree>
    <p:custDataLst>
      <p:tags r:id="rId4"/>
    </p:custData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0" y="-633095"/>
            <a:ext cx="4490085" cy="50673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>
              <a:lnSpc>
                <a:spcPct val="150000"/>
              </a:lnSpc>
            </a:pPr>
            <a:r>
              <a:rPr lang="en-US" altLang="zh-CN"/>
              <a:t>Breakdown - DM Placement </a:t>
            </a:r>
            <a:r>
              <a:rPr lang="en-US" altLang="zh-CN"/>
              <a:t>Display</a:t>
            </a:r>
            <a:endParaRPr lang="en-US" altLang="zh-CN"/>
          </a:p>
        </p:txBody>
      </p:sp>
      <p:sp>
        <p:nvSpPr>
          <p:cNvPr id="8" name="文本框 7"/>
          <p:cNvSpPr txBox="1"/>
          <p:nvPr/>
        </p:nvSpPr>
        <p:spPr>
          <a:xfrm>
            <a:off x="137160" y="0"/>
            <a:ext cx="4873625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>
              <a:lnSpc>
                <a:spcPct val="150000"/>
              </a:lnSpc>
            </a:pPr>
            <a:r>
              <a:rPr lang="en-US" altLang="zh-CN" sz="3200">
                <a:sym typeface="+mn-ea"/>
              </a:rPr>
              <a:t>DM Placement Display</a:t>
            </a:r>
            <a:endParaRPr lang="en-US" altLang="zh-CN" sz="3200"/>
          </a:p>
        </p:txBody>
      </p:sp>
      <p:sp>
        <p:nvSpPr>
          <p:cNvPr id="15" name="圆角矩形 14"/>
          <p:cNvSpPr/>
          <p:nvPr/>
        </p:nvSpPr>
        <p:spPr>
          <a:xfrm>
            <a:off x="426085" y="1517650"/>
            <a:ext cx="2926080" cy="3719830"/>
          </a:xfrm>
          <a:prstGeom prst="roundRect">
            <a:avLst>
              <a:gd name="adj" fmla="val 0"/>
            </a:avLst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2800">
                <a:solidFill>
                  <a:schemeClr val="tx1"/>
                </a:solidFill>
              </a:rPr>
              <a:t>广告位</a:t>
            </a:r>
            <a:r>
              <a:rPr lang="zh-CN" altLang="en-US" sz="2800">
                <a:solidFill>
                  <a:schemeClr val="tx1"/>
                </a:solidFill>
              </a:rPr>
              <a:t>截图</a:t>
            </a:r>
            <a:endParaRPr lang="zh-CN" altLang="en-US" sz="2800">
              <a:solidFill>
                <a:schemeClr val="tx1"/>
              </a:solidFill>
            </a:endParaRPr>
          </a:p>
        </p:txBody>
      </p:sp>
      <p:sp>
        <p:nvSpPr>
          <p:cNvPr id="16" name="圆角矩形 15"/>
          <p:cNvSpPr/>
          <p:nvPr/>
        </p:nvSpPr>
        <p:spPr>
          <a:xfrm>
            <a:off x="426085" y="1046480"/>
            <a:ext cx="2926080" cy="354965"/>
          </a:xfrm>
          <a:prstGeom prst="roundRect">
            <a:avLst>
              <a:gd name="adj" fmla="val 0"/>
            </a:avLst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2800">
                <a:solidFill>
                  <a:schemeClr val="tx1"/>
                </a:solidFill>
              </a:rPr>
              <a:t>广告位</a:t>
            </a:r>
            <a:r>
              <a:rPr lang="zh-CN" altLang="en-US" sz="2800">
                <a:solidFill>
                  <a:schemeClr val="tx1"/>
                </a:solidFill>
              </a:rPr>
              <a:t>名称</a:t>
            </a:r>
            <a:endParaRPr lang="zh-CN" altLang="en-US" sz="2800">
              <a:solidFill>
                <a:schemeClr val="tx1"/>
              </a:solidFill>
            </a:endParaRPr>
          </a:p>
        </p:txBody>
      </p:sp>
      <p:grpSp>
        <p:nvGrpSpPr>
          <p:cNvPr id="5" name="组合 4"/>
          <p:cNvGrpSpPr/>
          <p:nvPr/>
        </p:nvGrpSpPr>
        <p:grpSpPr>
          <a:xfrm>
            <a:off x="12905105" y="509905"/>
            <a:ext cx="5012690" cy="5742305"/>
            <a:chOff x="12425" y="448"/>
            <a:chExt cx="7894" cy="9043"/>
          </a:xfrm>
        </p:grpSpPr>
        <p:pic>
          <p:nvPicPr>
            <p:cNvPr id="2" name="图片 1" descr="截屏2026-06-25 11.39.02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12425" y="448"/>
              <a:ext cx="7894" cy="4537"/>
            </a:xfrm>
            <a:prstGeom prst="rect">
              <a:avLst/>
            </a:prstGeom>
          </p:spPr>
        </p:pic>
        <p:pic>
          <p:nvPicPr>
            <p:cNvPr id="3" name="图片 2" descr="截屏2026-06-25 11.40.17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2425" y="4985"/>
              <a:ext cx="7894" cy="4507"/>
            </a:xfrm>
            <a:prstGeom prst="rect">
              <a:avLst/>
            </a:prstGeom>
          </p:spPr>
        </p:pic>
        <p:sp>
          <p:nvSpPr>
            <p:cNvPr id="13" name="文本框 12"/>
            <p:cNvSpPr txBox="1"/>
            <p:nvPr/>
          </p:nvSpPr>
          <p:spPr>
            <a:xfrm>
              <a:off x="12425" y="4318"/>
              <a:ext cx="1646" cy="82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en-US" altLang="zh-CN" sz="2800">
                  <a:highlight>
                    <a:srgbClr val="FFFF00"/>
                  </a:highlight>
                </a:rPr>
                <a:t>ref</a:t>
              </a:r>
              <a:endParaRPr lang="en-US" altLang="zh-CN" sz="2800">
                <a:highlight>
                  <a:srgbClr val="FFFF00"/>
                </a:highlight>
              </a:endParaRPr>
            </a:p>
          </p:txBody>
        </p:sp>
      </p:grpSp>
      <p:sp>
        <p:nvSpPr>
          <p:cNvPr id="12" name="圆角矩形 11"/>
          <p:cNvSpPr/>
          <p:nvPr/>
        </p:nvSpPr>
        <p:spPr>
          <a:xfrm>
            <a:off x="426085" y="5428615"/>
            <a:ext cx="5483860" cy="1266190"/>
          </a:xfrm>
          <a:prstGeom prst="roundRect">
            <a:avLst>
              <a:gd name="adj" fmla="val 0"/>
            </a:avLst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2800">
                <a:solidFill>
                  <a:schemeClr val="tx1"/>
                </a:solidFill>
              </a:rPr>
              <a:t>Highlights</a:t>
            </a:r>
            <a:endParaRPr lang="en-US" altLang="zh-CN" sz="2800">
              <a:solidFill>
                <a:schemeClr val="tx1"/>
              </a:solidFill>
            </a:endParaRPr>
          </a:p>
        </p:txBody>
      </p:sp>
      <p:sp>
        <p:nvSpPr>
          <p:cNvPr id="14" name="圆角矩形 13"/>
          <p:cNvSpPr/>
          <p:nvPr/>
        </p:nvSpPr>
        <p:spPr>
          <a:xfrm>
            <a:off x="6205220" y="5428615"/>
            <a:ext cx="5483860" cy="1266190"/>
          </a:xfrm>
          <a:prstGeom prst="roundRect">
            <a:avLst>
              <a:gd name="adj" fmla="val 0"/>
            </a:avLst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2800">
                <a:solidFill>
                  <a:schemeClr val="tx1"/>
                </a:solidFill>
              </a:rPr>
              <a:t>Learnings</a:t>
            </a:r>
            <a:endParaRPr lang="en-US" altLang="zh-CN" sz="2800">
              <a:solidFill>
                <a:schemeClr val="tx1"/>
              </a:solidFill>
            </a:endParaRPr>
          </a:p>
        </p:txBody>
      </p:sp>
      <p:sp>
        <p:nvSpPr>
          <p:cNvPr id="18" name="圆角矩形 17"/>
          <p:cNvSpPr/>
          <p:nvPr/>
        </p:nvSpPr>
        <p:spPr>
          <a:xfrm>
            <a:off x="3647440" y="1504950"/>
            <a:ext cx="2926080" cy="3719830"/>
          </a:xfrm>
          <a:prstGeom prst="roundRect">
            <a:avLst>
              <a:gd name="adj" fmla="val 0"/>
            </a:avLst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2800">
                <a:solidFill>
                  <a:schemeClr val="tx1"/>
                </a:solidFill>
              </a:rPr>
              <a:t>广告位</a:t>
            </a:r>
            <a:r>
              <a:rPr lang="zh-CN" altLang="en-US" sz="2800">
                <a:solidFill>
                  <a:schemeClr val="tx1"/>
                </a:solidFill>
              </a:rPr>
              <a:t>截图</a:t>
            </a:r>
            <a:endParaRPr lang="zh-CN" altLang="en-US" sz="2800">
              <a:solidFill>
                <a:schemeClr val="tx1"/>
              </a:solidFill>
            </a:endParaRPr>
          </a:p>
        </p:txBody>
      </p:sp>
      <p:sp>
        <p:nvSpPr>
          <p:cNvPr id="19" name="圆角矩形 18"/>
          <p:cNvSpPr/>
          <p:nvPr/>
        </p:nvSpPr>
        <p:spPr>
          <a:xfrm>
            <a:off x="3647440" y="1033780"/>
            <a:ext cx="2926080" cy="354965"/>
          </a:xfrm>
          <a:prstGeom prst="roundRect">
            <a:avLst>
              <a:gd name="adj" fmla="val 0"/>
            </a:avLst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2800">
                <a:solidFill>
                  <a:schemeClr val="tx1"/>
                </a:solidFill>
              </a:rPr>
              <a:t>广告位</a:t>
            </a:r>
            <a:r>
              <a:rPr lang="zh-CN" altLang="en-US" sz="2800">
                <a:solidFill>
                  <a:schemeClr val="tx1"/>
                </a:solidFill>
              </a:rPr>
              <a:t>名称</a:t>
            </a:r>
            <a:endParaRPr lang="zh-CN" altLang="en-US" sz="2800">
              <a:solidFill>
                <a:schemeClr val="tx1"/>
              </a:solidFill>
            </a:endParaRPr>
          </a:p>
        </p:txBody>
      </p:sp>
      <p:sp>
        <p:nvSpPr>
          <p:cNvPr id="20" name="圆角矩形 19"/>
          <p:cNvSpPr/>
          <p:nvPr/>
        </p:nvSpPr>
        <p:spPr>
          <a:xfrm>
            <a:off x="6842125" y="1517650"/>
            <a:ext cx="4838065" cy="3719830"/>
          </a:xfrm>
          <a:prstGeom prst="roundRect">
            <a:avLst>
              <a:gd name="adj" fmla="val 0"/>
            </a:avLst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2800">
                <a:solidFill>
                  <a:schemeClr val="tx1"/>
                </a:solidFill>
              </a:rPr>
              <a:t>广告位</a:t>
            </a:r>
            <a:r>
              <a:rPr lang="zh-CN" altLang="en-US" sz="2800">
                <a:solidFill>
                  <a:schemeClr val="tx1"/>
                </a:solidFill>
              </a:rPr>
              <a:t>截图</a:t>
            </a:r>
            <a:endParaRPr lang="zh-CN" altLang="en-US" sz="2800">
              <a:solidFill>
                <a:schemeClr val="tx1"/>
              </a:solidFill>
            </a:endParaRPr>
          </a:p>
        </p:txBody>
      </p:sp>
      <p:sp>
        <p:nvSpPr>
          <p:cNvPr id="21" name="圆角矩形 20"/>
          <p:cNvSpPr/>
          <p:nvPr/>
        </p:nvSpPr>
        <p:spPr>
          <a:xfrm>
            <a:off x="6842125" y="1046480"/>
            <a:ext cx="4837430" cy="354965"/>
          </a:xfrm>
          <a:prstGeom prst="roundRect">
            <a:avLst>
              <a:gd name="adj" fmla="val 0"/>
            </a:avLst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2800">
                <a:solidFill>
                  <a:schemeClr val="tx1"/>
                </a:solidFill>
              </a:rPr>
              <a:t>广告位</a:t>
            </a:r>
            <a:r>
              <a:rPr lang="zh-CN" altLang="en-US" sz="2800">
                <a:solidFill>
                  <a:schemeClr val="tx1"/>
                </a:solidFill>
              </a:rPr>
              <a:t>名称</a:t>
            </a:r>
            <a:endParaRPr lang="zh-CN" altLang="en-US" sz="2800">
              <a:solidFill>
                <a:schemeClr val="tx1"/>
              </a:solidFill>
            </a:endParaRPr>
          </a:p>
        </p:txBody>
      </p:sp>
      <p:cxnSp>
        <p:nvCxnSpPr>
          <p:cNvPr id="6" name="直接箭头连接符 5"/>
          <p:cNvCxnSpPr/>
          <p:nvPr/>
        </p:nvCxnSpPr>
        <p:spPr>
          <a:xfrm flipV="1">
            <a:off x="10893425" y="999490"/>
            <a:ext cx="3056890" cy="200025"/>
          </a:xfrm>
          <a:prstGeom prst="straightConnector1">
            <a:avLst/>
          </a:prstGeom>
          <a:ln w="19050">
            <a:solidFill>
              <a:schemeClr val="accent6">
                <a:lumMod val="75000"/>
              </a:schemeClr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7" name="直接箭头连接符 6"/>
          <p:cNvCxnSpPr/>
          <p:nvPr/>
        </p:nvCxnSpPr>
        <p:spPr>
          <a:xfrm flipV="1">
            <a:off x="10036175" y="4658360"/>
            <a:ext cx="4436745" cy="327025"/>
          </a:xfrm>
          <a:prstGeom prst="straightConnector1">
            <a:avLst/>
          </a:prstGeom>
          <a:ln w="19050">
            <a:solidFill>
              <a:schemeClr val="accent6">
                <a:lumMod val="75000"/>
              </a:schemeClr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</p:spTree>
    <p:custDataLst>
      <p:tags r:id="rId3"/>
    </p:custData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68;p16"/>
          <p:cNvSpPr txBox="1"/>
          <p:nvPr/>
        </p:nvSpPr>
        <p:spPr>
          <a:xfrm>
            <a:off x="1056171" y="2451538"/>
            <a:ext cx="7683300" cy="1323439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rtlCol="0" anchor="t">
            <a:spAutoFit/>
          </a:bodyPr>
          <a:lstStyle>
            <a:defPPr>
              <a:defRPr lang="zh-CN"/>
            </a:defPPr>
            <a:lvl1pPr indent="0">
              <a:lnSpc>
                <a:spcPct val="100000"/>
              </a:lnSpc>
              <a:defRPr sz="4000" b="1" i="0" u="none" strike="noStrike">
                <a:solidFill>
                  <a:srgbClr val="FF8C00"/>
                </a:solidFill>
                <a:latin typeface="Montserrat"/>
                <a:ea typeface="Montserrat"/>
                <a:cs typeface="Montserrat"/>
              </a:defRPr>
            </a:lvl1pPr>
          </a:lstStyle>
          <a:p>
            <a:r>
              <a:rPr lang="en-US" dirty="0">
                <a:sym typeface="Proxima Nova"/>
              </a:rPr>
              <a:t>PART </a:t>
            </a:r>
            <a:r>
              <a:rPr lang="en-US" altLang="zh-CN" dirty="0">
                <a:sym typeface="Proxima Nova"/>
              </a:rPr>
              <a:t>2</a:t>
            </a:r>
            <a:r>
              <a:rPr lang="en-US" dirty="0">
                <a:sym typeface="Proxima Nova"/>
              </a:rPr>
              <a:t>:</a:t>
            </a:r>
            <a:endParaRPr lang="en-US" dirty="0">
              <a:sym typeface="Proxima Nova"/>
            </a:endParaRPr>
          </a:p>
          <a:p>
            <a:r>
              <a:rPr lang="en-US" altLang="zh-CN" dirty="0">
                <a:sym typeface="Proxima Nova"/>
              </a:rPr>
              <a:t>OPTIMAZTION</a:t>
            </a:r>
            <a:endParaRPr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421005" y="1807845"/>
            <a:ext cx="4490085" cy="50673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>
              <a:lnSpc>
                <a:spcPct val="150000"/>
              </a:lnSpc>
            </a:pPr>
            <a:r>
              <a:rPr lang="en-US" altLang="zh-CN"/>
              <a:t>Package</a:t>
            </a:r>
            <a:endParaRPr lang="en-US" altLang="zh-CN"/>
          </a:p>
        </p:txBody>
      </p:sp>
      <p:sp>
        <p:nvSpPr>
          <p:cNvPr id="9" name="文本框 8"/>
          <p:cNvSpPr txBox="1"/>
          <p:nvPr/>
        </p:nvSpPr>
        <p:spPr>
          <a:xfrm>
            <a:off x="421005" y="3021965"/>
            <a:ext cx="406400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文字内容按照</a:t>
            </a:r>
            <a:r>
              <a:rPr lang="en-US" altLang="zh-CN"/>
              <a:t>Q3</a:t>
            </a:r>
            <a:r>
              <a:rPr lang="zh-CN" altLang="en-US"/>
              <a:t>的进行填充，每个版块都需要支持修改，</a:t>
            </a:r>
            <a:r>
              <a:rPr lang="zh-CN" altLang="en-US"/>
              <a:t>拖动和</a:t>
            </a:r>
            <a:r>
              <a:rPr lang="zh-CN" altLang="en-US"/>
              <a:t>删除</a:t>
            </a:r>
            <a:endParaRPr lang="zh-CN" altLang="en-US"/>
          </a:p>
        </p:txBody>
      </p:sp>
      <p:sp>
        <p:nvSpPr>
          <p:cNvPr id="10" name="文本框 9"/>
          <p:cNvSpPr txBox="1"/>
          <p:nvPr/>
        </p:nvSpPr>
        <p:spPr>
          <a:xfrm>
            <a:off x="421005" y="2484120"/>
            <a:ext cx="262699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背景</a:t>
            </a:r>
            <a:r>
              <a:rPr lang="zh-CN" altLang="en-US"/>
              <a:t>支持自定义</a:t>
            </a:r>
            <a:endParaRPr lang="en-US" altLang="zh-CN"/>
          </a:p>
        </p:txBody>
      </p:sp>
      <p:grpSp>
        <p:nvGrpSpPr>
          <p:cNvPr id="5" name="组合 4"/>
          <p:cNvGrpSpPr/>
          <p:nvPr/>
        </p:nvGrpSpPr>
        <p:grpSpPr>
          <a:xfrm>
            <a:off x="5178425" y="1163320"/>
            <a:ext cx="7012940" cy="3968750"/>
            <a:chOff x="8155" y="1832"/>
            <a:chExt cx="11044" cy="6250"/>
          </a:xfrm>
        </p:grpSpPr>
        <p:pic>
          <p:nvPicPr>
            <p:cNvPr id="2" name="图片 1" descr="/Users/fengjiayi/Library/Containers/com.kingsoft.wpsoffice.mac/Data/tmp/picturecompress_20260625115136/output_1.pngoutput_1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8155" y="1832"/>
              <a:ext cx="11045" cy="6250"/>
            </a:xfrm>
            <a:prstGeom prst="rect">
              <a:avLst/>
            </a:prstGeom>
          </p:spPr>
        </p:pic>
        <p:sp>
          <p:nvSpPr>
            <p:cNvPr id="3" name="文本框 2"/>
            <p:cNvSpPr txBox="1"/>
            <p:nvPr/>
          </p:nvSpPr>
          <p:spPr>
            <a:xfrm>
              <a:off x="8155" y="1832"/>
              <a:ext cx="1646" cy="82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en-US" altLang="zh-CN" sz="2800">
                  <a:highlight>
                    <a:srgbClr val="FFFF00"/>
                  </a:highlight>
                </a:rPr>
                <a:t>ref</a:t>
              </a:r>
              <a:endParaRPr lang="en-US" altLang="zh-CN" sz="2800">
                <a:highlight>
                  <a:srgbClr val="FFFF00"/>
                </a:highlight>
              </a:endParaRPr>
            </a:p>
          </p:txBody>
        </p:sp>
      </p:grpSp>
    </p:spTree>
    <p:custDataLst>
      <p:tags r:id="rId2"/>
    </p:custData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圆角矩形 9"/>
          <p:cNvSpPr/>
          <p:nvPr/>
        </p:nvSpPr>
        <p:spPr>
          <a:xfrm>
            <a:off x="193040" y="702310"/>
            <a:ext cx="3856355" cy="5803265"/>
          </a:xfrm>
          <a:prstGeom prst="roundRect">
            <a:avLst>
              <a:gd name="adj" fmla="val 4735"/>
            </a:avLst>
          </a:prstGeom>
          <a:solidFill>
            <a:schemeClr val="bg2">
              <a:lumMod val="25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" name="文本框 3"/>
          <p:cNvSpPr txBox="1"/>
          <p:nvPr/>
        </p:nvSpPr>
        <p:spPr>
          <a:xfrm>
            <a:off x="293370" y="113030"/>
            <a:ext cx="4490085" cy="50673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>
              <a:lnSpc>
                <a:spcPct val="150000"/>
              </a:lnSpc>
            </a:pPr>
            <a:r>
              <a:rPr lang="en-US" altLang="zh-CN"/>
              <a:t>Proposed </a:t>
            </a:r>
            <a:r>
              <a:rPr lang="en-US" altLang="zh-CN"/>
              <a:t>Publishers’ List</a:t>
            </a:r>
            <a:endParaRPr lang="en-US" altLang="zh-CN"/>
          </a:p>
        </p:txBody>
      </p:sp>
      <p:sp>
        <p:nvSpPr>
          <p:cNvPr id="15" name="圆角矩形 14"/>
          <p:cNvSpPr/>
          <p:nvPr/>
        </p:nvSpPr>
        <p:spPr>
          <a:xfrm>
            <a:off x="293370" y="815340"/>
            <a:ext cx="3621405" cy="781050"/>
          </a:xfrm>
          <a:prstGeom prst="roundRect">
            <a:avLst>
              <a:gd name="adj" fmla="val 0"/>
            </a:avLst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2800">
                <a:solidFill>
                  <a:schemeClr val="tx1"/>
                </a:solidFill>
              </a:rPr>
              <a:t>Platform</a:t>
            </a:r>
            <a:r>
              <a:rPr lang="zh-CN" altLang="en-US" sz="2800">
                <a:solidFill>
                  <a:schemeClr val="tx1"/>
                </a:solidFill>
              </a:rPr>
              <a:t>（带</a:t>
            </a:r>
            <a:r>
              <a:rPr lang="en-US" altLang="zh-CN" sz="2800">
                <a:solidFill>
                  <a:schemeClr val="tx1"/>
                </a:solidFill>
              </a:rPr>
              <a:t>logo</a:t>
            </a:r>
            <a:r>
              <a:rPr lang="zh-CN" altLang="en-US" sz="2800">
                <a:solidFill>
                  <a:schemeClr val="tx1"/>
                </a:solidFill>
              </a:rPr>
              <a:t>）</a:t>
            </a:r>
            <a:endParaRPr lang="zh-CN" altLang="en-US" sz="2800">
              <a:solidFill>
                <a:schemeClr val="tx1"/>
              </a:solidFill>
            </a:endParaRPr>
          </a:p>
        </p:txBody>
      </p:sp>
      <p:sp>
        <p:nvSpPr>
          <p:cNvPr id="5" name="圆角矩形 4"/>
          <p:cNvSpPr/>
          <p:nvPr/>
        </p:nvSpPr>
        <p:spPr>
          <a:xfrm>
            <a:off x="293370" y="1731645"/>
            <a:ext cx="3621405" cy="1059180"/>
          </a:xfrm>
          <a:prstGeom prst="roundRect">
            <a:avLst>
              <a:gd name="adj" fmla="val 0"/>
            </a:avLst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2000">
                <a:solidFill>
                  <a:schemeClr val="tx1"/>
                </a:solidFill>
              </a:rPr>
              <a:t>头像</a:t>
            </a:r>
            <a:r>
              <a:rPr lang="en-US" altLang="zh-CN" sz="2000">
                <a:solidFill>
                  <a:schemeClr val="tx1"/>
                </a:solidFill>
              </a:rPr>
              <a:t>+</a:t>
            </a:r>
            <a:r>
              <a:rPr lang="zh-CN" altLang="en-US" sz="2000">
                <a:solidFill>
                  <a:schemeClr val="tx1"/>
                </a:solidFill>
              </a:rPr>
              <a:t>粉丝数</a:t>
            </a:r>
            <a:r>
              <a:rPr lang="en-US" altLang="zh-CN" sz="2000">
                <a:solidFill>
                  <a:schemeClr val="tx1"/>
                </a:solidFill>
              </a:rPr>
              <a:t>+</a:t>
            </a:r>
            <a:r>
              <a:rPr lang="zh-CN" altLang="en-US" sz="2000">
                <a:solidFill>
                  <a:schemeClr val="tx1"/>
                </a:solidFill>
              </a:rPr>
              <a:t>类型</a:t>
            </a:r>
            <a:r>
              <a:rPr lang="en-US" altLang="zh-CN" sz="2000">
                <a:solidFill>
                  <a:schemeClr val="tx1"/>
                </a:solidFill>
              </a:rPr>
              <a:t>+</a:t>
            </a:r>
            <a:r>
              <a:rPr lang="zh-CN" altLang="en-US" sz="2000">
                <a:solidFill>
                  <a:schemeClr val="tx1"/>
                </a:solidFill>
              </a:rPr>
              <a:t>推荐理由</a:t>
            </a:r>
            <a:r>
              <a:rPr lang="en-US" altLang="zh-CN" sz="2000">
                <a:solidFill>
                  <a:schemeClr val="tx1"/>
                </a:solidFill>
              </a:rPr>
              <a:t>+</a:t>
            </a:r>
            <a:r>
              <a:rPr lang="zh-CN" altLang="en-US" sz="2000">
                <a:solidFill>
                  <a:schemeClr val="tx1"/>
                </a:solidFill>
              </a:rPr>
              <a:t>达人</a:t>
            </a:r>
            <a:r>
              <a:rPr lang="en-US" altLang="zh-CN" sz="2000">
                <a:solidFill>
                  <a:schemeClr val="tx1"/>
                </a:solidFill>
              </a:rPr>
              <a:t>Link</a:t>
            </a:r>
            <a:endParaRPr lang="en-US" altLang="zh-CN" sz="2000">
              <a:solidFill>
                <a:schemeClr val="tx1"/>
              </a:solidFill>
            </a:endParaRPr>
          </a:p>
        </p:txBody>
      </p:sp>
      <p:sp>
        <p:nvSpPr>
          <p:cNvPr id="7" name="圆角矩形 6"/>
          <p:cNvSpPr/>
          <p:nvPr/>
        </p:nvSpPr>
        <p:spPr>
          <a:xfrm>
            <a:off x="293370" y="2926080"/>
            <a:ext cx="3621405" cy="1059180"/>
          </a:xfrm>
          <a:prstGeom prst="roundRect">
            <a:avLst>
              <a:gd name="adj" fmla="val 0"/>
            </a:avLst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2000">
                <a:solidFill>
                  <a:schemeClr val="tx1"/>
                </a:solidFill>
              </a:rPr>
              <a:t>头像</a:t>
            </a:r>
            <a:r>
              <a:rPr lang="en-US" altLang="zh-CN" sz="2000">
                <a:solidFill>
                  <a:schemeClr val="tx1"/>
                </a:solidFill>
              </a:rPr>
              <a:t>+</a:t>
            </a:r>
            <a:r>
              <a:rPr lang="zh-CN" altLang="en-US" sz="2000">
                <a:solidFill>
                  <a:schemeClr val="tx1"/>
                </a:solidFill>
              </a:rPr>
              <a:t>粉丝数</a:t>
            </a:r>
            <a:r>
              <a:rPr lang="en-US" altLang="zh-CN" sz="2000">
                <a:solidFill>
                  <a:schemeClr val="tx1"/>
                </a:solidFill>
              </a:rPr>
              <a:t>+</a:t>
            </a:r>
            <a:r>
              <a:rPr lang="zh-CN" altLang="en-US" sz="2000">
                <a:solidFill>
                  <a:schemeClr val="tx1"/>
                </a:solidFill>
              </a:rPr>
              <a:t>类型</a:t>
            </a:r>
            <a:r>
              <a:rPr lang="en-US" altLang="zh-CN" sz="2000">
                <a:solidFill>
                  <a:schemeClr val="tx1"/>
                </a:solidFill>
              </a:rPr>
              <a:t>+</a:t>
            </a:r>
            <a:r>
              <a:rPr lang="zh-CN" altLang="en-US" sz="2000">
                <a:solidFill>
                  <a:schemeClr val="tx1"/>
                </a:solidFill>
              </a:rPr>
              <a:t>推荐理由</a:t>
            </a:r>
            <a:r>
              <a:rPr lang="en-US" altLang="zh-CN" sz="2000">
                <a:solidFill>
                  <a:schemeClr val="tx1"/>
                </a:solidFill>
              </a:rPr>
              <a:t>+</a:t>
            </a:r>
            <a:r>
              <a:rPr lang="zh-CN" altLang="en-US" sz="2000">
                <a:solidFill>
                  <a:schemeClr val="tx1"/>
                </a:solidFill>
              </a:rPr>
              <a:t>达人</a:t>
            </a:r>
            <a:r>
              <a:rPr lang="en-US" altLang="zh-CN" sz="2000">
                <a:solidFill>
                  <a:schemeClr val="tx1"/>
                </a:solidFill>
              </a:rPr>
              <a:t>Link</a:t>
            </a:r>
            <a:endParaRPr lang="en-US" altLang="zh-CN" sz="2000">
              <a:solidFill>
                <a:schemeClr val="tx1"/>
              </a:solidFill>
            </a:endParaRPr>
          </a:p>
        </p:txBody>
      </p:sp>
      <p:sp>
        <p:nvSpPr>
          <p:cNvPr id="8" name="圆角矩形 7"/>
          <p:cNvSpPr/>
          <p:nvPr/>
        </p:nvSpPr>
        <p:spPr>
          <a:xfrm>
            <a:off x="293370" y="4120515"/>
            <a:ext cx="3621405" cy="1059180"/>
          </a:xfrm>
          <a:prstGeom prst="roundRect">
            <a:avLst>
              <a:gd name="adj" fmla="val 0"/>
            </a:avLst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2000">
                <a:solidFill>
                  <a:schemeClr val="tx1"/>
                </a:solidFill>
              </a:rPr>
              <a:t>头像</a:t>
            </a:r>
            <a:r>
              <a:rPr lang="en-US" altLang="zh-CN" sz="2000">
                <a:solidFill>
                  <a:schemeClr val="tx1"/>
                </a:solidFill>
              </a:rPr>
              <a:t>+</a:t>
            </a:r>
            <a:r>
              <a:rPr lang="zh-CN" altLang="en-US" sz="2000">
                <a:solidFill>
                  <a:schemeClr val="tx1"/>
                </a:solidFill>
              </a:rPr>
              <a:t>粉丝数</a:t>
            </a:r>
            <a:r>
              <a:rPr lang="en-US" altLang="zh-CN" sz="2000">
                <a:solidFill>
                  <a:schemeClr val="tx1"/>
                </a:solidFill>
              </a:rPr>
              <a:t>+</a:t>
            </a:r>
            <a:r>
              <a:rPr lang="zh-CN" altLang="en-US" sz="2000">
                <a:solidFill>
                  <a:schemeClr val="tx1"/>
                </a:solidFill>
              </a:rPr>
              <a:t>类型</a:t>
            </a:r>
            <a:r>
              <a:rPr lang="en-US" altLang="zh-CN" sz="2000">
                <a:solidFill>
                  <a:schemeClr val="tx1"/>
                </a:solidFill>
              </a:rPr>
              <a:t>+</a:t>
            </a:r>
            <a:r>
              <a:rPr lang="zh-CN" altLang="en-US" sz="2000">
                <a:solidFill>
                  <a:schemeClr val="tx1"/>
                </a:solidFill>
              </a:rPr>
              <a:t>推荐理由</a:t>
            </a:r>
            <a:r>
              <a:rPr lang="en-US" altLang="zh-CN" sz="2000">
                <a:solidFill>
                  <a:schemeClr val="tx1"/>
                </a:solidFill>
              </a:rPr>
              <a:t>+</a:t>
            </a:r>
            <a:r>
              <a:rPr lang="zh-CN" altLang="en-US" sz="2000">
                <a:solidFill>
                  <a:schemeClr val="tx1"/>
                </a:solidFill>
              </a:rPr>
              <a:t>达人</a:t>
            </a:r>
            <a:r>
              <a:rPr lang="en-US" altLang="zh-CN" sz="2000">
                <a:solidFill>
                  <a:schemeClr val="tx1"/>
                </a:solidFill>
              </a:rPr>
              <a:t>Link</a:t>
            </a:r>
            <a:endParaRPr lang="en-US" altLang="zh-CN" sz="2000">
              <a:solidFill>
                <a:schemeClr val="tx1"/>
              </a:solidFill>
            </a:endParaRPr>
          </a:p>
        </p:txBody>
      </p:sp>
      <p:sp>
        <p:nvSpPr>
          <p:cNvPr id="9" name="圆角矩形 8"/>
          <p:cNvSpPr/>
          <p:nvPr/>
        </p:nvSpPr>
        <p:spPr>
          <a:xfrm>
            <a:off x="293370" y="5314950"/>
            <a:ext cx="3621405" cy="1059180"/>
          </a:xfrm>
          <a:prstGeom prst="roundRect">
            <a:avLst>
              <a:gd name="adj" fmla="val 0"/>
            </a:avLst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2000">
                <a:solidFill>
                  <a:schemeClr val="tx1"/>
                </a:solidFill>
              </a:rPr>
              <a:t>头像</a:t>
            </a:r>
            <a:r>
              <a:rPr lang="en-US" altLang="zh-CN" sz="2000">
                <a:solidFill>
                  <a:schemeClr val="tx1"/>
                </a:solidFill>
              </a:rPr>
              <a:t>+</a:t>
            </a:r>
            <a:r>
              <a:rPr lang="zh-CN" altLang="en-US" sz="2000">
                <a:solidFill>
                  <a:schemeClr val="tx1"/>
                </a:solidFill>
              </a:rPr>
              <a:t>粉丝数</a:t>
            </a:r>
            <a:r>
              <a:rPr lang="en-US" altLang="zh-CN" sz="2000">
                <a:solidFill>
                  <a:schemeClr val="tx1"/>
                </a:solidFill>
              </a:rPr>
              <a:t>+</a:t>
            </a:r>
            <a:r>
              <a:rPr lang="zh-CN" altLang="en-US" sz="2000">
                <a:solidFill>
                  <a:schemeClr val="tx1"/>
                </a:solidFill>
              </a:rPr>
              <a:t>类型</a:t>
            </a:r>
            <a:r>
              <a:rPr lang="en-US" altLang="zh-CN" sz="2000">
                <a:solidFill>
                  <a:schemeClr val="tx1"/>
                </a:solidFill>
              </a:rPr>
              <a:t>+</a:t>
            </a:r>
            <a:r>
              <a:rPr lang="zh-CN" altLang="en-US" sz="2000">
                <a:solidFill>
                  <a:schemeClr val="tx1"/>
                </a:solidFill>
              </a:rPr>
              <a:t>推荐理由</a:t>
            </a:r>
            <a:r>
              <a:rPr lang="en-US" altLang="zh-CN" sz="2000">
                <a:solidFill>
                  <a:schemeClr val="tx1"/>
                </a:solidFill>
              </a:rPr>
              <a:t>+</a:t>
            </a:r>
            <a:r>
              <a:rPr lang="zh-CN" altLang="en-US" sz="2000">
                <a:solidFill>
                  <a:schemeClr val="tx1"/>
                </a:solidFill>
              </a:rPr>
              <a:t>达人</a:t>
            </a:r>
            <a:r>
              <a:rPr lang="en-US" altLang="zh-CN" sz="2000">
                <a:solidFill>
                  <a:schemeClr val="tx1"/>
                </a:solidFill>
              </a:rPr>
              <a:t>Link</a:t>
            </a:r>
            <a:endParaRPr lang="en-US" altLang="zh-CN" sz="2000">
              <a:solidFill>
                <a:schemeClr val="tx1"/>
              </a:solidFill>
            </a:endParaRPr>
          </a:p>
        </p:txBody>
      </p:sp>
      <p:grpSp>
        <p:nvGrpSpPr>
          <p:cNvPr id="12" name="组合 11"/>
          <p:cNvGrpSpPr/>
          <p:nvPr/>
        </p:nvGrpSpPr>
        <p:grpSpPr>
          <a:xfrm>
            <a:off x="4638675" y="5030470"/>
            <a:ext cx="3943985" cy="1179830"/>
            <a:chOff x="7299" y="7577"/>
            <a:chExt cx="6211" cy="1858"/>
          </a:xfrm>
        </p:grpSpPr>
        <p:sp>
          <p:nvSpPr>
            <p:cNvPr id="114" name="圆角矩形 113"/>
            <p:cNvSpPr/>
            <p:nvPr/>
          </p:nvSpPr>
          <p:spPr>
            <a:xfrm>
              <a:off x="7299" y="7577"/>
              <a:ext cx="5400" cy="1859"/>
            </a:xfrm>
            <a:prstGeom prst="roundRect">
              <a:avLst/>
            </a:prstGeom>
            <a:noFill/>
            <a:ln>
              <a:solidFill>
                <a:schemeClr val="bg2">
                  <a:lumMod val="90000"/>
                </a:schemeClr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4F4F4"/>
                  </a:solidFill>
                </a14:hiddenFill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16" name="文本框 115"/>
            <p:cNvSpPr txBox="1"/>
            <p:nvPr/>
          </p:nvSpPr>
          <p:spPr>
            <a:xfrm>
              <a:off x="8948" y="7625"/>
              <a:ext cx="4562" cy="43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en-US" altLang="zh-CN" sz="1200" b="1">
                  <a:latin typeface="Arial Regular" panose="020B0604020202090204" charset="0"/>
                  <a:cs typeface="Arial Regular" panose="020B0604020202090204" charset="0"/>
                </a:rPr>
                <a:t>@ </a:t>
              </a:r>
              <a:r>
                <a:rPr lang="zh-CN" altLang="en-US" sz="1200" b="1">
                  <a:latin typeface="Arial Regular" panose="020B0604020202090204" charset="0"/>
                  <a:cs typeface="Arial Regular" panose="020B0604020202090204" charset="0"/>
                </a:rPr>
                <a:t>吴伊屁屁</a:t>
              </a:r>
              <a:r>
                <a:rPr lang="en-US" altLang="zh-CN" sz="1200" b="1">
                  <a:latin typeface="Arial Regular" panose="020B0604020202090204" charset="0"/>
                  <a:cs typeface="Arial Regular" panose="020B0604020202090204" charset="0"/>
                </a:rPr>
                <a:t> (</a:t>
              </a:r>
              <a:r>
                <a:rPr lang="en-US" altLang="zh-CN" sz="1200" b="1">
                  <a:latin typeface="Arial Regular" panose="020B0604020202090204" charset="0"/>
                  <a:cs typeface="Arial Regular" panose="020B0604020202090204" charset="0"/>
                </a:rPr>
                <a:t>Wuyipipi)</a:t>
              </a:r>
              <a:endParaRPr lang="en-US" altLang="zh-CN" sz="1200" b="1">
                <a:latin typeface="Arial Regular" panose="020B0604020202090204" charset="0"/>
                <a:cs typeface="Arial Regular" panose="020B0604020202090204" charset="0"/>
              </a:endParaRPr>
            </a:p>
          </p:txBody>
        </p:sp>
        <p:sp>
          <p:nvSpPr>
            <p:cNvPr id="117" name="文本框 116"/>
            <p:cNvSpPr txBox="1"/>
            <p:nvPr/>
          </p:nvSpPr>
          <p:spPr>
            <a:xfrm>
              <a:off x="8948" y="8051"/>
              <a:ext cx="4562" cy="43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en-US" altLang="zh-CN" sz="1200" b="1">
                  <a:latin typeface="Arial Regular" panose="020B0604020202090204" charset="0"/>
                  <a:cs typeface="Arial Regular" panose="020B0604020202090204" charset="0"/>
                </a:rPr>
                <a:t>78K+ Followers | </a:t>
              </a:r>
              <a:r>
                <a:rPr lang="en-US" altLang="zh-CN" sz="1200" b="1">
                  <a:latin typeface="Arial Regular" panose="020B0604020202090204" charset="0"/>
                  <a:cs typeface="Arial Regular" panose="020B0604020202090204" charset="0"/>
                </a:rPr>
                <a:t>Lifestyle</a:t>
              </a:r>
              <a:endParaRPr lang="en-US" altLang="zh-CN" sz="1200" b="1">
                <a:latin typeface="Arial Regular" panose="020B0604020202090204" charset="0"/>
                <a:cs typeface="Arial Regular" panose="020B0604020202090204" charset="0"/>
              </a:endParaRPr>
            </a:p>
          </p:txBody>
        </p:sp>
        <p:sp>
          <p:nvSpPr>
            <p:cNvPr id="118" name="文本框 117"/>
            <p:cNvSpPr txBox="1"/>
            <p:nvPr/>
          </p:nvSpPr>
          <p:spPr>
            <a:xfrm>
              <a:off x="8948" y="8477"/>
              <a:ext cx="3903" cy="580"/>
            </a:xfrm>
            <a:prstGeom prst="rect">
              <a:avLst/>
            </a:prstGeom>
          </p:spPr>
          <p:txBody>
            <a:bodyPr wrap="square">
              <a:spAutoFit/>
            </a:bodyPr>
            <a:p>
              <a:pPr marL="0" indent="0">
                <a:lnSpc>
                  <a:spcPct val="100000"/>
                </a:lnSpc>
                <a:spcBef>
                  <a:spcPts val="1600"/>
                </a:spcBef>
                <a:spcAft>
                  <a:spcPct val="0"/>
                </a:spcAft>
              </a:pPr>
              <a:r>
                <a:rPr lang="en-US" altLang="zh-CN" sz="900" b="0" i="0">
                  <a:solidFill>
                    <a:srgbClr val="0F1115"/>
                  </a:solidFill>
                  <a:latin typeface="Arial Regular" panose="020B0604020202090204" charset="0"/>
                  <a:ea typeface="quote-cjk-patch"/>
                  <a:cs typeface="Arial Regular" panose="020B0604020202090204" charset="0"/>
                </a:rPr>
                <a:t>A distinctive style within a highly focused niche, delivering strong conversion results.</a:t>
              </a:r>
              <a:endParaRPr lang="en-US" altLang="zh-CN" sz="900" b="0" i="0">
                <a:solidFill>
                  <a:srgbClr val="0F1115"/>
                </a:solidFill>
                <a:latin typeface="Arial Regular" panose="020B0604020202090204" charset="0"/>
                <a:ea typeface="quote-cjk-patch"/>
                <a:cs typeface="Arial Regular" panose="020B0604020202090204" charset="0"/>
              </a:endParaRPr>
            </a:p>
          </p:txBody>
        </p:sp>
        <p:pic>
          <p:nvPicPr>
            <p:cNvPr id="137" name="图片 136" descr="截屏2026-05-01 01.20.05"/>
            <p:cNvPicPr>
              <a:picLocks noChangeAspect="1"/>
            </p:cNvPicPr>
            <p:nvPr/>
          </p:nvPicPr>
          <p:blipFill>
            <a:blip r:embed="rId1"/>
            <a:srcRect t="3698" r="4308" b="16563"/>
            <a:stretch>
              <a:fillRect/>
            </a:stretch>
          </p:blipFill>
          <p:spPr>
            <a:xfrm>
              <a:off x="7533" y="7874"/>
              <a:ext cx="1289" cy="1297"/>
            </a:xfrm>
            <a:prstGeom prst="ellipse">
              <a:avLst/>
            </a:prstGeom>
          </p:spPr>
        </p:pic>
        <p:sp>
          <p:nvSpPr>
            <p:cNvPr id="11" name="文本框 10"/>
            <p:cNvSpPr txBox="1"/>
            <p:nvPr/>
          </p:nvSpPr>
          <p:spPr>
            <a:xfrm>
              <a:off x="8948" y="9000"/>
              <a:ext cx="3752" cy="295"/>
            </a:xfrm>
            <a:prstGeom prst="rect">
              <a:avLst/>
            </a:prstGeom>
            <a:noFill/>
          </p:spPr>
          <p:txBody>
            <a:bodyPr wrap="square" rtlCol="0" anchor="t">
              <a:noAutofit/>
            </a:bodyPr>
            <a:p>
              <a:r>
                <a:rPr lang="zh-CN" altLang="en-US" sz="900"/>
                <a:t>🔗</a:t>
              </a:r>
              <a:r>
                <a:rPr lang="en-US" altLang="zh-CN" sz="900"/>
                <a:t> https://platform.duomai.com/</a:t>
              </a:r>
              <a:endParaRPr lang="en-US" altLang="zh-CN" sz="900"/>
            </a:p>
          </p:txBody>
        </p:sp>
      </p:grpSp>
      <p:grpSp>
        <p:nvGrpSpPr>
          <p:cNvPr id="14" name="组合 13"/>
          <p:cNvGrpSpPr/>
          <p:nvPr/>
        </p:nvGrpSpPr>
        <p:grpSpPr>
          <a:xfrm>
            <a:off x="4562475" y="259080"/>
            <a:ext cx="7037070" cy="4372610"/>
            <a:chOff x="7179" y="27"/>
            <a:chExt cx="11082" cy="6886"/>
          </a:xfrm>
        </p:grpSpPr>
        <p:pic>
          <p:nvPicPr>
            <p:cNvPr id="3" name="图片 2" descr="截屏2026-06-25 11.55.05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7299" y="425"/>
              <a:ext cx="10962" cy="6488"/>
            </a:xfrm>
            <a:prstGeom prst="rect">
              <a:avLst/>
            </a:prstGeom>
          </p:spPr>
        </p:pic>
        <p:sp>
          <p:nvSpPr>
            <p:cNvPr id="13" name="文本框 12"/>
            <p:cNvSpPr txBox="1"/>
            <p:nvPr/>
          </p:nvSpPr>
          <p:spPr>
            <a:xfrm>
              <a:off x="7179" y="27"/>
              <a:ext cx="1646" cy="62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en-US" altLang="zh-CN" sz="2000">
                  <a:highlight>
                    <a:srgbClr val="FFFF00"/>
                  </a:highlight>
                </a:rPr>
                <a:t>ref</a:t>
              </a:r>
              <a:endParaRPr lang="en-US" altLang="zh-CN" sz="2000">
                <a:highlight>
                  <a:srgbClr val="FFFF00"/>
                </a:highlight>
              </a:endParaRPr>
            </a:p>
          </p:txBody>
        </p:sp>
      </p:grpSp>
      <p:sp>
        <p:nvSpPr>
          <p:cNvPr id="16" name="文本框 15"/>
          <p:cNvSpPr txBox="1"/>
          <p:nvPr/>
        </p:nvSpPr>
        <p:spPr>
          <a:xfrm>
            <a:off x="4636770" y="4850765"/>
            <a:ext cx="104521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highlight>
                  <a:srgbClr val="FFFF00"/>
                </a:highlight>
              </a:rPr>
              <a:t>demo</a:t>
            </a:r>
            <a:endParaRPr lang="en-US" altLang="zh-CN">
              <a:highlight>
                <a:srgbClr val="FFFF00"/>
              </a:highlight>
            </a:endParaRPr>
          </a:p>
        </p:txBody>
      </p:sp>
    </p:spTree>
    <p:custDataLst>
      <p:tags r:id="rId3"/>
    </p:custData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圆角矩形 1"/>
          <p:cNvSpPr/>
          <p:nvPr/>
        </p:nvSpPr>
        <p:spPr>
          <a:xfrm>
            <a:off x="327660" y="762635"/>
            <a:ext cx="3879215" cy="5300980"/>
          </a:xfrm>
          <a:prstGeom prst="roundRect">
            <a:avLst>
              <a:gd name="adj" fmla="val 0"/>
            </a:avLst>
          </a:prstGeom>
          <a:solidFill>
            <a:schemeClr val="bg2">
              <a:lumMod val="75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/>
              <a:t>达人照片</a:t>
            </a:r>
            <a:endParaRPr lang="zh-CN" altLang="en-US"/>
          </a:p>
        </p:txBody>
      </p:sp>
      <p:pic>
        <p:nvPicPr>
          <p:cNvPr id="6" name="图片 5" descr="Group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622703" y="177165"/>
            <a:ext cx="1288203" cy="253153"/>
          </a:xfrm>
          <a:prstGeom prst="rect">
            <a:avLst/>
          </a:prstGeom>
        </p:spPr>
      </p:pic>
      <p:sp>
        <p:nvSpPr>
          <p:cNvPr id="17" name="圆角矩形 16"/>
          <p:cNvSpPr/>
          <p:nvPr/>
        </p:nvSpPr>
        <p:spPr>
          <a:xfrm>
            <a:off x="2077720" y="430530"/>
            <a:ext cx="4748530" cy="1296670"/>
          </a:xfrm>
          <a:prstGeom prst="roundRect">
            <a:avLst>
              <a:gd name="adj" fmla="val 0"/>
            </a:avLst>
          </a:prstGeom>
          <a:solidFill>
            <a:schemeClr val="bg2">
              <a:lumMod val="90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8800"/>
              <a:t>ID</a:t>
            </a:r>
            <a:endParaRPr lang="en-US" altLang="zh-CN" sz="8800"/>
          </a:p>
        </p:txBody>
      </p:sp>
      <p:sp>
        <p:nvSpPr>
          <p:cNvPr id="18" name="圆角矩形 17"/>
          <p:cNvSpPr/>
          <p:nvPr/>
        </p:nvSpPr>
        <p:spPr>
          <a:xfrm>
            <a:off x="6946900" y="864870"/>
            <a:ext cx="916305" cy="862330"/>
          </a:xfrm>
          <a:prstGeom prst="roundRect">
            <a:avLst/>
          </a:prstGeom>
          <a:solidFill>
            <a:schemeClr val="bg2">
              <a:lumMod val="75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/>
              <a:t>平台的</a:t>
            </a:r>
            <a:r>
              <a:rPr lang="en-US" altLang="zh-CN"/>
              <a:t>Log</a:t>
            </a:r>
            <a:r>
              <a:rPr lang="en-US" altLang="zh-CN"/>
              <a:t>o</a:t>
            </a:r>
            <a:endParaRPr lang="en-US" altLang="zh-CN"/>
          </a:p>
        </p:txBody>
      </p:sp>
      <p:sp>
        <p:nvSpPr>
          <p:cNvPr id="19" name="圆角矩形 18"/>
          <p:cNvSpPr/>
          <p:nvPr/>
        </p:nvSpPr>
        <p:spPr>
          <a:xfrm>
            <a:off x="6932295" y="1982470"/>
            <a:ext cx="2497455" cy="558800"/>
          </a:xfrm>
          <a:prstGeom prst="roundRect">
            <a:avLst/>
          </a:prstGeom>
          <a:solidFill>
            <a:schemeClr val="bg2">
              <a:lumMod val="75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Type</a:t>
            </a:r>
            <a:endParaRPr lang="en-US" altLang="zh-CN"/>
          </a:p>
        </p:txBody>
      </p:sp>
      <p:pic>
        <p:nvPicPr>
          <p:cNvPr id="20" name="图片 19" descr="单个达人复盘模版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-4274185" y="614045"/>
            <a:ext cx="4086860" cy="5826760"/>
          </a:xfrm>
          <a:prstGeom prst="rect">
            <a:avLst/>
          </a:prstGeom>
        </p:spPr>
      </p:pic>
      <p:sp>
        <p:nvSpPr>
          <p:cNvPr id="21" name="圆角矩形 20"/>
          <p:cNvSpPr/>
          <p:nvPr/>
        </p:nvSpPr>
        <p:spPr>
          <a:xfrm>
            <a:off x="3851910" y="2731135"/>
            <a:ext cx="8340090" cy="1592580"/>
          </a:xfrm>
          <a:prstGeom prst="roundRect">
            <a:avLst>
              <a:gd name="adj" fmla="val 0"/>
            </a:avLst>
          </a:prstGeom>
          <a:solidFill>
            <a:schemeClr val="bg2">
              <a:lumMod val="90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 altLang="zh-CN" sz="8800"/>
          </a:p>
        </p:txBody>
      </p:sp>
      <p:sp>
        <p:nvSpPr>
          <p:cNvPr id="22" name="圆角矩形 21"/>
          <p:cNvSpPr/>
          <p:nvPr/>
        </p:nvSpPr>
        <p:spPr>
          <a:xfrm>
            <a:off x="4328160" y="1982470"/>
            <a:ext cx="2497455" cy="558800"/>
          </a:xfrm>
          <a:prstGeom prst="roundRect">
            <a:avLst/>
          </a:prstGeom>
          <a:solidFill>
            <a:schemeClr val="bg2">
              <a:lumMod val="75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Base</a:t>
            </a:r>
            <a:endParaRPr lang="en-US" altLang="zh-CN"/>
          </a:p>
        </p:txBody>
      </p:sp>
      <p:sp>
        <p:nvSpPr>
          <p:cNvPr id="23" name="圆角矩形 22"/>
          <p:cNvSpPr/>
          <p:nvPr/>
        </p:nvSpPr>
        <p:spPr>
          <a:xfrm>
            <a:off x="9565640" y="1982470"/>
            <a:ext cx="2497455" cy="558800"/>
          </a:xfrm>
          <a:prstGeom prst="roundRect">
            <a:avLst/>
          </a:prstGeom>
          <a:solidFill>
            <a:schemeClr val="bg2">
              <a:lumMod val="75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Tier</a:t>
            </a:r>
            <a:r>
              <a:rPr lang="zh-CN" altLang="en-US"/>
              <a:t>（可选</a:t>
            </a:r>
            <a:r>
              <a:rPr lang="zh-CN" altLang="en-US"/>
              <a:t>填）</a:t>
            </a:r>
            <a:endParaRPr lang="zh-CN" altLang="en-US"/>
          </a:p>
        </p:txBody>
      </p:sp>
      <p:sp>
        <p:nvSpPr>
          <p:cNvPr id="24" name="圆角矩形 23"/>
          <p:cNvSpPr/>
          <p:nvPr/>
        </p:nvSpPr>
        <p:spPr>
          <a:xfrm>
            <a:off x="4328795" y="2866708"/>
            <a:ext cx="1767840" cy="1339215"/>
          </a:xfrm>
          <a:prstGeom prst="roundRect">
            <a:avLst/>
          </a:prstGeom>
          <a:solidFill>
            <a:schemeClr val="bg2">
              <a:lumMod val="75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Follow</a:t>
            </a:r>
            <a:r>
              <a:rPr lang="en-US" altLang="zh-CN"/>
              <a:t>ers</a:t>
            </a:r>
            <a:endParaRPr lang="en-US" altLang="zh-CN"/>
          </a:p>
        </p:txBody>
      </p:sp>
      <p:sp>
        <p:nvSpPr>
          <p:cNvPr id="25" name="圆角矩形 24"/>
          <p:cNvSpPr/>
          <p:nvPr/>
        </p:nvSpPr>
        <p:spPr>
          <a:xfrm>
            <a:off x="6315075" y="2866708"/>
            <a:ext cx="1767840" cy="1339215"/>
          </a:xfrm>
          <a:prstGeom prst="roundRect">
            <a:avLst/>
          </a:prstGeom>
          <a:solidFill>
            <a:schemeClr val="bg2">
              <a:lumMod val="75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Engagement Rate</a:t>
            </a:r>
            <a:endParaRPr lang="en-US" altLang="zh-CN"/>
          </a:p>
        </p:txBody>
      </p:sp>
      <p:sp>
        <p:nvSpPr>
          <p:cNvPr id="28" name="圆角矩形 27"/>
          <p:cNvSpPr/>
          <p:nvPr/>
        </p:nvSpPr>
        <p:spPr>
          <a:xfrm>
            <a:off x="8301355" y="2866708"/>
            <a:ext cx="1767840" cy="1339215"/>
          </a:xfrm>
          <a:prstGeom prst="roundRect">
            <a:avLst/>
          </a:prstGeom>
          <a:solidFill>
            <a:schemeClr val="bg2">
              <a:lumMod val="75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Impression</a:t>
            </a:r>
            <a:endParaRPr lang="en-US" altLang="zh-CN"/>
          </a:p>
        </p:txBody>
      </p:sp>
      <p:sp>
        <p:nvSpPr>
          <p:cNvPr id="33" name="圆角矩形 32"/>
          <p:cNvSpPr/>
          <p:nvPr/>
        </p:nvSpPr>
        <p:spPr>
          <a:xfrm>
            <a:off x="4328795" y="4549775"/>
            <a:ext cx="3764915" cy="2060575"/>
          </a:xfrm>
          <a:prstGeom prst="roundRect">
            <a:avLst/>
          </a:prstGeom>
          <a:solidFill>
            <a:schemeClr val="bg2">
              <a:lumMod val="75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>
              <a:lnSpc>
                <a:spcPct val="100000"/>
              </a:lnSpc>
            </a:pPr>
            <a:r>
              <a:rPr lang="en-US" altLang="zh-CN" b="1" dirty="0">
                <a:solidFill>
                  <a:schemeClr val="bg1"/>
                </a:solidFill>
                <a:effectLst/>
                <a:latin typeface="Arial Bold" panose="020B0604020202090204" charset="0"/>
                <a:ea typeface="+mj-ea"/>
                <a:cs typeface="Arial Bold" panose="020B0604020202090204" charset="0"/>
                <a:sym typeface="+mn-ea"/>
              </a:rPr>
              <a:t>Audience Demographics</a:t>
            </a:r>
            <a:endParaRPr lang="en-US" altLang="zh-CN" b="1" dirty="0">
              <a:solidFill>
                <a:schemeClr val="bg1"/>
              </a:solidFill>
              <a:effectLst/>
              <a:latin typeface="Arial Bold" panose="020B0604020202090204" charset="0"/>
              <a:ea typeface="+mj-ea"/>
              <a:cs typeface="Arial Bold" panose="020B0604020202090204" charset="0"/>
              <a:sym typeface="+mn-ea"/>
            </a:endParaRPr>
          </a:p>
        </p:txBody>
      </p:sp>
      <p:sp>
        <p:nvSpPr>
          <p:cNvPr id="36" name="圆角矩形 35"/>
          <p:cNvSpPr/>
          <p:nvPr/>
        </p:nvSpPr>
        <p:spPr>
          <a:xfrm>
            <a:off x="8286750" y="4513580"/>
            <a:ext cx="3764280" cy="2060575"/>
          </a:xfrm>
          <a:prstGeom prst="roundRect">
            <a:avLst/>
          </a:prstGeom>
          <a:solidFill>
            <a:schemeClr val="bg2">
              <a:lumMod val="75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/>
              <a:t>自定义文字</a:t>
            </a:r>
            <a:r>
              <a:rPr lang="zh-CN" altLang="en-US">
                <a:sym typeface="+mn-ea"/>
              </a:rPr>
              <a:t>（可选填）</a:t>
            </a:r>
            <a:endParaRPr lang="zh-CN" altLang="en-US"/>
          </a:p>
        </p:txBody>
      </p:sp>
      <p:sp>
        <p:nvSpPr>
          <p:cNvPr id="38" name="圆角矩形 37"/>
          <p:cNvSpPr/>
          <p:nvPr/>
        </p:nvSpPr>
        <p:spPr>
          <a:xfrm>
            <a:off x="328295" y="6164580"/>
            <a:ext cx="3879215" cy="457835"/>
          </a:xfrm>
          <a:prstGeom prst="roundRect">
            <a:avLst>
              <a:gd name="adj" fmla="val 0"/>
            </a:avLst>
          </a:prstGeom>
          <a:solidFill>
            <a:schemeClr val="bg2">
              <a:lumMod val="75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Link</a:t>
            </a:r>
            <a:endParaRPr lang="en-US" altLang="zh-CN"/>
          </a:p>
        </p:txBody>
      </p:sp>
      <p:sp>
        <p:nvSpPr>
          <p:cNvPr id="39" name="圆角矩形 38"/>
          <p:cNvSpPr/>
          <p:nvPr/>
        </p:nvSpPr>
        <p:spPr>
          <a:xfrm>
            <a:off x="10287635" y="2866708"/>
            <a:ext cx="1767840" cy="1339215"/>
          </a:xfrm>
          <a:prstGeom prst="roundRect">
            <a:avLst/>
          </a:prstGeom>
          <a:solidFill>
            <a:schemeClr val="bg2">
              <a:lumMod val="75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Average </a:t>
            </a:r>
            <a:r>
              <a:rPr lang="en-US" altLang="zh-CN"/>
              <a:t>Reach</a:t>
            </a:r>
            <a:endParaRPr lang="en-US" altLang="zh-CN"/>
          </a:p>
        </p:txBody>
      </p:sp>
      <p:sp>
        <p:nvSpPr>
          <p:cNvPr id="41" name="圆角矩形 40"/>
          <p:cNvSpPr/>
          <p:nvPr/>
        </p:nvSpPr>
        <p:spPr>
          <a:xfrm>
            <a:off x="1654810" y="56515"/>
            <a:ext cx="5311140" cy="1815465"/>
          </a:xfrm>
          <a:prstGeom prst="roundRect">
            <a:avLst/>
          </a:prstGeom>
          <a:noFill/>
          <a:ln w="19050">
            <a:solidFill>
              <a:srgbClr val="C0000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2" name="圆角矩形 41"/>
          <p:cNvSpPr/>
          <p:nvPr/>
        </p:nvSpPr>
        <p:spPr>
          <a:xfrm>
            <a:off x="-4354195" y="1176020"/>
            <a:ext cx="4273550" cy="1774825"/>
          </a:xfrm>
          <a:prstGeom prst="roundRect">
            <a:avLst/>
          </a:prstGeom>
          <a:noFill/>
          <a:ln w="28575">
            <a:solidFill>
              <a:srgbClr val="C0000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cxnSp>
        <p:nvCxnSpPr>
          <p:cNvPr id="43" name="直接箭头连接符 42"/>
          <p:cNvCxnSpPr>
            <a:stCxn id="41" idx="1"/>
            <a:endCxn id="42" idx="3"/>
          </p:cNvCxnSpPr>
          <p:nvPr/>
        </p:nvCxnSpPr>
        <p:spPr>
          <a:xfrm flipH="1">
            <a:off x="-80645" y="964565"/>
            <a:ext cx="1735455" cy="1099185"/>
          </a:xfrm>
          <a:prstGeom prst="straightConnector1">
            <a:avLst/>
          </a:prstGeom>
          <a:ln w="28575">
            <a:solidFill>
              <a:srgbClr val="C00000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44" name="圆角矩形 43"/>
          <p:cNvSpPr/>
          <p:nvPr/>
        </p:nvSpPr>
        <p:spPr>
          <a:xfrm>
            <a:off x="3656330" y="2623185"/>
            <a:ext cx="8669655" cy="1842770"/>
          </a:xfrm>
          <a:prstGeom prst="roundRect">
            <a:avLst/>
          </a:prstGeom>
          <a:noFill/>
          <a:ln w="19050">
            <a:solidFill>
              <a:srgbClr val="FF000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5" name="圆角矩形 44"/>
          <p:cNvSpPr/>
          <p:nvPr/>
        </p:nvSpPr>
        <p:spPr>
          <a:xfrm>
            <a:off x="-4471035" y="3537585"/>
            <a:ext cx="4423410" cy="1242695"/>
          </a:xfrm>
          <a:prstGeom prst="roundRect">
            <a:avLst/>
          </a:prstGeom>
          <a:noFill/>
          <a:ln w="28575">
            <a:solidFill>
              <a:srgbClr val="FF000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cxnSp>
        <p:nvCxnSpPr>
          <p:cNvPr id="46" name="直接箭头连接符 45"/>
          <p:cNvCxnSpPr>
            <a:stCxn id="44" idx="1"/>
            <a:endCxn id="45" idx="3"/>
          </p:cNvCxnSpPr>
          <p:nvPr/>
        </p:nvCxnSpPr>
        <p:spPr>
          <a:xfrm flipH="1">
            <a:off x="-47625" y="3544570"/>
            <a:ext cx="3703955" cy="614680"/>
          </a:xfrm>
          <a:prstGeom prst="straightConnector1">
            <a:avLst/>
          </a:prstGeom>
          <a:ln w="19050">
            <a:solidFill>
              <a:srgbClr val="FF0000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47" name="文本框 46"/>
          <p:cNvSpPr txBox="1"/>
          <p:nvPr/>
        </p:nvSpPr>
        <p:spPr>
          <a:xfrm>
            <a:off x="8552815" y="868045"/>
            <a:ext cx="1734820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solidFill>
                  <a:srgbClr val="C00000"/>
                </a:solidFill>
              </a:rPr>
              <a:t>Instagram</a:t>
            </a:r>
            <a:r>
              <a:rPr lang="zh-CN" altLang="en-US" sz="1600">
                <a:solidFill>
                  <a:srgbClr val="C00000"/>
                </a:solidFill>
              </a:rPr>
              <a:t>，</a:t>
            </a:r>
            <a:r>
              <a:rPr lang="en-US" altLang="zh-CN" sz="1600">
                <a:solidFill>
                  <a:srgbClr val="C00000"/>
                </a:solidFill>
              </a:rPr>
              <a:t>tiktok</a:t>
            </a:r>
            <a:r>
              <a:rPr lang="zh-CN" altLang="en-US" sz="1600">
                <a:solidFill>
                  <a:srgbClr val="C00000"/>
                </a:solidFill>
              </a:rPr>
              <a:t>，小红书等平台</a:t>
            </a:r>
            <a:r>
              <a:rPr lang="en-US" altLang="zh-CN" sz="1600">
                <a:solidFill>
                  <a:srgbClr val="C00000"/>
                </a:solidFill>
              </a:rPr>
              <a:t>logo</a:t>
            </a:r>
            <a:endParaRPr lang="en-US" altLang="zh-CN" sz="1600">
              <a:solidFill>
                <a:srgbClr val="C00000"/>
              </a:solidFill>
            </a:endParaRPr>
          </a:p>
        </p:txBody>
      </p:sp>
      <p:cxnSp>
        <p:nvCxnSpPr>
          <p:cNvPr id="48" name="直接箭头连接符 47"/>
          <p:cNvCxnSpPr>
            <a:stCxn id="47" idx="1"/>
            <a:endCxn id="18" idx="3"/>
          </p:cNvCxnSpPr>
          <p:nvPr/>
        </p:nvCxnSpPr>
        <p:spPr>
          <a:xfrm flipH="1">
            <a:off x="7863205" y="1283335"/>
            <a:ext cx="689610" cy="12700"/>
          </a:xfrm>
          <a:prstGeom prst="straightConnector1">
            <a:avLst/>
          </a:prstGeom>
          <a:ln w="19050">
            <a:solidFill>
              <a:srgbClr val="C00000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graphicFrame>
        <p:nvGraphicFramePr>
          <p:cNvPr id="83" name="图表 82" descr="7b0a202020202263686172745265734964223a20223530303733323739220a7d0a"/>
          <p:cNvGraphicFramePr/>
          <p:nvPr/>
        </p:nvGraphicFramePr>
        <p:xfrm>
          <a:off x="6730365" y="7244715"/>
          <a:ext cx="2410460" cy="139573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84" name="文本框 83"/>
          <p:cNvSpPr txBox="1"/>
          <p:nvPr/>
        </p:nvSpPr>
        <p:spPr>
          <a:xfrm>
            <a:off x="5162550" y="7195185"/>
            <a:ext cx="3158490" cy="30670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ctr"/>
            <a:r>
              <a:rPr lang="en-US" altLang="zh-CN" sz="1400" b="1" dirty="0">
                <a:solidFill>
                  <a:srgbClr val="FF9300"/>
                </a:solidFill>
                <a:effectLst/>
                <a:latin typeface="Arial Bold" panose="020B0604020202090204" charset="0"/>
                <a:ea typeface="+mj-ea"/>
                <a:cs typeface="Arial Bold" panose="020B0604020202090204" charset="0"/>
                <a:sym typeface="+mn-ea"/>
              </a:rPr>
              <a:t>Audience Demographics</a:t>
            </a:r>
            <a:endParaRPr lang="en-US" altLang="zh-CN" sz="1400" b="1" dirty="0">
              <a:solidFill>
                <a:srgbClr val="FF9300"/>
              </a:solidFill>
              <a:effectLst/>
              <a:latin typeface="Arial Bold" panose="020B0604020202090204" charset="0"/>
              <a:ea typeface="+mj-ea"/>
              <a:cs typeface="Arial Bold" panose="020B0604020202090204" charset="0"/>
              <a:sym typeface="+mn-ea"/>
            </a:endParaRPr>
          </a:p>
        </p:txBody>
      </p:sp>
      <p:sp>
        <p:nvSpPr>
          <p:cNvPr id="26" name="圆角矩形 25"/>
          <p:cNvSpPr/>
          <p:nvPr/>
        </p:nvSpPr>
        <p:spPr>
          <a:xfrm>
            <a:off x="4485640" y="7195185"/>
            <a:ext cx="4231005" cy="1411605"/>
          </a:xfrm>
          <a:prstGeom prst="roundRect">
            <a:avLst/>
          </a:prstGeom>
          <a:noFill/>
          <a:ln>
            <a:solidFill>
              <a:schemeClr val="accent6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bg2">
                    <a:lumMod val="75000"/>
                  </a:schemeClr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>
              <a:lnSpc>
                <a:spcPct val="100000"/>
              </a:lnSpc>
            </a:pPr>
            <a:endParaRPr lang="zh-CN" altLang="en-US" b="1" dirty="0">
              <a:solidFill>
                <a:schemeClr val="bg1"/>
              </a:solidFill>
              <a:effectLst/>
              <a:latin typeface="Arial Bold" panose="020B0604020202090204" charset="0"/>
              <a:ea typeface="+mj-ea"/>
              <a:cs typeface="Arial Bold" panose="020B0604020202090204" charset="0"/>
              <a:sym typeface="+mn-ea"/>
            </a:endParaRPr>
          </a:p>
        </p:txBody>
      </p:sp>
      <p:graphicFrame>
        <p:nvGraphicFramePr>
          <p:cNvPr id="27" name="图表 26" descr="7b0a202020202263686172745265734964223a20223530303733323739220a7d0a"/>
          <p:cNvGraphicFramePr/>
          <p:nvPr/>
        </p:nvGraphicFramePr>
        <p:xfrm>
          <a:off x="4064000" y="7244715"/>
          <a:ext cx="2409825" cy="13944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29" name="图表 28" descr="7b0a202020202263686172745265734964223a20223530303733323639220a7d0a"/>
          <p:cNvGraphicFramePr/>
          <p:nvPr/>
        </p:nvGraphicFramePr>
        <p:xfrm>
          <a:off x="5778500" y="7418705"/>
          <a:ext cx="1645920" cy="122047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cxnSp>
        <p:nvCxnSpPr>
          <p:cNvPr id="30" name="直接箭头连接符 29"/>
          <p:cNvCxnSpPr/>
          <p:nvPr/>
        </p:nvCxnSpPr>
        <p:spPr>
          <a:xfrm>
            <a:off x="5996940" y="5793105"/>
            <a:ext cx="0" cy="1346835"/>
          </a:xfrm>
          <a:prstGeom prst="straightConnector1">
            <a:avLst/>
          </a:prstGeom>
          <a:ln w="19050">
            <a:solidFill>
              <a:srgbClr val="C00000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32" name="文本框 31"/>
          <p:cNvSpPr txBox="1"/>
          <p:nvPr/>
        </p:nvSpPr>
        <p:spPr>
          <a:xfrm>
            <a:off x="4485640" y="3219450"/>
            <a:ext cx="6866255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400">
                <a:highlight>
                  <a:srgbClr val="00FF00"/>
                </a:highlight>
              </a:rPr>
              <a:t>大数字：</a:t>
            </a:r>
            <a:endParaRPr lang="zh-CN" altLang="en-US" sz="1400">
              <a:highlight>
                <a:srgbClr val="00FF00"/>
              </a:highlight>
            </a:endParaRPr>
          </a:p>
          <a:p>
            <a:r>
              <a:rPr lang="en-US" altLang="zh-CN" sz="1400">
                <a:highlight>
                  <a:srgbClr val="00FF00"/>
                </a:highlight>
              </a:rPr>
              <a:t>Followers, </a:t>
            </a:r>
            <a:r>
              <a:rPr lang="en-US" altLang="zh-CN" sz="1400">
                <a:highlight>
                  <a:srgbClr val="00FF00"/>
                </a:highlight>
              </a:rPr>
              <a:t>Engagement Rate, Impression, Average Reach, Avg likes</a:t>
            </a:r>
            <a:endParaRPr lang="en-US" altLang="zh-CN" sz="1400">
              <a:highlight>
                <a:srgbClr val="00FF00"/>
              </a:highlight>
            </a:endParaRPr>
          </a:p>
        </p:txBody>
      </p:sp>
    </p:spTree>
    <p:custDataLst>
      <p:tags r:id="rId6"/>
    </p:custData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ln w="12700">
            <a:noFill/>
            <a:prstDash val="solid"/>
          </a:ln>
        </p:spPr>
      </p:pic>
      <p:sp>
        <p:nvSpPr>
          <p:cNvPr id="3" name="AutoShape 3"/>
          <p:cNvSpPr/>
          <p:nvPr/>
        </p:nvSpPr>
        <p:spPr>
          <a:xfrm>
            <a:off x="1176655" y="1419860"/>
            <a:ext cx="9880600" cy="2628900"/>
          </a:xfrm>
          <a:prstGeom prst="rect">
            <a:avLst/>
          </a:prstGeom>
          <a:noFill/>
          <a:ln w="12700">
            <a:noFill/>
            <a:prstDash val="solid"/>
          </a:ln>
          <a:effectLst>
            <a:outerShdw blurRad="76200" dist="50800" dir="5400000" algn="ctr" rotWithShape="0">
              <a:srgbClr val="A6A6A6">
                <a:alpha val="42000"/>
              </a:srgbClr>
            </a:outerShdw>
          </a:effectLst>
        </p:spPr>
        <p:txBody>
          <a:bodyPr wrap="square" lIns="91440" tIns="45720" rIns="91440" bIns="45720" rtlCol="0" anchor="t">
            <a:spAutoFit/>
          </a:bodyPr>
          <a:lstStyle/>
          <a:p>
            <a:pPr indent="0" algn="ctr">
              <a:lnSpc>
                <a:spcPct val="100000"/>
              </a:lnSpc>
              <a:defRPr/>
            </a:pPr>
            <a:r>
              <a:rPr lang="en-US" sz="16600" b="1" i="0" u="none" strike="noStrike">
                <a:solidFill>
                  <a:srgbClr val="FF9102"/>
                </a:solidFill>
                <a:latin typeface="Montserrat Black"/>
                <a:ea typeface="Montserrat Black"/>
                <a:cs typeface="Montserrat Black"/>
                <a:sym typeface="Montserrat Black"/>
              </a:rPr>
              <a:t>THANKS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4621530" y="4465320"/>
            <a:ext cx="3143250" cy="33083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indent="0" algn="ctr">
              <a:lnSpc>
                <a:spcPct val="92000"/>
              </a:lnSpc>
              <a:defRPr/>
            </a:pPr>
            <a:r>
              <a:rPr lang="en-US" sz="1700" b="1" i="0" u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Get in Touch with us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2446020" y="5486400"/>
            <a:ext cx="3143250" cy="33083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indent="0" algn="ctr">
              <a:lnSpc>
                <a:spcPct val="92000"/>
              </a:lnSpc>
              <a:defRPr/>
            </a:pPr>
            <a:r>
              <a:rPr lang="en-US" sz="1800" b="1" i="0" u="none" strike="noStrike">
                <a:solidFill>
                  <a:srgbClr val="FF9102"/>
                </a:solidFill>
                <a:latin typeface="Montserrat"/>
                <a:ea typeface="Montserrat"/>
                <a:cs typeface="Montserrat"/>
                <a:sym typeface="Montserrat"/>
              </a:rPr>
              <a:t>Social Markting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6934835" y="5486400"/>
            <a:ext cx="3143250" cy="33083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indent="0" algn="ctr">
              <a:lnSpc>
                <a:spcPct val="92000"/>
              </a:lnSpc>
              <a:defRPr/>
            </a:pPr>
            <a:r>
              <a:rPr lang="en-US" sz="1800" b="1" i="0" u="none" strike="noStrike">
                <a:solidFill>
                  <a:srgbClr val="FF9102"/>
                </a:solidFill>
                <a:latin typeface="Montserrat"/>
                <a:ea typeface="Montserrat"/>
                <a:cs typeface="Montserrat"/>
                <a:sym typeface="Montserrat"/>
              </a:rPr>
              <a:t>Affiliate Markting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342900" y="457200"/>
            <a:ext cx="2204085" cy="56959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indent="0" algn="l">
              <a:lnSpc>
                <a:spcPct val="92000"/>
              </a:lnSpc>
              <a:defRPr/>
            </a:pPr>
            <a:r>
              <a:rPr lang="en-US" sz="1200" b="1" i="0" u="none" strike="noStrike">
                <a:solidFill>
                  <a:srgbClr val="FF9102"/>
                </a:solidFill>
                <a:latin typeface="Montserrat"/>
                <a:ea typeface="Montserrat"/>
                <a:cs typeface="Montserrat"/>
                <a:sym typeface="Montserrat"/>
              </a:rPr>
              <a:t>THE GLOBAL</a:t>
            </a:r>
            <a:endParaRPr lang="en-US" sz="1100"/>
          </a:p>
          <a:p>
            <a:pPr indent="0" algn="l">
              <a:lnSpc>
                <a:spcPct val="92000"/>
              </a:lnSpc>
            </a:pPr>
            <a:r>
              <a:rPr lang="en-US" sz="1200" b="1" i="0" u="none" strike="noStrike">
                <a:solidFill>
                  <a:srgbClr val="FF9102"/>
                </a:solidFill>
                <a:latin typeface="Montserrat"/>
                <a:ea typeface="Montserrat"/>
                <a:cs typeface="Montserrat"/>
                <a:sym typeface="Montserrat"/>
              </a:rPr>
              <a:t>MARKETING AGENCY</a:t>
            </a:r>
            <a:endParaRPr lang="en-US" sz="1200" b="1" i="0" u="none" strike="noStrike">
              <a:solidFill>
                <a:srgbClr val="FF910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8" name="AutoShape 8"/>
          <p:cNvSpPr/>
          <p:nvPr/>
        </p:nvSpPr>
        <p:spPr>
          <a:xfrm>
            <a:off x="2282825" y="5760720"/>
            <a:ext cx="4249420" cy="28194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indent="0" algn="l">
              <a:lnSpc>
                <a:spcPct val="92000"/>
              </a:lnSpc>
              <a:defRPr/>
            </a:pPr>
            <a:r>
              <a:rPr lang="en-US" sz="1800" b="0" i="0" u="none" strike="noStrike">
                <a:solidFill>
                  <a:srgbClr val="34220A"/>
                </a:solidFill>
                <a:latin typeface="Montserrat Alternates Light"/>
                <a:ea typeface="Montserrat Alternates Light"/>
                <a:cs typeface="Montserrat Alternates Light"/>
                <a:sym typeface="Montserrat Alternates Light"/>
              </a:rPr>
              <a:t>dmsocialteam@duomai.com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6742430" y="5750560"/>
            <a:ext cx="3607435" cy="28194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indent="0" algn="ctr">
              <a:lnSpc>
                <a:spcPct val="92000"/>
              </a:lnSpc>
              <a:defRPr/>
            </a:pPr>
            <a:r>
              <a:rPr lang="en-US" sz="1800" b="0" i="0" u="none" strike="noStrike">
                <a:solidFill>
                  <a:srgbClr val="34220A"/>
                </a:solidFill>
                <a:latin typeface="Montserrat Alternates Light"/>
                <a:ea typeface="Montserrat Alternates Light"/>
                <a:cs typeface="Montserrat Alternates Light"/>
                <a:sym typeface="Montserrat Alternates Light"/>
              </a:rPr>
              <a:t>support@duomai.com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3124835" y="564515"/>
            <a:ext cx="876300" cy="2159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rtlCol="0" anchor="t">
            <a:spAutoFit/>
          </a:bodyPr>
          <a:lstStyle/>
          <a:p>
            <a:pPr indent="0" algn="ctr">
              <a:lnSpc>
                <a:spcPct val="100000"/>
              </a:lnSpc>
              <a:defRPr/>
            </a:pPr>
            <a:r>
              <a:rPr lang="en-US" sz="800" b="1" i="0" u="none" strike="noStrike">
                <a:solidFill>
                  <a:srgbClr val="656B01"/>
                </a:solidFill>
                <a:latin typeface="Montserrat"/>
                <a:ea typeface="Montserrat"/>
                <a:cs typeface="Montserrat"/>
                <a:sym typeface="Montserrat"/>
              </a:rPr>
              <a:t>Brands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4811395" y="564515"/>
            <a:ext cx="876300" cy="2159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rtlCol="0" anchor="t">
            <a:spAutoFit/>
          </a:bodyPr>
          <a:lstStyle/>
          <a:p>
            <a:pPr indent="0" algn="ctr">
              <a:lnSpc>
                <a:spcPct val="100000"/>
              </a:lnSpc>
              <a:defRPr/>
            </a:pPr>
            <a:r>
              <a:rPr lang="en-US" sz="800" b="1" i="0" u="none" strike="noStrike">
                <a:solidFill>
                  <a:srgbClr val="656B01"/>
                </a:solidFill>
                <a:latin typeface="Montserrat"/>
                <a:ea typeface="Montserrat"/>
                <a:cs typeface="Montserrat"/>
                <a:sym typeface="Montserrat"/>
              </a:rPr>
              <a:t>Publishers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6634480" y="564515"/>
            <a:ext cx="1130300" cy="2159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rtlCol="0" anchor="t">
            <a:spAutoFit/>
          </a:bodyPr>
          <a:lstStyle/>
          <a:p>
            <a:pPr indent="0" algn="ctr">
              <a:lnSpc>
                <a:spcPct val="100000"/>
              </a:lnSpc>
              <a:defRPr/>
            </a:pPr>
            <a:r>
              <a:rPr lang="en-US" sz="800" b="1" i="0" u="none" strike="noStrike">
                <a:solidFill>
                  <a:srgbClr val="656B01"/>
                </a:solidFill>
                <a:latin typeface="Montserrat"/>
                <a:ea typeface="Montserrat"/>
                <a:cs typeface="Montserrat"/>
                <a:sym typeface="Montserrat"/>
              </a:rPr>
              <a:t>Spotlights Offers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8536940" y="564515"/>
            <a:ext cx="1130300" cy="2159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rtlCol="0" anchor="t">
            <a:spAutoFit/>
          </a:bodyPr>
          <a:lstStyle/>
          <a:p>
            <a:pPr indent="0" algn="ctr">
              <a:lnSpc>
                <a:spcPct val="100000"/>
              </a:lnSpc>
              <a:defRPr/>
            </a:pPr>
            <a:r>
              <a:rPr lang="en-US" sz="800" b="1" i="0" u="none" strike="noStrike">
                <a:solidFill>
                  <a:srgbClr val="656B01"/>
                </a:solidFill>
                <a:latin typeface="Montserrat"/>
                <a:ea typeface="Montserrat"/>
                <a:cs typeface="Montserrat"/>
                <a:sym typeface="Montserrat"/>
              </a:rPr>
              <a:t>Solutions</a:t>
            </a:r>
            <a:endParaRPr lang="en-US" sz="1100"/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63.xml><?xml version="1.0" encoding="utf-8"?>
<p:tagLst xmlns:p="http://schemas.openxmlformats.org/presentationml/2006/main">
  <p:tag name="KSO_WM_BEAUTIFY_FLAG" val=""/>
</p:tagLst>
</file>

<file path=ppt/tags/tag64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65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66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67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68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69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70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71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72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73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苹方-简"/>
        <a:ea typeface="苹方-简"/>
        <a:cs typeface=""/>
      </a:majorFont>
      <a:minorFont>
        <a:latin typeface="苹方-简"/>
        <a:ea typeface="苹方-简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WPS">
      <a:majorFont>
        <a:latin typeface="苹方-简"/>
        <a:ea typeface="苹方-简"/>
        <a:cs typeface=""/>
      </a:majorFont>
      <a:minorFont>
        <a:latin typeface="苹方-简"/>
        <a:ea typeface="苹方-简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WPS">
      <a:majorFont>
        <a:latin typeface="苹方-简"/>
        <a:ea typeface="苹方-简"/>
        <a:cs typeface=""/>
      </a:majorFont>
      <a:minorFont>
        <a:latin typeface="苹方-简"/>
        <a:ea typeface="苹方-简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果汁橙">
    <a:dk1>
      <a:srgbClr val="000000"/>
    </a:dk1>
    <a:lt1>
      <a:srgbClr val="FFFFFF"/>
    </a:lt1>
    <a:dk2>
      <a:srgbClr val="000000"/>
    </a:dk2>
    <a:lt2>
      <a:srgbClr val="F8F8F8"/>
    </a:lt2>
    <a:accent1>
      <a:srgbClr val="EE2D2D"/>
    </a:accent1>
    <a:accent2>
      <a:srgbClr val="F89A46"/>
    </a:accent2>
    <a:accent3>
      <a:srgbClr val="F9BFA6"/>
    </a:accent3>
    <a:accent4>
      <a:srgbClr val="F3621B"/>
    </a:accent4>
    <a:accent5>
      <a:srgbClr val="ECB175"/>
    </a:accent5>
    <a:accent6>
      <a:srgbClr val="F29079"/>
    </a:accent6>
    <a:hlink>
      <a:srgbClr val="5F5F5F"/>
    </a:hlink>
    <a:folHlink>
      <a:srgbClr val="919191"/>
    </a:folHlink>
  </a:clrScheme>
  <a:fontScheme name="WPS">
    <a:majorFont>
      <a:latin typeface="Calibri Light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</a:majorFont>
    <a:minorFont>
      <a:latin typeface="Calibri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</a:minorFont>
  </a:fontScheme>
  <a:fmtScheme name="WPS">
    <a:fillStyleLst>
      <a:solidFill>
        <a:schemeClr val="phClr"/>
      </a:solidFill>
      <a:gradFill>
        <a:gsLst>
          <a:gs pos="0">
            <a:schemeClr val="phClr">
              <a:lumOff val="17500"/>
            </a:schemeClr>
          </a:gs>
          <a:gs pos="100000">
            <a:schemeClr val="phClr"/>
          </a:gs>
        </a:gsLst>
        <a:lin ang="2700000" scaled="0"/>
      </a:gradFill>
      <a:gradFill>
        <a:gsLst>
          <a:gs pos="0">
            <a:schemeClr val="phClr">
              <a:hueOff val="-2520000"/>
            </a:schemeClr>
          </a:gs>
          <a:gs pos="100000">
            <a:schemeClr val="phClr"/>
          </a:gs>
        </a:gsLst>
        <a:lin ang="2700000" scaled="0"/>
      </a:gradFill>
    </a:fillStyleLst>
    <a:lnStyleLst>
      <a:ln w="1270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2700" cap="flat" cmpd="sng" algn="ctr">
        <a:gradFill>
          <a:gsLst>
            <a:gs pos="0">
              <a:schemeClr val="phClr">
                <a:hueOff val="-4200000"/>
              </a:schemeClr>
            </a:gs>
            <a:gs pos="100000">
              <a:schemeClr val="phClr"/>
            </a:gs>
          </a:gsLst>
          <a:lin ang="2700000" scaled="1"/>
        </a:gradFill>
        <a:prstDash val="solid"/>
        <a:miter lim="800000"/>
      </a:ln>
    </a:lnStyleLst>
    <a:effectStyleLst>
      <a:effectStyle>
        <a:effectLst>
          <a:outerShdw blurRad="101600" dist="50800" dir="5400000" algn="ctr" rotWithShape="0">
            <a:schemeClr val="phClr">
              <a:alpha val="60000"/>
            </a:schemeClr>
          </a:outerShdw>
        </a:effectLst>
      </a:effectStyle>
      <a:effectStyle>
        <a:effectLst>
          <a:reflection stA="50000" endA="300" endPos="40000" dist="25400" dir="5400000" sy="-100000" algn="bl" rotWithShape="0"/>
        </a:effectLst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2190</Words>
  <Application>WPS 演示</Application>
  <PresentationFormat>宽屏</PresentationFormat>
  <Paragraphs>275</Paragraphs>
  <Slides>14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28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14</vt:i4>
      </vt:variant>
    </vt:vector>
  </HeadingPairs>
  <TitlesOfParts>
    <vt:vector size="43" baseType="lpstr">
      <vt:lpstr>Arial</vt:lpstr>
      <vt:lpstr>宋体</vt:lpstr>
      <vt:lpstr>Wingdings</vt:lpstr>
      <vt:lpstr>Wingdings</vt:lpstr>
      <vt:lpstr>Montserrat</vt:lpstr>
      <vt:lpstr>Thonburi</vt:lpstr>
      <vt:lpstr>Proxima Nova</vt:lpstr>
      <vt:lpstr>Noto Sans SC</vt:lpstr>
      <vt:lpstr>Arial Bold</vt:lpstr>
      <vt:lpstr>Arial Black</vt:lpstr>
      <vt:lpstr>PingFang SC Semibold</vt:lpstr>
      <vt:lpstr>Arial Regular</vt:lpstr>
      <vt:lpstr>quote-cjk-patch</vt:lpstr>
      <vt:lpstr>Montserrat Black</vt:lpstr>
      <vt:lpstr>Montserrat Alternates Light</vt:lpstr>
      <vt:lpstr>苹方-简</vt:lpstr>
      <vt:lpstr>微软雅黑</vt:lpstr>
      <vt:lpstr>汉仪旗黑</vt:lpstr>
      <vt:lpstr>宋体</vt:lpstr>
      <vt:lpstr>Arial Unicode MS</vt:lpstr>
      <vt:lpstr>Montserrat</vt:lpstr>
      <vt:lpstr>Montserrat Alternates Light</vt:lpstr>
      <vt:lpstr>Montserrat Black</vt:lpstr>
      <vt:lpstr>Noto Sans SC</vt:lpstr>
      <vt:lpstr>Proxima Nova</vt:lpstr>
      <vt:lpstr>quote-cjk-patch</vt:lpstr>
      <vt:lpstr>汉仪书宋二KW</vt:lpstr>
      <vt:lpstr>Apple Color Emoji</vt:lpstr>
      <vt:lpstr>WPS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/>
  <cp:lastModifiedBy>丰嘉怡</cp:lastModifiedBy>
  <cp:revision>219</cp:revision>
  <dcterms:created xsi:type="dcterms:W3CDTF">2026-06-26T07:59:47Z</dcterms:created>
  <dcterms:modified xsi:type="dcterms:W3CDTF">2026-06-26T07:59:47Z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2052-7.5.1.8994</vt:lpwstr>
  </property>
  <property fmtid="{D5CDD505-2E9C-101B-9397-08002B2CF9AE}" pid="3" name="ICV">
    <vt:lpwstr>BA0E6B743A83CA29F68B3B6A73C3329D_41</vt:lpwstr>
  </property>
</Properties>
</file>