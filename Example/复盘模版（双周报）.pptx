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colors3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charts/style3.xml" ContentType="application/vnd.ms-office.chartstyle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262" r:id="rId3"/>
    <p:sldId id="257" r:id="rId4"/>
    <p:sldId id="258" r:id="rId5"/>
    <p:sldId id="259" r:id="rId6"/>
    <p:sldId id="256" r:id="rId7"/>
    <p:sldId id="260" r:id="rId8"/>
    <p:sldId id="263" r:id="rId9"/>
    <p:sldId id="261" r:id="rId10"/>
  </p:sldIdLst>
  <p:sldSz cx="12192000" cy="6858000"/>
  <p:notesSz cx="6858000" cy="9144000"/>
  <p:custDataLst>
    <p:tags r:id="rId1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02" userDrawn="1">
          <p15:clr>
            <a:srgbClr val="A4A3A4"/>
          </p15:clr>
        </p15:guide>
        <p15:guide id="2" pos="384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02"/>
        <p:guide pos="3846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gs" Target="tags/tag77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handoutMaster" Target="handoutMasters/handoutMaster1.xml"/><Relationship Id="rId11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3" Type="http://schemas.microsoft.com/office/2011/relationships/chartColorStyle" Target="colors2.xml"/><Relationship Id="rId2" Type="http://schemas.microsoft.com/office/2011/relationships/chartStyle" Target="style2.xml"/><Relationship Id="rId1" Type="http://schemas.openxmlformats.org/officeDocument/2006/relationships/package" Target="../embeddings/Workbook2.xlsx"/></Relationships>
</file>

<file path=ppt/charts/_rels/chart3.xml.rels><?xml version="1.0" encoding="UTF-8" standalone="yes"?>
<Relationships xmlns="http://schemas.openxmlformats.org/package/2006/relationships"><Relationship Id="rId4" Type="http://schemas.microsoft.com/office/2011/relationships/chartColorStyle" Target="colors3.xml"/><Relationship Id="rId3" Type="http://schemas.microsoft.com/office/2011/relationships/chartStyle" Target="style3.xml"/><Relationship Id="rId2" Type="http://schemas.openxmlformats.org/officeDocument/2006/relationships/themeOverride" Target="../theme/themeOverride1.xml"/><Relationship Id="rId1" Type="http://schemas.openxmlformats.org/officeDocument/2006/relationships/package" Target="../embeddings/Workbook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title>
      <c:tx>
        <c:rich>
          <a:bodyPr rot="0" spcFirstLastPara="0" vertOverflow="ellipsis" vert="horz" wrap="square" anchor="ctr" anchorCtr="1" forceAA="0"/>
          <a:lstStyle/>
          <a:p>
            <a:pPr defTabSz="914400">
              <a:defRPr lang="zh-CN" sz="960" b="1" i="0" u="none" strike="noStrike" kern="1200" spc="0" baseline="0">
                <a:solidFill>
                  <a:schemeClr val="accent2">
                    <a:lumMod val="75000"/>
                  </a:schemeClr>
                </a:solidFill>
                <a:latin typeface="微软雅黑" charset="-122"/>
                <a:ea typeface="微软雅黑" charset="-122"/>
                <a:cs typeface="微软雅黑" charset="-122"/>
                <a:sym typeface="微软雅黑" charset="-122"/>
              </a:defRPr>
            </a:pPr>
            <a:r>
              <a:rPr sz="960" b="1">
                <a:solidFill>
                  <a:schemeClr val="accent2">
                    <a:lumMod val="75000"/>
                  </a:schemeClr>
                </a:solidFill>
              </a:rPr>
              <a:t>Gender</a:t>
            </a:r>
            <a:endParaRPr sz="960" b="1">
              <a:solidFill>
                <a:schemeClr val="accent2">
                  <a:lumMod val="75000"/>
                </a:schemeClr>
              </a:solidFill>
            </a:endParaRPr>
          </a:p>
        </c:rich>
      </c:tx>
      <c:layout>
        <c:manualLayout>
          <c:xMode val="edge"/>
          <c:yMode val="edge"/>
          <c:x val="0.39949947312961"/>
          <c:y val="0.16196542311192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Gender</c:v>
                </c:pt>
              </c:strCache>
            </c:strRef>
          </c:tx>
          <c:spPr>
            <a:effectLst>
              <a:outerShdw blurRad="50800" dist="38100" dir="2700000" algn="tl" rotWithShape="0">
                <a:schemeClr val="accent1">
                  <a:alpha val="40000"/>
                </a:schemeClr>
              </a:outerShdw>
            </a:effectLst>
          </c:spPr>
          <c:explosion val="0"/>
          <c:dPt>
            <c:idx val="0"/>
            <c:bubble3D val="0"/>
            <c:spPr>
              <a:solidFill>
                <a:schemeClr val="accent2">
                  <a:shade val="76667"/>
                </a:schemeClr>
              </a:solidFill>
              <a:ln w="19050">
                <a:solidFill>
                  <a:schemeClr val="lt1"/>
                </a:solidFill>
              </a:ln>
              <a:effectLst>
                <a:outerShdw blurRad="50800" dist="38100" dir="2700000" algn="tl" rotWithShape="0">
                  <a:schemeClr val="accent1">
                    <a:alpha val="40000"/>
                  </a:schemeClr>
                </a:outerShdw>
              </a:effectLst>
            </c:spPr>
          </c:dPt>
          <c:dPt>
            <c:idx val="1"/>
            <c:bubble3D val="0"/>
            <c:spPr>
              <a:solidFill>
                <a:schemeClr val="accent2">
                  <a:tint val="76667"/>
                </a:schemeClr>
              </a:solidFill>
              <a:ln w="19050">
                <a:solidFill>
                  <a:schemeClr val="lt1"/>
                </a:solidFill>
              </a:ln>
              <a:effectLst>
                <a:outerShdw blurRad="50800" dist="38100" dir="2700000" algn="tl" rotWithShape="0">
                  <a:schemeClr val="accent2">
                    <a:alpha val="40000"/>
                  </a:schemeClr>
                </a:outerShdw>
              </a:effectLst>
            </c:spPr>
          </c:dPt>
          <c:dLbls>
            <c:numFmt formatCode="General" sourceLinked="1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 forceAA="0">
                <a:spAutoFit/>
              </a:bodyPr>
              <a:lstStyle/>
              <a:p>
                <a:pPr>
                  <a:defRPr lang="zh-CN" sz="800" b="1" i="0" u="none" strike="noStrike" kern="1200" baseline="0">
                    <a:solidFill>
                      <a:schemeClr val="accent2">
                        <a:lumMod val="75000"/>
                      </a:schemeClr>
                    </a:solidFill>
                    <a:latin typeface="微软雅黑" charset="-122"/>
                    <a:ea typeface="微软雅黑" charset="-122"/>
                    <a:cs typeface="微软雅黑" charset="-122"/>
                    <a:sym typeface="微软雅黑" charset="-122"/>
                  </a:defRPr>
                </a:pPr>
              </a:p>
            </c:txPr>
            <c:dLblPos val="inEnd"/>
            <c:showLegendKey val="0"/>
            <c:showVal val="1"/>
            <c:showCatName val="1"/>
            <c:showSerName val="0"/>
            <c:showPercent val="0"/>
            <c:showBubbleSize val="0"/>
            <c:separator>
</c:separator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Male</c:v>
                </c:pt>
                <c:pt idx="1">
                  <c:v>Female</c:v>
                </c:pt>
              </c:strCache>
            </c:strRef>
          </c:cat>
          <c:val>
            <c:numRef>
              <c:f>Sheet1!$B$2:$B$3</c:f>
              <c:numCache>
                <c:formatCode>0%</c:formatCode>
                <c:ptCount val="2"/>
                <c:pt idx="0">
                  <c:v>0.3</c:v>
                </c:pt>
                <c:pt idx="1">
                  <c:v>0.7</c:v>
                </c:pt>
              </c:numCache>
            </c:numRef>
          </c:val>
        </c:ser>
        <c:dLbls>
          <c:showLegendKey val="0"/>
          <c:showVal val="1"/>
          <c:showCatName val="1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aa2a87ab-0412-415c-a7c4-a618dc76b82e}"/>
      </c:ext>
    </c:extLst>
  </c:chart>
  <c:spPr>
    <a:noFill/>
    <a:ln w="6350" cap="flat" cmpd="sng" algn="ctr">
      <a:noFill/>
      <a:round/>
    </a:ln>
    <a:effectLst/>
  </c:spPr>
  <c:txPr>
    <a:bodyPr/>
    <a:lstStyle/>
    <a:p>
      <a:pPr>
        <a:defRPr lang="zh-CN" sz="800" b="1">
          <a:solidFill>
            <a:schemeClr val="accent2">
              <a:lumMod val="75000"/>
            </a:schemeClr>
          </a:solidFill>
          <a:latin typeface="微软雅黑" charset="-122"/>
          <a:ea typeface="微软雅黑" charset="-122"/>
          <a:cs typeface="微软雅黑" charset="-122"/>
          <a:sym typeface="微软雅黑" charset="-122"/>
        </a:defRPr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960" b="1" i="0" u="none" strike="noStrike" kern="1200" baseline="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sz="960">
                <a:solidFill>
                  <a:schemeClr val="accent2">
                    <a:lumMod val="75000"/>
                  </a:schemeClr>
                </a:solidFill>
              </a:rPr>
              <a:t>Locations</a:t>
            </a:r>
            <a:endParaRPr sz="960">
              <a:solidFill>
                <a:schemeClr val="accent2">
                  <a:lumMod val="75000"/>
                </a:schemeClr>
              </a:solidFill>
            </a:endParaRPr>
          </a:p>
        </c:rich>
      </c:tx>
      <c:layout>
        <c:manualLayout>
          <c:xMode val="edge"/>
          <c:yMode val="edge"/>
          <c:x val="0.373633358759217"/>
          <c:y val="0.152021089630931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Location</c:v>
                </c:pt>
              </c:strCache>
            </c:strRef>
          </c:tx>
          <c:spPr/>
          <c:explosion val="0"/>
          <c:dPt>
            <c:idx val="0"/>
            <c:bubble3D val="0"/>
            <c:explosion val="5"/>
            <c:spPr>
              <a:gradFill>
                <a:gsLst>
                  <a:gs pos="0">
                    <a:schemeClr val="accent2">
                      <a:shade val="58000"/>
                      <a:lumMod val="40000"/>
                      <a:lumOff val="60000"/>
                    </a:schemeClr>
                  </a:gs>
                  <a:gs pos="90000">
                    <a:schemeClr val="accent2">
                      <a:shade val="58000"/>
                    </a:schemeClr>
                  </a:gs>
                </a:gsLst>
                <a:lin ang="5400000" scaled="0"/>
              </a:gradFill>
              <a:ln>
                <a:gradFill>
                  <a:gsLst>
                    <a:gs pos="0">
                      <a:schemeClr val="accent2">
                        <a:shade val="58000"/>
                      </a:schemeClr>
                    </a:gs>
                    <a:gs pos="100000">
                      <a:schemeClr val="accent2">
                        <a:shade val="58000"/>
                        <a:lumMod val="75000"/>
                      </a:schemeClr>
                    </a:gs>
                  </a:gsLst>
                  <a:lin ang="5400000" scaled="1"/>
                </a:gradFill>
              </a:ln>
              <a:effectLst/>
            </c:spPr>
          </c:dPt>
          <c:dPt>
            <c:idx val="1"/>
            <c:bubble3D val="0"/>
            <c:spPr>
              <a:gradFill>
                <a:gsLst>
                  <a:gs pos="0">
                    <a:schemeClr val="accent2">
                      <a:shade val="86000"/>
                      <a:lumMod val="40000"/>
                      <a:lumOff val="60000"/>
                    </a:schemeClr>
                  </a:gs>
                  <a:gs pos="90000">
                    <a:schemeClr val="accent2">
                      <a:shade val="86000"/>
                    </a:schemeClr>
                  </a:gs>
                </a:gsLst>
                <a:lin ang="5400000" scaled="0"/>
              </a:gradFill>
              <a:ln>
                <a:gradFill>
                  <a:gsLst>
                    <a:gs pos="0">
                      <a:schemeClr val="accent2">
                        <a:shade val="86000"/>
                      </a:schemeClr>
                    </a:gs>
                    <a:gs pos="100000">
                      <a:schemeClr val="accent2">
                        <a:shade val="86000"/>
                        <a:lumMod val="75000"/>
                      </a:schemeClr>
                    </a:gs>
                  </a:gsLst>
                  <a:lin ang="5400000" scaled="1"/>
                </a:gradFill>
              </a:ln>
              <a:effectLst/>
            </c:spPr>
          </c:dPt>
          <c:dPt>
            <c:idx val="2"/>
            <c:bubble3D val="0"/>
            <c:spPr>
              <a:gradFill>
                <a:gsLst>
                  <a:gs pos="0">
                    <a:schemeClr val="accent2">
                      <a:tint val="86000"/>
                      <a:lumMod val="40000"/>
                      <a:lumOff val="60000"/>
                    </a:schemeClr>
                  </a:gs>
                  <a:gs pos="90000">
                    <a:schemeClr val="accent2">
                      <a:tint val="86000"/>
                    </a:schemeClr>
                  </a:gs>
                </a:gsLst>
                <a:lin ang="5400000" scaled="0"/>
              </a:gradFill>
              <a:ln>
                <a:gradFill>
                  <a:gsLst>
                    <a:gs pos="0">
                      <a:schemeClr val="accent2">
                        <a:tint val="86000"/>
                      </a:schemeClr>
                    </a:gs>
                    <a:gs pos="100000">
                      <a:schemeClr val="accent2">
                        <a:tint val="86000"/>
                        <a:lumMod val="75000"/>
                      </a:schemeClr>
                    </a:gs>
                  </a:gsLst>
                  <a:lin ang="5400000" scaled="1"/>
                </a:gradFill>
              </a:ln>
              <a:effectLst/>
            </c:spPr>
          </c:dPt>
          <c:dPt>
            <c:idx val="3"/>
            <c:bubble3D val="0"/>
            <c:spPr>
              <a:gradFill>
                <a:gsLst>
                  <a:gs pos="0">
                    <a:schemeClr val="accent2">
                      <a:tint val="58000"/>
                      <a:lumMod val="40000"/>
                      <a:lumOff val="60000"/>
                    </a:schemeClr>
                  </a:gs>
                  <a:gs pos="90000">
                    <a:schemeClr val="accent2">
                      <a:tint val="58000"/>
                    </a:schemeClr>
                  </a:gs>
                </a:gsLst>
                <a:lin ang="5400000" scaled="0"/>
              </a:gradFill>
              <a:ln>
                <a:gradFill>
                  <a:gsLst>
                    <a:gs pos="0">
                      <a:schemeClr val="accent2">
                        <a:tint val="58000"/>
                      </a:schemeClr>
                    </a:gs>
                    <a:gs pos="100000">
                      <a:schemeClr val="accent2">
                        <a:tint val="58000"/>
                        <a:lumMod val="75000"/>
                      </a:schemeClr>
                    </a:gs>
                  </a:gsLst>
                  <a:lin ang="5400000" scaled="1"/>
                </a:gradFill>
              </a:ln>
              <a:effectLst/>
            </c:spPr>
          </c:dPt>
          <c:dLbls>
            <c:dLbl>
              <c:idx val="0"/>
              <c:layout/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700" b="0" i="0" u="none" strike="noStrike" kern="1200" baseline="0">
                      <a:solidFill>
                        <a:schemeClr val="accent2">
                          <a:lumMod val="50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</a:p>
              </c:txPr>
              <c:dLblPos val="inEnd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>
                <c:manualLayout>
                  <c:x val="0.0829702660220612"/>
                  <c:y val="0.0603680741672116"/>
                </c:manualLayout>
              </c:layout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700" b="0" i="0" u="none" strike="noStrike" kern="1200" baseline="0">
                      <a:solidFill>
                        <a:schemeClr val="accent2">
                          <a:lumMod val="50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</a:p>
              </c:txPr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0.00935606750734812"/>
                  <c:y val="0.060189233457866"/>
                </c:manualLayout>
              </c:layout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700" b="0" i="0" u="none" strike="noStrike" kern="1200" baseline="0">
                      <a:solidFill>
                        <a:schemeClr val="accent2">
                          <a:lumMod val="50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</a:p>
              </c:txPr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/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700" b="0" i="0" u="none" strike="noStrike" kern="1200" baseline="0">
                      <a:solidFill>
                        <a:schemeClr val="accent2">
                          <a:lumMod val="50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</a:p>
              </c:txPr>
              <c:dLblPos val="inEnd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96574440052701"/>
                      <c:h val="0.188524590163934"/>
                    </c:manualLayout>
                  </c15:layout>
                </c:ext>
              </c:extLst>
            </c:dLbl>
            <c:numFmt formatCode="General" sourceLinked="1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700" b="0" i="0" u="none" strike="noStrike" kern="1200" baseline="0">
                    <a:solidFill>
                      <a:schemeClr val="accent2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inEnd"/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UK</c:v>
                </c:pt>
                <c:pt idx="1">
                  <c:v>DE</c:v>
                </c:pt>
                <c:pt idx="2">
                  <c:v>FR</c:v>
                </c:pt>
                <c:pt idx="3">
                  <c:v>Other</c:v>
                </c:pt>
              </c:strCache>
            </c:strRef>
          </c:cat>
          <c:val>
            <c:numRef>
              <c:f>Sheet1!$B$2:$B$5</c:f>
              <c:numCache>
                <c:formatCode>0%</c:formatCode>
                <c:ptCount val="4"/>
                <c:pt idx="0">
                  <c:v>0.7</c:v>
                </c:pt>
                <c:pt idx="1">
                  <c:v>0.15</c:v>
                </c:pt>
                <c:pt idx="2">
                  <c:v>0.1</c:v>
                </c:pt>
                <c:pt idx="3">
                  <c:v>0.05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 sz="800">
          <a:solidFill>
            <a:schemeClr val="accent2">
              <a:lumMod val="75000"/>
            </a:schemeClr>
          </a:solidFill>
        </a:defRPr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0" vertOverflow="ellipsis" vert="horz" wrap="square" anchor="ctr" anchorCtr="1" forceAA="0"/>
          <a:lstStyle/>
          <a:p>
            <a:pPr defTabSz="914400">
              <a:defRPr lang="zh-CN" sz="960" b="0" i="0" u="none" strike="noStrike" kern="1200" baseline="0">
                <a:solidFill>
                  <a:schemeClr val="accent2">
                    <a:lumMod val="50000"/>
                  </a:schemeClr>
                </a:solidFill>
                <a:latin typeface="微软雅黑" charset="-122"/>
                <a:ea typeface="微软雅黑" charset="-122"/>
                <a:cs typeface="微软雅黑" charset="-122"/>
                <a:sym typeface="微软雅黑" charset="-122"/>
              </a:defRPr>
            </a:pPr>
            <a:r>
              <a:rPr lang="en-US" altLang="zh-CN" sz="960">
                <a:solidFill>
                  <a:schemeClr val="accent2">
                    <a:lumMod val="50000"/>
                  </a:schemeClr>
                </a:solidFill>
              </a:rPr>
              <a:t>Age</a:t>
            </a:r>
            <a:endParaRPr lang="en-US" altLang="zh-CN" sz="960">
              <a:solidFill>
                <a:schemeClr val="accent2">
                  <a:lumMod val="50000"/>
                </a:schemeClr>
              </a:solidFill>
            </a:endParaRPr>
          </a:p>
        </c:rich>
      </c:tx>
      <c:layout>
        <c:manualLayout>
          <c:xMode val="edge"/>
          <c:yMode val="edge"/>
          <c:x val="0.416071062250569"/>
          <c:y val="0.0593165346437705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240817901234568"/>
          <c:y val="0.249479708636837"/>
          <c:w val="0.701697530864198"/>
          <c:h val="0.518470343392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0-18</c:v>
                </c:pt>
              </c:strCache>
            </c:strRef>
          </c:tx>
          <c:spPr>
            <a:solidFill>
              <a:schemeClr val="accent1"/>
            </a:solidFill>
            <a:ln w="31750" cap="rnd">
              <a:noFill/>
              <a:round/>
            </a:ln>
            <a:effectLst/>
            <a:sp3d contourW="31750"/>
          </c:spPr>
          <c:invertIfNegative val="0"/>
          <c:dLbls>
            <c:delete val="1"/>
          </c:dLbls>
          <c:cat>
            <c:strRef>
              <c:f>Sheet1!$A$2</c:f>
              <c:strCache>
                <c:ptCount val="1"/>
                <c:pt idx="0">
                  <c:v>Age</c:v>
                </c:pt>
              </c:strCache>
            </c:strRef>
          </c:cat>
          <c:val>
            <c:numRef>
              <c:f>Sheet1!$B$2</c:f>
              <c:numCache>
                <c:formatCode>0%</c:formatCode>
                <c:ptCount val="1"/>
                <c:pt idx="0">
                  <c:v>0.1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18-25</c:v>
                </c:pt>
              </c:strCache>
            </c:strRef>
          </c:tx>
          <c:spPr>
            <a:solidFill>
              <a:schemeClr val="accent2"/>
            </a:solidFill>
            <a:ln w="31750" cap="rnd">
              <a:noFill/>
              <a:round/>
            </a:ln>
            <a:effectLst/>
            <a:sp3d contourW="31750"/>
          </c:spPr>
          <c:invertIfNegative val="0"/>
          <c:dLbls>
            <c:delete val="1"/>
          </c:dLbls>
          <c:cat>
            <c:strRef>
              <c:f>Sheet1!$A$2</c:f>
              <c:strCache>
                <c:ptCount val="1"/>
                <c:pt idx="0">
                  <c:v>Age</c:v>
                </c:pt>
              </c:strCache>
            </c:strRef>
          </c:cat>
          <c:val>
            <c:numRef>
              <c:f>Sheet1!$C$2</c:f>
              <c:numCache>
                <c:formatCode>0%</c:formatCode>
                <c:ptCount val="1"/>
                <c:pt idx="0">
                  <c:v>0.5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25-40</c:v>
                </c:pt>
              </c:strCache>
            </c:strRef>
          </c:tx>
          <c:spPr>
            <a:solidFill>
              <a:schemeClr val="accent3"/>
            </a:solidFill>
            <a:ln w="31750" cap="rnd">
              <a:noFill/>
              <a:round/>
            </a:ln>
            <a:effectLst/>
            <a:sp3d contourW="31750"/>
          </c:spPr>
          <c:invertIfNegative val="0"/>
          <c:dLbls>
            <c:delete val="1"/>
          </c:dLbls>
          <c:cat>
            <c:strRef>
              <c:f>Sheet1!$A$2</c:f>
              <c:strCache>
                <c:ptCount val="1"/>
                <c:pt idx="0">
                  <c:v>Age</c:v>
                </c:pt>
              </c:strCache>
            </c:strRef>
          </c:cat>
          <c:val>
            <c:numRef>
              <c:f>Sheet1!$D$2</c:f>
              <c:numCache>
                <c:formatCode>0%</c:formatCode>
                <c:ptCount val="1"/>
                <c:pt idx="0">
                  <c:v>0.4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92"/>
        <c:overlap val="-21"/>
        <c:axId val="290641895"/>
        <c:axId val="379759648"/>
      </c:barChart>
      <c:catAx>
        <c:axId val="290641895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 forceAA="0"/>
          <a:lstStyle/>
          <a:p>
            <a:pPr>
              <a:defRPr lang="zh-CN" sz="800" b="0" i="0" u="none" strike="noStrike" kern="1200" baseline="0">
                <a:solidFill>
                  <a:schemeClr val="accent2">
                    <a:lumMod val="50000"/>
                  </a:schemeClr>
                </a:solidFill>
                <a:latin typeface="微软雅黑" charset="-122"/>
                <a:ea typeface="微软雅黑" charset="-122"/>
                <a:cs typeface="微软雅黑" charset="-122"/>
                <a:sym typeface="微软雅黑" charset="-122"/>
              </a:defRPr>
            </a:pPr>
          </a:p>
        </c:txPr>
        <c:crossAx val="379759648"/>
        <c:crosses val="autoZero"/>
        <c:auto val="1"/>
        <c:lblAlgn val="ctr"/>
        <c:lblOffset val="100"/>
        <c:noMultiLvlLbl val="0"/>
      </c:catAx>
      <c:valAx>
        <c:axId val="379759648"/>
        <c:scaling>
          <c:orientation val="minMax"/>
        </c:scaling>
        <c:delete val="0"/>
        <c:axPos val="l"/>
        <c:minorGridlines>
          <c:spPr>
            <a:ln w="9525" cap="flat" cmpd="sng" algn="ctr">
              <a:solidFill>
                <a:schemeClr val="tx1">
                  <a:lumMod val="50000"/>
                  <a:lumOff val="50000"/>
                  <a:alpha val="10000"/>
                </a:schemeClr>
              </a:solidFill>
              <a:round/>
            </a:ln>
            <a:effectLst/>
          </c:spPr>
        </c:minorGridlines>
        <c:numFmt formatCode="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 forceAA="0"/>
          <a:lstStyle/>
          <a:p>
            <a:pPr>
              <a:defRPr lang="zh-CN" sz="800" b="0" i="0" u="none" strike="noStrike" kern="1200" baseline="0">
                <a:solidFill>
                  <a:schemeClr val="accent2">
                    <a:lumMod val="50000"/>
                  </a:schemeClr>
                </a:solidFill>
                <a:latin typeface="微软雅黑" charset="-122"/>
                <a:ea typeface="微软雅黑" charset="-122"/>
                <a:cs typeface="微软雅黑" charset="-122"/>
                <a:sym typeface="微软雅黑" charset="-122"/>
              </a:defRPr>
            </a:pPr>
          </a:p>
        </c:txPr>
        <c:crossAx val="29064189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accent2">
                    <a:lumMod val="50000"/>
                  </a:schemeClr>
                </a:solidFill>
                <a:latin typeface="微软雅黑" charset="-122"/>
                <a:ea typeface="微软雅黑" charset="-122"/>
                <a:cs typeface="微软雅黑" charset="-122"/>
                <a:sym typeface="微软雅黑" charset="-122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accent2">
                    <a:lumMod val="50000"/>
                  </a:schemeClr>
                </a:solidFill>
                <a:latin typeface="微软雅黑" charset="-122"/>
                <a:ea typeface="微软雅黑" charset="-122"/>
                <a:cs typeface="微软雅黑" charset="-122"/>
                <a:sym typeface="微软雅黑" charset="-122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accent2">
                    <a:lumMod val="50000"/>
                  </a:schemeClr>
                </a:solidFill>
                <a:latin typeface="微软雅黑" charset="-122"/>
                <a:ea typeface="微软雅黑" charset="-122"/>
                <a:cs typeface="微软雅黑" charset="-122"/>
                <a:sym typeface="微软雅黑" charset="-122"/>
              </a:defRPr>
            </a:pPr>
          </a:p>
        </c:txPr>
      </c:legendEntry>
      <c:layout>
        <c:manualLayout>
          <c:xMode val="edge"/>
          <c:yMode val="edge"/>
          <c:x val="0.171601208459215"/>
          <c:y val="0.804625199362041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 forceAA="0"/>
        <a:lstStyle/>
        <a:p>
          <a:pPr>
            <a:defRPr lang="zh-CN" sz="800" b="0" i="0" u="none" strike="noStrike" kern="1200" baseline="0">
              <a:solidFill>
                <a:schemeClr val="accent2">
                  <a:lumMod val="50000"/>
                </a:schemeClr>
              </a:solidFill>
              <a:latin typeface="微软雅黑" charset="-122"/>
              <a:ea typeface="微软雅黑" charset="-122"/>
              <a:cs typeface="微软雅黑" charset="-122"/>
              <a:sym typeface="微软雅黑" charset="-122"/>
            </a:defRPr>
          </a:pPr>
        </a:p>
      </c:txPr>
    </c:legend>
    <c:plotVisOnly val="1"/>
    <c:dispBlanksAs val="gap"/>
    <c:showDLblsOverMax val="0"/>
  </c:chart>
  <c:spPr>
    <a:noFill/>
    <a:ln w="6350" cap="flat" cmpd="sng" algn="ctr">
      <a:noFill/>
      <a:round/>
    </a:ln>
    <a:effectLst/>
  </c:spPr>
  <c:txPr>
    <a:bodyPr/>
    <a:lstStyle/>
    <a:p>
      <a:pPr>
        <a:defRPr lang="zh-CN" sz="800">
          <a:solidFill>
            <a:schemeClr val="accent2">
              <a:lumMod val="50000"/>
            </a:schemeClr>
          </a:solidFill>
          <a:latin typeface="微软雅黑" charset="-122"/>
          <a:ea typeface="微软雅黑" charset="-122"/>
          <a:cs typeface="微软雅黑" charset="-122"/>
          <a:sym typeface="微软雅黑" charset="-122"/>
        </a:defRPr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2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100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>
              <a:lumMod val="40000"/>
              <a:lumOff val="60000"/>
            </a:schemeClr>
          </a:gs>
          <a:gs pos="90000">
            <a:schemeClr val="phClr"/>
          </a:gs>
        </a:gsLst>
        <a:lin ang="5400000" scaled="0"/>
      </a:gradFill>
      <a:ln>
        <a:gradFill>
          <a:gsLst>
            <a:gs pos="0">
              <a:schemeClr val="phClr"/>
            </a:gs>
            <a:gs pos="100000">
              <a:schemeClr val="phClr">
                <a:lumMod val="75000"/>
              </a:schemeClr>
            </a:gs>
          </a:gsLst>
          <a:lin ang="5400000" scaled="1"/>
        </a:gradFill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100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noFill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04000"/>
            <a:ext cx="5342400" cy="4140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04000"/>
            <a:ext cx="5342400" cy="4140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397600"/>
            <a:ext cx="9799200" cy="11052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5040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>
          <a:xfrm rot="10800000" flipV="1">
            <a:off x="0" y="0"/>
            <a:ext cx="12192000" cy="685800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6" name="Picture 89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10671810" y="439796"/>
            <a:ext cx="1191979" cy="228599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tags" Target="../tags/tag62.xml"/><Relationship Id="rId17" Type="http://schemas.openxmlformats.org/officeDocument/2006/relationships/tags" Target="../tags/tag61.xml"/><Relationship Id="rId16" Type="http://schemas.openxmlformats.org/officeDocument/2006/relationships/tags" Target="../tags/tag60.xml"/><Relationship Id="rId15" Type="http://schemas.openxmlformats.org/officeDocument/2006/relationships/tags" Target="../tags/tag59.xml"/><Relationship Id="rId14" Type="http://schemas.openxmlformats.org/officeDocument/2006/relationships/tags" Target="../tags/tag58.xml"/><Relationship Id="rId13" Type="http://schemas.openxmlformats.org/officeDocument/2006/relationships/tags" Target="../tags/tag57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ea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3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66.xml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7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4.png"/><Relationship Id="rId8" Type="http://schemas.openxmlformats.org/officeDocument/2006/relationships/tags" Target="../tags/tag70.xml"/><Relationship Id="rId7" Type="http://schemas.openxmlformats.org/officeDocument/2006/relationships/image" Target="../media/image13.png"/><Relationship Id="rId6" Type="http://schemas.openxmlformats.org/officeDocument/2006/relationships/tags" Target="../tags/tag69.xml"/><Relationship Id="rId5" Type="http://schemas.openxmlformats.org/officeDocument/2006/relationships/tags" Target="../tags/tag68.xml"/><Relationship Id="rId4" Type="http://schemas.openxmlformats.org/officeDocument/2006/relationships/image" Target="../media/image12.png"/><Relationship Id="rId3" Type="http://schemas.openxmlformats.org/officeDocument/2006/relationships/chart" Target="../charts/chart3.xml"/><Relationship Id="rId2" Type="http://schemas.openxmlformats.org/officeDocument/2006/relationships/chart" Target="../charts/chart2.xml"/><Relationship Id="rId15" Type="http://schemas.openxmlformats.org/officeDocument/2006/relationships/slideLayout" Target="../slideLayouts/slideLayout1.xml"/><Relationship Id="rId14" Type="http://schemas.openxmlformats.org/officeDocument/2006/relationships/tags" Target="../tags/tag74.xml"/><Relationship Id="rId13" Type="http://schemas.openxmlformats.org/officeDocument/2006/relationships/image" Target="../media/image15.png"/><Relationship Id="rId12" Type="http://schemas.openxmlformats.org/officeDocument/2006/relationships/tags" Target="../tags/tag73.xml"/><Relationship Id="rId11" Type="http://schemas.openxmlformats.org/officeDocument/2006/relationships/tags" Target="../tags/tag72.xml"/><Relationship Id="rId10" Type="http://schemas.openxmlformats.org/officeDocument/2006/relationships/tags" Target="../tags/tag71.xml"/><Relationship Id="rId1" Type="http://schemas.openxmlformats.org/officeDocument/2006/relationships/chart" Target="../charts/char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5.xml"/><Relationship Id="rId1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76.xml"/><Relationship Id="rId1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758190" y="1122045"/>
            <a:ext cx="242887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zh-CN" altLang="en-US" sz="3600"/>
              <a:t>封面</a:t>
            </a:r>
            <a:endParaRPr lang="zh-CN" altLang="en-US" sz="3600"/>
          </a:p>
        </p:txBody>
      </p:sp>
      <p:grpSp>
        <p:nvGrpSpPr>
          <p:cNvPr id="5" name="组合 4"/>
          <p:cNvGrpSpPr/>
          <p:nvPr/>
        </p:nvGrpSpPr>
        <p:grpSpPr>
          <a:xfrm>
            <a:off x="6973570" y="462915"/>
            <a:ext cx="5218430" cy="5890895"/>
            <a:chOff x="10982" y="729"/>
            <a:chExt cx="8218" cy="9277"/>
          </a:xfrm>
        </p:grpSpPr>
        <p:pic>
          <p:nvPicPr>
            <p:cNvPr id="2" name="图片 1" descr="截屏2026-06-25 10.06.39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0982" y="729"/>
              <a:ext cx="8218" cy="4669"/>
            </a:xfrm>
            <a:prstGeom prst="rect">
              <a:avLst/>
            </a:prstGeom>
          </p:spPr>
        </p:pic>
        <p:pic>
          <p:nvPicPr>
            <p:cNvPr id="3" name="图片 2" descr="截屏2026-06-25 10.07.0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982" y="5398"/>
              <a:ext cx="8218" cy="4609"/>
            </a:xfrm>
            <a:prstGeom prst="rect">
              <a:avLst/>
            </a:prstGeom>
          </p:spPr>
        </p:pic>
      </p:grpSp>
      <p:sp>
        <p:nvSpPr>
          <p:cNvPr id="6" name="文本框 5"/>
          <p:cNvSpPr txBox="1"/>
          <p:nvPr/>
        </p:nvSpPr>
        <p:spPr>
          <a:xfrm>
            <a:off x="6973570" y="3168015"/>
            <a:ext cx="104521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>
                <a:highlight>
                  <a:srgbClr val="FFFF00"/>
                </a:highlight>
              </a:rPr>
              <a:t>ref</a:t>
            </a:r>
            <a:endParaRPr lang="en-US" altLang="zh-CN" sz="2800">
              <a:highlight>
                <a:srgbClr val="FFFF00"/>
              </a:highlight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72160" y="259143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品牌</a:t>
            </a:r>
            <a:r>
              <a:rPr lang="en-US" altLang="zh-CN"/>
              <a:t>logo x Duomai logo</a:t>
            </a:r>
            <a:r>
              <a:rPr lang="zh-CN" altLang="en-US"/>
              <a:t>（</a:t>
            </a:r>
            <a:r>
              <a:rPr lang="zh-CN" altLang="en-US"/>
              <a:t>图片）</a:t>
            </a:r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772160" y="314896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Weekly Status Update</a:t>
            </a:r>
            <a:endParaRPr lang="en-US" altLang="zh-CN"/>
          </a:p>
        </p:txBody>
      </p:sp>
      <p:sp>
        <p:nvSpPr>
          <p:cNvPr id="9" name="文本框 8"/>
          <p:cNvSpPr txBox="1"/>
          <p:nvPr/>
        </p:nvSpPr>
        <p:spPr>
          <a:xfrm>
            <a:off x="772160" y="370649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时间</a:t>
            </a:r>
            <a:r>
              <a:rPr lang="zh-CN" altLang="en-US"/>
              <a:t>自定义</a:t>
            </a:r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772160" y="2133600"/>
            <a:ext cx="26269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背景</a:t>
            </a:r>
            <a:r>
              <a:rPr lang="zh-CN" altLang="en-US"/>
              <a:t>支持自定义</a:t>
            </a:r>
            <a:endParaRPr lang="en-US" altLang="zh-CN"/>
          </a:p>
        </p:txBody>
      </p:sp>
      <p:sp>
        <p:nvSpPr>
          <p:cNvPr id="11" name="矩形 10"/>
          <p:cNvSpPr/>
          <p:nvPr/>
        </p:nvSpPr>
        <p:spPr>
          <a:xfrm>
            <a:off x="758190" y="2543810"/>
            <a:ext cx="3707765" cy="1699260"/>
          </a:xfrm>
          <a:prstGeom prst="rect">
            <a:avLst/>
          </a:prstGeom>
          <a:noFill/>
          <a:ln w="38100"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6784340" y="4074795"/>
            <a:ext cx="2626360" cy="2176145"/>
          </a:xfrm>
          <a:prstGeom prst="rect">
            <a:avLst/>
          </a:prstGeom>
          <a:noFill/>
          <a:ln w="38100"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3" name="直接箭头连接符 12"/>
          <p:cNvCxnSpPr/>
          <p:nvPr/>
        </p:nvCxnSpPr>
        <p:spPr>
          <a:xfrm>
            <a:off x="4143375" y="3863975"/>
            <a:ext cx="2830195" cy="1769745"/>
          </a:xfrm>
          <a:prstGeom prst="straightConnector1">
            <a:avLst/>
          </a:prstGeom>
          <a:ln w="28575">
            <a:solidFill>
              <a:srgbClr val="C00000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截屏2026-06-25 10.17.4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0590" y="437515"/>
            <a:ext cx="5422900" cy="3052445"/>
          </a:xfrm>
          <a:prstGeom prst="rect">
            <a:avLst/>
          </a:prstGeom>
        </p:spPr>
      </p:pic>
      <p:pic>
        <p:nvPicPr>
          <p:cNvPr id="5" name="图片 4" descr="截屏2026-06-25 10.18.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852035" y="1799590"/>
            <a:ext cx="4763135" cy="267843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2340590" y="-84455"/>
            <a:ext cx="104521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>
                <a:highlight>
                  <a:srgbClr val="FFFF00"/>
                </a:highlight>
              </a:rPr>
              <a:t>ref</a:t>
            </a:r>
            <a:endParaRPr lang="en-US" altLang="zh-CN" sz="2800">
              <a:highlight>
                <a:srgbClr val="FFFF00"/>
              </a:highlight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61290" y="-52705"/>
            <a:ext cx="834517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en-US" altLang="zh-CN" sz="3200"/>
              <a:t>Duomai x </a:t>
            </a:r>
            <a:r>
              <a:rPr lang="zh-CN" altLang="en-US" sz="3200"/>
              <a:t>品牌</a:t>
            </a:r>
            <a:r>
              <a:rPr lang="en-US" altLang="zh-CN" sz="3200"/>
              <a:t> </a:t>
            </a:r>
            <a:r>
              <a:rPr lang="en-US" altLang="zh-CN" sz="3200"/>
              <a:t>Performance Overview</a:t>
            </a:r>
            <a:endParaRPr lang="en-US" altLang="zh-CN" sz="3200"/>
          </a:p>
        </p:txBody>
      </p:sp>
      <p:sp>
        <p:nvSpPr>
          <p:cNvPr id="9" name="圆角矩形 8"/>
          <p:cNvSpPr/>
          <p:nvPr/>
        </p:nvSpPr>
        <p:spPr>
          <a:xfrm>
            <a:off x="255270" y="2602865"/>
            <a:ext cx="4315460" cy="3867150"/>
          </a:xfrm>
          <a:prstGeom prst="roundRect">
            <a:avLst>
              <a:gd name="adj" fmla="val 0"/>
            </a:avLst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lnSpc>
                <a:spcPct val="0"/>
              </a:lnSpc>
            </a:pPr>
            <a:r>
              <a:rPr lang="zh-CN" altLang="en-US" sz="2000">
                <a:solidFill>
                  <a:schemeClr val="tx1"/>
                </a:solidFill>
              </a:rPr>
              <a:t>大数字部分（图标</a:t>
            </a:r>
            <a:r>
              <a:rPr lang="en-US" altLang="zh-CN" sz="2000">
                <a:solidFill>
                  <a:schemeClr val="tx1"/>
                </a:solidFill>
              </a:rPr>
              <a:t>+</a:t>
            </a:r>
            <a:r>
              <a:rPr lang="zh-CN" altLang="en-US" sz="2000">
                <a:solidFill>
                  <a:schemeClr val="tx1"/>
                </a:solidFill>
              </a:rPr>
              <a:t>文字</a:t>
            </a:r>
            <a:r>
              <a:rPr lang="en-US" altLang="zh-CN" sz="2000">
                <a:solidFill>
                  <a:schemeClr val="tx1"/>
                </a:solidFill>
              </a:rPr>
              <a:t>+</a:t>
            </a:r>
            <a:r>
              <a:rPr lang="zh-CN" altLang="en-US" sz="2000">
                <a:solidFill>
                  <a:schemeClr val="tx1"/>
                </a:solidFill>
              </a:rPr>
              <a:t>数据）</a:t>
            </a:r>
            <a:endParaRPr lang="zh-CN" altLang="en-US" sz="2000">
              <a:solidFill>
                <a:schemeClr val="tx1"/>
              </a:solidFill>
            </a:endParaRPr>
          </a:p>
        </p:txBody>
      </p:sp>
      <p:sp>
        <p:nvSpPr>
          <p:cNvPr id="14" name="圆角矩形 13"/>
          <p:cNvSpPr/>
          <p:nvPr/>
        </p:nvSpPr>
        <p:spPr>
          <a:xfrm>
            <a:off x="12340590" y="2062480"/>
            <a:ext cx="2113280" cy="1419860"/>
          </a:xfrm>
          <a:prstGeom prst="roundRect">
            <a:avLst/>
          </a:prstGeom>
          <a:noFill/>
          <a:ln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圆角矩形 17"/>
          <p:cNvSpPr/>
          <p:nvPr/>
        </p:nvSpPr>
        <p:spPr>
          <a:xfrm>
            <a:off x="-3714115" y="2715895"/>
            <a:ext cx="2319020" cy="521335"/>
          </a:xfrm>
          <a:prstGeom prst="roundRect">
            <a:avLst/>
          </a:prstGeom>
          <a:noFill/>
          <a:ln w="28575">
            <a:solidFill>
              <a:schemeClr val="accent6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9" name="直接箭头连接符 18"/>
          <p:cNvCxnSpPr>
            <a:endCxn id="18" idx="3"/>
          </p:cNvCxnSpPr>
          <p:nvPr/>
        </p:nvCxnSpPr>
        <p:spPr>
          <a:xfrm flipH="1" flipV="1">
            <a:off x="-1395095" y="2976880"/>
            <a:ext cx="2122170" cy="1173480"/>
          </a:xfrm>
          <a:prstGeom prst="straightConnector1">
            <a:avLst/>
          </a:prstGeom>
          <a:ln w="28575"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1" name="文本框 20"/>
          <p:cNvSpPr txBox="1"/>
          <p:nvPr/>
        </p:nvSpPr>
        <p:spPr>
          <a:xfrm>
            <a:off x="-1823085" y="1540510"/>
            <a:ext cx="77787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>
                <a:highlight>
                  <a:srgbClr val="FFFF00"/>
                </a:highlight>
              </a:rPr>
              <a:t>ref</a:t>
            </a:r>
            <a:endParaRPr lang="en-US" altLang="zh-CN" sz="2800">
              <a:highlight>
                <a:srgbClr val="FFFF00"/>
              </a:highlight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161290" y="4745990"/>
            <a:ext cx="4220845" cy="11684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highlight>
                  <a:srgbClr val="00FF00"/>
                </a:highlight>
              </a:rPr>
              <a:t>大数字：</a:t>
            </a:r>
            <a:endParaRPr lang="zh-CN" altLang="en-US" sz="1400">
              <a:highlight>
                <a:srgbClr val="00FF00"/>
              </a:highlight>
            </a:endParaRPr>
          </a:p>
          <a:p>
            <a:r>
              <a:rPr lang="en-US" altLang="zh-CN" sz="1400">
                <a:highlight>
                  <a:srgbClr val="00FF00"/>
                </a:highlight>
              </a:rPr>
              <a:t>Sales</a:t>
            </a:r>
            <a:r>
              <a:rPr lang="zh-CN" altLang="en-US" sz="1400">
                <a:highlight>
                  <a:srgbClr val="00FF00"/>
                </a:highlight>
              </a:rPr>
              <a:t>，</a:t>
            </a:r>
            <a:r>
              <a:rPr lang="en-US" altLang="zh-CN" sz="1400">
                <a:highlight>
                  <a:srgbClr val="00FF00"/>
                </a:highlight>
              </a:rPr>
              <a:t>Commission</a:t>
            </a:r>
            <a:r>
              <a:rPr lang="zh-CN" altLang="en-US" sz="1400">
                <a:highlight>
                  <a:srgbClr val="00FF00"/>
                </a:highlight>
              </a:rPr>
              <a:t>，</a:t>
            </a:r>
            <a:r>
              <a:rPr lang="en-US" altLang="zh-CN" sz="1400">
                <a:highlight>
                  <a:srgbClr val="00FF00"/>
                </a:highlight>
              </a:rPr>
              <a:t>Flat Fee,  Conversion Rate</a:t>
            </a:r>
            <a:r>
              <a:rPr lang="zh-CN" altLang="en-US" sz="1400">
                <a:highlight>
                  <a:srgbClr val="00FF00"/>
                </a:highlight>
              </a:rPr>
              <a:t>，</a:t>
            </a:r>
            <a:r>
              <a:rPr lang="en-US" altLang="zh-CN" sz="1400">
                <a:highlight>
                  <a:srgbClr val="00FF00"/>
                </a:highlight>
              </a:rPr>
              <a:t>Total Reach</a:t>
            </a:r>
            <a:r>
              <a:rPr lang="zh-CN" altLang="en-US" sz="1400">
                <a:highlight>
                  <a:srgbClr val="00FF00"/>
                </a:highlight>
              </a:rPr>
              <a:t>，</a:t>
            </a:r>
            <a:r>
              <a:rPr lang="en-US" altLang="zh-CN" sz="1400">
                <a:highlight>
                  <a:srgbClr val="00FF00"/>
                </a:highlight>
              </a:rPr>
              <a:t>New Customer Rate, of Collaboration</a:t>
            </a:r>
            <a:r>
              <a:rPr lang="zh-CN" altLang="en-US" sz="1400">
                <a:highlight>
                  <a:srgbClr val="00FF00"/>
                </a:highlight>
              </a:rPr>
              <a:t>，</a:t>
            </a:r>
            <a:r>
              <a:rPr lang="en-US" altLang="zh-CN" sz="1400">
                <a:highlight>
                  <a:srgbClr val="00FF00"/>
                </a:highlight>
              </a:rPr>
              <a:t>Clicks,Orders, </a:t>
            </a:r>
            <a:r>
              <a:rPr lang="zh-CN" altLang="en-US" sz="1400">
                <a:highlight>
                  <a:srgbClr val="00FF00"/>
                </a:highlight>
              </a:rPr>
              <a:t>自定义文本内容</a:t>
            </a:r>
            <a:endParaRPr lang="en-US" altLang="zh-CN" sz="1400">
              <a:highlight>
                <a:srgbClr val="00FF00"/>
              </a:highlight>
            </a:endParaRPr>
          </a:p>
          <a:p>
            <a:endParaRPr lang="en-US" altLang="zh-CN" sz="1400">
              <a:highlight>
                <a:srgbClr val="00FF00"/>
              </a:highlight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161290" y="437515"/>
            <a:ext cx="22936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en-US" altLang="zh-CN" sz="2400"/>
              <a:t>Timeline:</a:t>
            </a:r>
            <a:endParaRPr lang="en-US" altLang="zh-CN" sz="2400"/>
          </a:p>
        </p:txBody>
      </p:sp>
      <p:graphicFrame>
        <p:nvGraphicFramePr>
          <p:cNvPr id="29" name="表格 28"/>
          <p:cNvGraphicFramePr/>
          <p:nvPr>
            <p:custDataLst>
              <p:tags r:id="rId3"/>
            </p:custDataLst>
          </p:nvPr>
        </p:nvGraphicFramePr>
        <p:xfrm>
          <a:off x="4707255" y="2602865"/>
          <a:ext cx="7099935" cy="3867150"/>
        </p:xfrm>
        <a:graphic>
          <a:graphicData uri="http://schemas.openxmlformats.org/drawingml/2006/table">
            <a:tbl>
              <a:tblPr/>
              <a:tblGrid>
                <a:gridCol w="1951355"/>
                <a:gridCol w="1322705"/>
                <a:gridCol w="1560830"/>
                <a:gridCol w="2265045"/>
              </a:tblGrid>
              <a:tr h="1125855">
                <a:tc>
                  <a:txBody>
                    <a:bodyPr/>
                    <a:p>
                      <a:pPr algn="ctr" fontAlgn="ctr" latinLnBrk="0"/>
                      <a:r>
                        <a:rPr lang="en-US" altLang="zh-CN" sz="1000" b="1" i="0">
                          <a:solidFill>
                            <a:srgbClr val="000000"/>
                          </a:solidFill>
                        </a:rPr>
                        <a:t>Metric</a:t>
                      </a:r>
                      <a:endParaRPr lang="en-US" altLang="zh-CN" sz="1000" b="1" i="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 latinLnBrk="0"/>
                      <a:r>
                        <a:rPr lang="en-US" altLang="zh-CN" sz="1000" b="1" i="0">
                          <a:solidFill>
                            <a:srgbClr val="000000"/>
                          </a:solidFill>
                        </a:rPr>
                        <a:t>Current Period</a:t>
                      </a:r>
                      <a:br>
                        <a:rPr lang="en-US" altLang="zh-CN" sz="1000" b="1" i="0">
                          <a:solidFill>
                            <a:srgbClr val="000000"/>
                          </a:solidFill>
                        </a:rPr>
                      </a:br>
                      <a:r>
                        <a:rPr lang="en-US" altLang="zh-CN" sz="1000" b="1" i="0">
                          <a:solidFill>
                            <a:srgbClr val="000000"/>
                          </a:solidFill>
                        </a:rPr>
                        <a:t>[Start Date] – [End Date]</a:t>
                      </a:r>
                      <a:endParaRPr lang="en-US" altLang="zh-CN" sz="1000" b="1" i="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 latinLnBrk="0"/>
                      <a:r>
                        <a:rPr lang="en-US" altLang="zh-CN" sz="1000" b="1" i="0">
                          <a:solidFill>
                            <a:srgbClr val="000000"/>
                          </a:solidFill>
                        </a:rPr>
                        <a:t>vs. Previous Period</a:t>
                      </a:r>
                      <a:br>
                        <a:rPr lang="en-US" altLang="zh-CN" sz="1000" b="1" i="0">
                          <a:solidFill>
                            <a:srgbClr val="000000"/>
                          </a:solidFill>
                        </a:rPr>
                      </a:br>
                      <a:r>
                        <a:rPr lang="en-US" altLang="zh-CN" sz="1000" b="1" i="0">
                          <a:solidFill>
                            <a:srgbClr val="000000"/>
                          </a:solidFill>
                        </a:rPr>
                        <a:t>[Start Date] – [End Date]</a:t>
                      </a:r>
                      <a:endParaRPr lang="en-US" altLang="zh-CN" sz="1000" b="1" i="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 latinLnBrk="0"/>
                      <a:r>
                        <a:rPr lang="en-US" altLang="zh-CN" sz="1000" b="1" i="0">
                          <a:solidFill>
                            <a:srgbClr val="000000"/>
                          </a:solidFill>
                        </a:rPr>
                        <a:t>Status</a:t>
                      </a:r>
                      <a:endParaRPr lang="en-US" altLang="zh-CN" sz="1000" b="1" i="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914400">
                <a:tc>
                  <a:txBody>
                    <a:bodyPr/>
                    <a:p>
                      <a:pPr algn="ctr" fontAlgn="ctr" latinLnBrk="0"/>
                      <a:r>
                        <a:rPr lang="en-US" altLang="zh-CN" sz="1000" b="1" i="0">
                          <a:solidFill>
                            <a:srgbClr val="000000"/>
                          </a:solidFill>
                        </a:rPr>
                        <a:t>Total Sales</a:t>
                      </a:r>
                      <a:endParaRPr lang="en-US" altLang="zh-CN" sz="1000" b="1" i="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 latinLnBrk="0"/>
                      <a:endParaRPr sz="1000" b="0" i="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 latinLnBrk="0"/>
                      <a:endParaRPr sz="1000" b="0" i="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 latinLnBrk="0"/>
                      <a:r>
                        <a:rPr lang="en-US" altLang="zh-CN" sz="1000" b="0" i="0">
                          <a:solidFill>
                            <a:srgbClr val="000000"/>
                          </a:solidFill>
                        </a:rPr>
                        <a:t>Optimized</a:t>
                      </a:r>
                      <a:endParaRPr lang="en-US" altLang="zh-CN" sz="1000" b="0" i="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912495">
                <a:tc>
                  <a:txBody>
                    <a:bodyPr/>
                    <a:p>
                      <a:pPr algn="ctr" fontAlgn="ctr" latinLnBrk="0"/>
                      <a:r>
                        <a:rPr lang="en-US" altLang="zh-CN" sz="1000" b="1" i="0">
                          <a:solidFill>
                            <a:srgbClr val="000000"/>
                          </a:solidFill>
                        </a:rPr>
                        <a:t>Total Reach/Impression</a:t>
                      </a:r>
                      <a:endParaRPr lang="en-US" altLang="zh-CN" sz="1000" b="1" i="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 latinLnBrk="0"/>
                      <a:r>
                        <a:rPr lang="en-US" altLang="zh-CN" sz="1000" b="0" i="0">
                          <a:solidFill>
                            <a:srgbClr val="000000"/>
                          </a:solidFill>
                        </a:rPr>
                        <a:t>1.2M</a:t>
                      </a:r>
                      <a:endParaRPr lang="en-US" altLang="zh-CN" sz="1000" b="0" i="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 latinLnBrk="0"/>
                      <a:r>
                        <a:rPr lang="en-US" altLang="zh-CN" sz="1000" b="0" i="0">
                          <a:solidFill>
                            <a:srgbClr val="000000"/>
                          </a:solidFill>
                        </a:rPr>
                        <a:t>+15% </a:t>
                      </a:r>
                      <a:r>
                        <a:rPr lang="zh-CN" altLang="en-US" sz="1000" b="0" i="0">
                          <a:solidFill>
                            <a:srgbClr val="000000"/>
                          </a:solidFill>
                        </a:rPr>
                        <a:t>📈</a:t>
                      </a:r>
                      <a:endParaRPr lang="zh-CN" altLang="en-US" sz="1000" b="0" i="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 latinLnBrk="0"/>
                      <a:r>
                        <a:rPr lang="en-US" altLang="zh-CN" sz="1000" b="0" i="0">
                          <a:solidFill>
                            <a:srgbClr val="000000"/>
                          </a:solidFill>
                        </a:rPr>
                        <a:t>Exceeded</a:t>
                      </a:r>
                      <a:endParaRPr lang="en-US" altLang="zh-CN" sz="1000" b="0" i="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914400">
                <a:tc>
                  <a:txBody>
                    <a:bodyPr/>
                    <a:p>
                      <a:pPr algn="ctr" fontAlgn="ctr" latinLnBrk="0"/>
                      <a:r>
                        <a:rPr lang="en-US" altLang="zh-CN" sz="1000" b="1" i="0">
                          <a:solidFill>
                            <a:srgbClr val="000000"/>
                          </a:solidFill>
                        </a:rPr>
                        <a:t>Conversion Rate (CVR)</a:t>
                      </a:r>
                      <a:endParaRPr lang="en-US" altLang="zh-CN" sz="1000" b="1" i="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 latinLnBrk="0"/>
                      <a:r>
                        <a:rPr lang="en-US" altLang="zh-CN" sz="1000" b="0" i="0">
                          <a:solidFill>
                            <a:srgbClr val="000000"/>
                          </a:solidFill>
                        </a:rPr>
                        <a:t>3.50%</a:t>
                      </a:r>
                      <a:endParaRPr lang="en-US" altLang="zh-CN" sz="1000" b="0" i="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 latinLnBrk="0"/>
                      <a:r>
                        <a:rPr lang="en-US" altLang="zh-CN" sz="1000" b="0" i="0">
                          <a:solidFill>
                            <a:srgbClr val="000000"/>
                          </a:solidFill>
                        </a:rPr>
                        <a:t>-0.2% </a:t>
                      </a:r>
                      <a:r>
                        <a:rPr lang="zh-CN" altLang="en-US" sz="1000" b="0" i="0">
                          <a:solidFill>
                            <a:srgbClr val="000000"/>
                          </a:solidFill>
                        </a:rPr>
                        <a:t>📉</a:t>
                      </a:r>
                      <a:endParaRPr lang="zh-CN" altLang="en-US" sz="1000" b="0" i="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 latinLnBrk="0"/>
                      <a:r>
                        <a:rPr lang="en-US" altLang="zh-CN" sz="1000" b="0" i="0">
                          <a:solidFill>
                            <a:srgbClr val="000000"/>
                          </a:solidFill>
                        </a:rPr>
                        <a:t>Stable</a:t>
                      </a:r>
                      <a:endParaRPr lang="en-US" altLang="zh-CN" sz="1000" b="0" i="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0" name="圆角矩形 29"/>
          <p:cNvSpPr/>
          <p:nvPr/>
        </p:nvSpPr>
        <p:spPr>
          <a:xfrm>
            <a:off x="255905" y="1229995"/>
            <a:ext cx="11597005" cy="1054100"/>
          </a:xfrm>
          <a:prstGeom prst="roundRect">
            <a:avLst>
              <a:gd name="adj" fmla="val 0"/>
            </a:avLst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en-US" altLang="zh-CN" sz="3200">
                <a:solidFill>
                  <a:schemeClr val="tx1"/>
                </a:solidFill>
              </a:rPr>
              <a:t>Insight</a:t>
            </a:r>
            <a:r>
              <a:rPr lang="zh-CN" altLang="en-US" sz="3200">
                <a:solidFill>
                  <a:schemeClr val="tx1"/>
                </a:solidFill>
              </a:rPr>
              <a:t>（</a:t>
            </a:r>
            <a:r>
              <a:rPr lang="zh-CN" altLang="en-US" sz="3200">
                <a:solidFill>
                  <a:schemeClr val="tx1"/>
                </a:solidFill>
              </a:rPr>
              <a:t>纯文字）</a:t>
            </a:r>
            <a:endParaRPr lang="zh-CN" altLang="en-US" sz="3200">
              <a:solidFill>
                <a:schemeClr val="tx1"/>
              </a:solidFill>
            </a:endParaRPr>
          </a:p>
        </p:txBody>
      </p:sp>
      <p:cxnSp>
        <p:nvCxnSpPr>
          <p:cNvPr id="31" name="直接箭头连接符 30"/>
          <p:cNvCxnSpPr/>
          <p:nvPr/>
        </p:nvCxnSpPr>
        <p:spPr>
          <a:xfrm flipH="1">
            <a:off x="-1045210" y="2018665"/>
            <a:ext cx="1991360" cy="302260"/>
          </a:xfrm>
          <a:prstGeom prst="straightConnector1">
            <a:avLst/>
          </a:prstGeom>
          <a:ln w="28575"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2" name="圆角矩形 11"/>
          <p:cNvSpPr/>
          <p:nvPr/>
        </p:nvSpPr>
        <p:spPr>
          <a:xfrm>
            <a:off x="7743190" y="777240"/>
            <a:ext cx="4064000" cy="1635760"/>
          </a:xfrm>
          <a:prstGeom prst="roundRect">
            <a:avLst>
              <a:gd name="adj" fmla="val 0"/>
            </a:avLst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3200">
                <a:solidFill>
                  <a:schemeClr val="tx1"/>
                </a:solidFill>
              </a:rPr>
              <a:t>（其他图表</a:t>
            </a:r>
            <a:r>
              <a:rPr lang="zh-CN" altLang="en-US" sz="3200">
                <a:solidFill>
                  <a:schemeClr val="tx1"/>
                </a:solidFill>
              </a:rPr>
              <a:t>内容）</a:t>
            </a:r>
            <a:endParaRPr lang="zh-CN" altLang="en-US" sz="3200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9104630" y="-84455"/>
            <a:ext cx="2775585" cy="1934210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noAutofit/>
          </a:bodyPr>
          <a:p>
            <a:pPr>
              <a:lnSpc>
                <a:spcPct val="150000"/>
              </a:lnSpc>
            </a:pPr>
            <a:r>
              <a:rPr lang="en-US" altLang="zh-CN" sz="1400"/>
              <a:t>Sales performance</a:t>
            </a:r>
            <a:r>
              <a:rPr lang="zh-CN" altLang="en-US" sz="1400"/>
              <a:t>：</a:t>
            </a:r>
            <a:endParaRPr lang="zh-CN" altLang="en-US" sz="1400"/>
          </a:p>
          <a:p>
            <a:pPr>
              <a:lnSpc>
                <a:spcPct val="150000"/>
              </a:lnSpc>
            </a:pPr>
            <a:r>
              <a:rPr lang="en-US" altLang="zh-CN" sz="1400"/>
              <a:t>- </a:t>
            </a:r>
            <a:r>
              <a:rPr lang="zh-CN" altLang="en-US" sz="1400"/>
              <a:t>大数字</a:t>
            </a:r>
            <a:endParaRPr lang="zh-CN" altLang="en-US" sz="1400"/>
          </a:p>
          <a:p>
            <a:pPr>
              <a:lnSpc>
                <a:spcPct val="150000"/>
              </a:lnSpc>
            </a:pPr>
            <a:r>
              <a:rPr lang="en-US" altLang="zh-CN" sz="1400"/>
              <a:t>- </a:t>
            </a:r>
            <a:r>
              <a:rPr lang="zh-CN" altLang="en-US" sz="1400"/>
              <a:t>两个图表（基础版本用到一个表，也需要支持多</a:t>
            </a:r>
            <a:r>
              <a:rPr lang="zh-CN" altLang="en-US" sz="1400"/>
              <a:t>图表插入）</a:t>
            </a:r>
            <a:endParaRPr lang="zh-CN" altLang="en-US" sz="1400"/>
          </a:p>
          <a:p>
            <a:pPr>
              <a:lnSpc>
                <a:spcPct val="150000"/>
              </a:lnSpc>
            </a:pPr>
            <a:r>
              <a:rPr lang="en-US" altLang="zh-CN" sz="1400"/>
              <a:t>- Insight</a:t>
            </a:r>
            <a:endParaRPr lang="zh-CN" altLang="en-US" sz="1400"/>
          </a:p>
          <a:p>
            <a:pPr>
              <a:lnSpc>
                <a:spcPct val="150000"/>
              </a:lnSpc>
            </a:pPr>
            <a:r>
              <a:rPr lang="en-US" altLang="zh-CN" sz="1400"/>
              <a:t>- Opportunity</a:t>
            </a:r>
            <a:endParaRPr lang="en-US" altLang="zh-CN" sz="1400"/>
          </a:p>
        </p:txBody>
      </p:sp>
    </p:spTree>
    <p:custDataLst>
      <p:tags r:id="rId4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0" y="-683895"/>
            <a:ext cx="5771515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en-US" altLang="zh-CN"/>
              <a:t>Breakdown - Influencers</a:t>
            </a:r>
            <a:r>
              <a:rPr lang="zh-CN" altLang="en-US"/>
              <a:t>，</a:t>
            </a:r>
            <a:r>
              <a:rPr lang="en-US" altLang="zh-CN"/>
              <a:t>Content Site</a:t>
            </a:r>
            <a:r>
              <a:rPr lang="zh-CN" altLang="en-US"/>
              <a:t>，</a:t>
            </a:r>
            <a:r>
              <a:rPr lang="en-US" altLang="zh-CN"/>
              <a:t>reddit</a:t>
            </a:r>
            <a:r>
              <a:rPr lang="zh-CN" altLang="en-US"/>
              <a:t>，</a:t>
            </a:r>
            <a:r>
              <a:rPr lang="en-US" altLang="zh-CN"/>
              <a:t>FB</a:t>
            </a:r>
            <a:endParaRPr lang="en-US" altLang="zh-CN"/>
          </a:p>
        </p:txBody>
      </p:sp>
      <p:sp>
        <p:nvSpPr>
          <p:cNvPr id="8" name="文本框 7"/>
          <p:cNvSpPr txBox="1"/>
          <p:nvPr/>
        </p:nvSpPr>
        <p:spPr>
          <a:xfrm>
            <a:off x="229235" y="13335"/>
            <a:ext cx="778446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00000"/>
              </a:lnSpc>
            </a:pPr>
            <a:r>
              <a:rPr lang="en-US" altLang="zh-CN" sz="3200"/>
              <a:t>Performance Review by Channels - </a:t>
            </a:r>
            <a:r>
              <a:rPr lang="en-US" altLang="zh-CN" sz="1600"/>
              <a:t>Content Sites / Reddit / Influencer(</a:t>
            </a:r>
            <a:r>
              <a:rPr lang="zh-CN" altLang="en-US" sz="1400"/>
              <a:t>简易版</a:t>
            </a:r>
            <a:r>
              <a:rPr lang="en-US" altLang="zh-CN" sz="1400"/>
              <a:t>)</a:t>
            </a:r>
            <a:endParaRPr lang="en-US" altLang="zh-CN" sz="1400"/>
          </a:p>
        </p:txBody>
      </p:sp>
      <p:grpSp>
        <p:nvGrpSpPr>
          <p:cNvPr id="14" name="组合 13"/>
          <p:cNvGrpSpPr/>
          <p:nvPr/>
        </p:nvGrpSpPr>
        <p:grpSpPr>
          <a:xfrm>
            <a:off x="8162925" y="13335"/>
            <a:ext cx="4032250" cy="6841490"/>
            <a:chOff x="12855" y="21"/>
            <a:chExt cx="6350" cy="10774"/>
          </a:xfrm>
        </p:grpSpPr>
        <p:grpSp>
          <p:nvGrpSpPr>
            <p:cNvPr id="12" name="组合 11"/>
            <p:cNvGrpSpPr/>
            <p:nvPr/>
          </p:nvGrpSpPr>
          <p:grpSpPr>
            <a:xfrm>
              <a:off x="12855" y="21"/>
              <a:ext cx="6351" cy="10774"/>
              <a:chOff x="12855" y="21"/>
              <a:chExt cx="6351" cy="10774"/>
            </a:xfrm>
          </p:grpSpPr>
          <p:pic>
            <p:nvPicPr>
              <p:cNvPr id="2" name="图片 1" descr="截屏2026-06-25 11.19.17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12862" y="21"/>
                <a:ext cx="6345" cy="3550"/>
              </a:xfrm>
              <a:prstGeom prst="rect">
                <a:avLst/>
              </a:prstGeom>
            </p:spPr>
          </p:pic>
          <p:pic>
            <p:nvPicPr>
              <p:cNvPr id="3" name="图片 2" descr="截屏2026-06-25 11.20.17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2855" y="3603"/>
                <a:ext cx="6345" cy="3564"/>
              </a:xfrm>
              <a:prstGeom prst="rect">
                <a:avLst/>
              </a:prstGeom>
            </p:spPr>
          </p:pic>
          <p:pic>
            <p:nvPicPr>
              <p:cNvPr id="6" name="图片 5" descr="截屏2026-06-25 11.24.50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862" y="7199"/>
                <a:ext cx="6345" cy="3596"/>
              </a:xfrm>
              <a:prstGeom prst="rect">
                <a:avLst/>
              </a:prstGeom>
            </p:spPr>
          </p:pic>
          <p:sp>
            <p:nvSpPr>
              <p:cNvPr id="9" name="圆角矩形 8"/>
              <p:cNvSpPr/>
              <p:nvPr/>
            </p:nvSpPr>
            <p:spPr>
              <a:xfrm>
                <a:off x="14209" y="112"/>
                <a:ext cx="1700" cy="382"/>
              </a:xfrm>
              <a:prstGeom prst="roundRect">
                <a:avLst/>
              </a:prstGeom>
              <a:noFill/>
              <a:ln w="28575">
                <a:solidFill>
                  <a:schemeClr val="accent6">
                    <a:lumMod val="75000"/>
                  </a:schemeClr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0" name="圆角矩形 9"/>
              <p:cNvSpPr/>
              <p:nvPr/>
            </p:nvSpPr>
            <p:spPr>
              <a:xfrm>
                <a:off x="14293" y="3655"/>
                <a:ext cx="1700" cy="382"/>
              </a:xfrm>
              <a:prstGeom prst="roundRect">
                <a:avLst/>
              </a:prstGeom>
              <a:noFill/>
              <a:ln w="28575">
                <a:solidFill>
                  <a:schemeClr val="accent6">
                    <a:lumMod val="75000"/>
                  </a:schemeClr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1" name="圆角矩形 10"/>
              <p:cNvSpPr/>
              <p:nvPr/>
            </p:nvSpPr>
            <p:spPr>
              <a:xfrm>
                <a:off x="15684" y="7282"/>
                <a:ext cx="1700" cy="382"/>
              </a:xfrm>
              <a:prstGeom prst="roundRect">
                <a:avLst/>
              </a:prstGeom>
              <a:noFill/>
              <a:ln w="28575">
                <a:solidFill>
                  <a:schemeClr val="accent6">
                    <a:lumMod val="75000"/>
                  </a:schemeClr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sp>
          <p:nvSpPr>
            <p:cNvPr id="13" name="文本框 12"/>
            <p:cNvSpPr txBox="1"/>
            <p:nvPr/>
          </p:nvSpPr>
          <p:spPr>
            <a:xfrm>
              <a:off x="12862" y="2833"/>
              <a:ext cx="1646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2800">
                  <a:highlight>
                    <a:srgbClr val="FFFF00"/>
                  </a:highlight>
                </a:rPr>
                <a:t>ref</a:t>
              </a:r>
              <a:endParaRPr lang="en-US" altLang="zh-CN" sz="2800">
                <a:highlight>
                  <a:srgbClr val="FFFF00"/>
                </a:highlight>
              </a:endParaRPr>
            </a:p>
          </p:txBody>
        </p:sp>
      </p:grpSp>
      <p:sp>
        <p:nvSpPr>
          <p:cNvPr id="15" name="圆角矩形 14"/>
          <p:cNvSpPr/>
          <p:nvPr/>
        </p:nvSpPr>
        <p:spPr>
          <a:xfrm>
            <a:off x="304165" y="1692910"/>
            <a:ext cx="3041015" cy="4419600"/>
          </a:xfrm>
          <a:prstGeom prst="roundRect">
            <a:avLst>
              <a:gd name="adj" fmla="val 0"/>
            </a:avLst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800">
                <a:solidFill>
                  <a:schemeClr val="tx1"/>
                </a:solidFill>
              </a:rPr>
              <a:t>Post</a:t>
            </a:r>
            <a:endParaRPr lang="en-US" altLang="zh-CN" sz="2800">
              <a:solidFill>
                <a:schemeClr val="tx1"/>
              </a:solidFill>
            </a:endParaRPr>
          </a:p>
        </p:txBody>
      </p:sp>
      <p:sp>
        <p:nvSpPr>
          <p:cNvPr id="16" name="圆角矩形 15"/>
          <p:cNvSpPr/>
          <p:nvPr/>
        </p:nvSpPr>
        <p:spPr>
          <a:xfrm>
            <a:off x="304165" y="977900"/>
            <a:ext cx="3041015" cy="605155"/>
          </a:xfrm>
          <a:prstGeom prst="roundRect">
            <a:avLst>
              <a:gd name="adj" fmla="val 0"/>
            </a:avLst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800">
                <a:solidFill>
                  <a:schemeClr val="tx1"/>
                </a:solidFill>
              </a:rPr>
              <a:t>ID/Web</a:t>
            </a:r>
            <a:endParaRPr lang="en-US" altLang="zh-CN" sz="2800">
              <a:solidFill>
                <a:schemeClr val="tx1"/>
              </a:solidFill>
            </a:endParaRPr>
          </a:p>
        </p:txBody>
      </p:sp>
      <p:sp>
        <p:nvSpPr>
          <p:cNvPr id="17" name="圆角矩形 16"/>
          <p:cNvSpPr/>
          <p:nvPr/>
        </p:nvSpPr>
        <p:spPr>
          <a:xfrm>
            <a:off x="304165" y="6222365"/>
            <a:ext cx="3041015" cy="318135"/>
          </a:xfrm>
          <a:prstGeom prst="roundRect">
            <a:avLst>
              <a:gd name="adj" fmla="val 0"/>
            </a:avLst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600">
                <a:solidFill>
                  <a:schemeClr val="tx1"/>
                </a:solidFill>
              </a:rPr>
              <a:t>Link</a:t>
            </a:r>
            <a:endParaRPr lang="en-US" altLang="zh-CN" sz="1600">
              <a:solidFill>
                <a:schemeClr val="tx1"/>
              </a:solidFill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0" y="-633095"/>
            <a:ext cx="4490085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en-US" altLang="zh-CN"/>
              <a:t>Breakdown - DM Placement </a:t>
            </a:r>
            <a:r>
              <a:rPr lang="en-US" altLang="zh-CN"/>
              <a:t>Display</a:t>
            </a:r>
            <a:endParaRPr lang="en-US" altLang="zh-CN"/>
          </a:p>
        </p:txBody>
      </p:sp>
      <p:sp>
        <p:nvSpPr>
          <p:cNvPr id="8" name="文本框 7"/>
          <p:cNvSpPr txBox="1"/>
          <p:nvPr/>
        </p:nvSpPr>
        <p:spPr>
          <a:xfrm>
            <a:off x="137160" y="0"/>
            <a:ext cx="487362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en-US" altLang="zh-CN" sz="3200">
                <a:sym typeface="+mn-ea"/>
              </a:rPr>
              <a:t>DM Placement Display</a:t>
            </a:r>
            <a:endParaRPr lang="en-US" altLang="zh-CN" sz="3200"/>
          </a:p>
        </p:txBody>
      </p:sp>
      <p:sp>
        <p:nvSpPr>
          <p:cNvPr id="15" name="圆角矩形 14"/>
          <p:cNvSpPr/>
          <p:nvPr/>
        </p:nvSpPr>
        <p:spPr>
          <a:xfrm>
            <a:off x="304165" y="1927860"/>
            <a:ext cx="3536950" cy="4515485"/>
          </a:xfrm>
          <a:prstGeom prst="roundRect">
            <a:avLst>
              <a:gd name="adj" fmla="val 0"/>
            </a:avLst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800">
                <a:solidFill>
                  <a:schemeClr val="tx1"/>
                </a:solidFill>
              </a:rPr>
              <a:t>广告位</a:t>
            </a:r>
            <a:r>
              <a:rPr lang="zh-CN" altLang="en-US" sz="2800">
                <a:solidFill>
                  <a:schemeClr val="tx1"/>
                </a:solidFill>
              </a:rPr>
              <a:t>截图</a:t>
            </a:r>
            <a:endParaRPr lang="zh-CN" altLang="en-US" sz="2800">
              <a:solidFill>
                <a:schemeClr val="tx1"/>
              </a:solidFill>
            </a:endParaRPr>
          </a:p>
        </p:txBody>
      </p:sp>
      <p:sp>
        <p:nvSpPr>
          <p:cNvPr id="16" name="圆角矩形 15"/>
          <p:cNvSpPr/>
          <p:nvPr/>
        </p:nvSpPr>
        <p:spPr>
          <a:xfrm>
            <a:off x="304165" y="1122680"/>
            <a:ext cx="3536950" cy="605155"/>
          </a:xfrm>
          <a:prstGeom prst="roundRect">
            <a:avLst>
              <a:gd name="adj" fmla="val 0"/>
            </a:avLst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800">
                <a:solidFill>
                  <a:schemeClr val="tx1"/>
                </a:solidFill>
              </a:rPr>
              <a:t>广告位</a:t>
            </a:r>
            <a:r>
              <a:rPr lang="zh-CN" altLang="en-US" sz="2800">
                <a:solidFill>
                  <a:schemeClr val="tx1"/>
                </a:solidFill>
              </a:rPr>
              <a:t>名称</a:t>
            </a:r>
            <a:endParaRPr lang="zh-CN" altLang="en-US" sz="2800">
              <a:solidFill>
                <a:schemeClr val="tx1"/>
              </a:solidFill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6729730" y="563880"/>
            <a:ext cx="5012690" cy="5742305"/>
            <a:chOff x="12425" y="448"/>
            <a:chExt cx="7894" cy="9043"/>
          </a:xfrm>
        </p:grpSpPr>
        <p:pic>
          <p:nvPicPr>
            <p:cNvPr id="2" name="图片 1" descr="截屏2026-06-25 11.39.02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2425" y="448"/>
              <a:ext cx="7894" cy="4537"/>
            </a:xfrm>
            <a:prstGeom prst="rect">
              <a:avLst/>
            </a:prstGeom>
          </p:spPr>
        </p:pic>
        <p:pic>
          <p:nvPicPr>
            <p:cNvPr id="3" name="图片 2" descr="截屏2026-06-25 11.40.1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425" y="4985"/>
              <a:ext cx="7894" cy="4507"/>
            </a:xfrm>
            <a:prstGeom prst="rect">
              <a:avLst/>
            </a:prstGeom>
          </p:spPr>
        </p:pic>
        <p:sp>
          <p:nvSpPr>
            <p:cNvPr id="13" name="文本框 12"/>
            <p:cNvSpPr txBox="1"/>
            <p:nvPr/>
          </p:nvSpPr>
          <p:spPr>
            <a:xfrm>
              <a:off x="12425" y="4318"/>
              <a:ext cx="1646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2800">
                  <a:highlight>
                    <a:srgbClr val="FFFF00"/>
                  </a:highlight>
                </a:rPr>
                <a:t>ref</a:t>
              </a:r>
              <a:endParaRPr lang="en-US" altLang="zh-CN" sz="2800">
                <a:highlight>
                  <a:srgbClr val="FFFF00"/>
                </a:highlight>
              </a:endParaRPr>
            </a:p>
          </p:txBody>
        </p:sp>
      </p:grpSp>
      <p:cxnSp>
        <p:nvCxnSpPr>
          <p:cNvPr id="6" name="直接箭头连接符 5"/>
          <p:cNvCxnSpPr/>
          <p:nvPr/>
        </p:nvCxnSpPr>
        <p:spPr>
          <a:xfrm flipV="1">
            <a:off x="3159760" y="1074420"/>
            <a:ext cx="4436745" cy="327025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" name="直接箭头连接符 6"/>
          <p:cNvCxnSpPr/>
          <p:nvPr/>
        </p:nvCxnSpPr>
        <p:spPr>
          <a:xfrm flipV="1">
            <a:off x="3159760" y="2602230"/>
            <a:ext cx="4436745" cy="327025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3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242570" y="0"/>
            <a:ext cx="476821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en-US" altLang="zh-CN" sz="3200"/>
              <a:t>Upcoming Campaigns</a:t>
            </a:r>
            <a:endParaRPr lang="en-US" altLang="zh-CN" sz="3200"/>
          </a:p>
        </p:txBody>
      </p:sp>
      <p:sp>
        <p:nvSpPr>
          <p:cNvPr id="30" name="圆角矩形 29"/>
          <p:cNvSpPr/>
          <p:nvPr/>
        </p:nvSpPr>
        <p:spPr>
          <a:xfrm>
            <a:off x="243205" y="869315"/>
            <a:ext cx="11726545" cy="1054100"/>
          </a:xfrm>
          <a:prstGeom prst="roundRect">
            <a:avLst>
              <a:gd name="adj" fmla="val 0"/>
            </a:avLst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en-US" altLang="zh-CN" sz="2400">
                <a:solidFill>
                  <a:schemeClr val="tx1"/>
                </a:solidFill>
              </a:rPr>
              <a:t>- Strategic Partnerships: </a:t>
            </a:r>
            <a:endParaRPr lang="en-US" altLang="zh-CN" sz="2400">
              <a:solidFill>
                <a:schemeClr val="tx1"/>
              </a:solidFill>
            </a:endParaRPr>
          </a:p>
          <a:p>
            <a:pPr algn="l"/>
            <a:r>
              <a:rPr lang="en-US" altLang="zh-CN" sz="2400">
                <a:solidFill>
                  <a:schemeClr val="tx1"/>
                </a:solidFill>
              </a:rPr>
              <a:t>Finalized terms with [Partner/Influencer Name], scheduled for [Month] activation.</a:t>
            </a:r>
            <a:endParaRPr lang="en-US" altLang="zh-CN" sz="2400">
              <a:solidFill>
                <a:schemeClr val="tx1"/>
              </a:solidFill>
            </a:endParaRPr>
          </a:p>
        </p:txBody>
      </p:sp>
      <p:sp>
        <p:nvSpPr>
          <p:cNvPr id="15" name="圆角矩形 14"/>
          <p:cNvSpPr/>
          <p:nvPr/>
        </p:nvSpPr>
        <p:spPr>
          <a:xfrm>
            <a:off x="242570" y="2036445"/>
            <a:ext cx="3504565" cy="4099560"/>
          </a:xfrm>
          <a:prstGeom prst="roundRect">
            <a:avLst>
              <a:gd name="adj" fmla="val 0"/>
            </a:avLst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800">
                <a:solidFill>
                  <a:schemeClr val="tx1"/>
                </a:solidFill>
              </a:rPr>
              <a:t>Publisher 1</a:t>
            </a:r>
            <a:endParaRPr lang="en-US" altLang="zh-CN" sz="2800">
              <a:solidFill>
                <a:schemeClr val="tx1"/>
              </a:solidFill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4110990" y="2036445"/>
            <a:ext cx="7858760" cy="4099560"/>
          </a:xfrm>
          <a:prstGeom prst="roundRect">
            <a:avLst>
              <a:gd name="adj" fmla="val 0"/>
            </a:avLst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800">
                <a:solidFill>
                  <a:schemeClr val="tx1"/>
                </a:solidFill>
              </a:rPr>
              <a:t>Publisher 2</a:t>
            </a:r>
            <a:endParaRPr lang="en-US" altLang="zh-CN" sz="2800">
              <a:solidFill>
                <a:schemeClr val="tx1"/>
              </a:solidFill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242570" y="6269355"/>
            <a:ext cx="3504565" cy="431165"/>
          </a:xfrm>
          <a:prstGeom prst="roundRect">
            <a:avLst>
              <a:gd name="adj" fmla="val 0"/>
            </a:avLst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800">
                <a:solidFill>
                  <a:schemeClr val="tx1"/>
                </a:solidFill>
              </a:rPr>
              <a:t>Link</a:t>
            </a:r>
            <a:endParaRPr lang="en-US" altLang="zh-CN" sz="2800">
              <a:solidFill>
                <a:schemeClr val="tx1"/>
              </a:solidFill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4110990" y="6277610"/>
            <a:ext cx="7858125" cy="431165"/>
          </a:xfrm>
          <a:prstGeom prst="roundRect">
            <a:avLst>
              <a:gd name="adj" fmla="val 0"/>
            </a:avLst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800">
                <a:solidFill>
                  <a:schemeClr val="tx1"/>
                </a:solidFill>
              </a:rPr>
              <a:t>Link</a:t>
            </a:r>
            <a:endParaRPr lang="en-US" altLang="zh-CN" sz="2800">
              <a:solidFill>
                <a:schemeClr val="tx1"/>
              </a:solidFill>
            </a:endParaRPr>
          </a:p>
        </p:txBody>
      </p:sp>
      <p:pic>
        <p:nvPicPr>
          <p:cNvPr id="11" name="图片 10" descr="单个达人复盘模版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302730" y="6628130"/>
            <a:ext cx="4086860" cy="5826760"/>
          </a:xfrm>
          <a:prstGeom prst="rect">
            <a:avLst/>
          </a:prstGeom>
        </p:spPr>
      </p:pic>
      <p:grpSp>
        <p:nvGrpSpPr>
          <p:cNvPr id="49" name="组合 48"/>
          <p:cNvGrpSpPr/>
          <p:nvPr>
            <p:custDataLst>
              <p:tags r:id="rId5"/>
            </p:custDataLst>
          </p:nvPr>
        </p:nvGrpSpPr>
        <p:grpSpPr>
          <a:xfrm rot="0">
            <a:off x="-2745105" y="2466340"/>
            <a:ext cx="1945640" cy="3930650"/>
            <a:chOff x="5798" y="2110"/>
            <a:chExt cx="7406" cy="14960"/>
          </a:xfrm>
        </p:grpSpPr>
        <p:pic>
          <p:nvPicPr>
            <p:cNvPr id="50" name="图片 49" descr="border"/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7"/>
            <a:stretch>
              <a:fillRect/>
            </a:stretch>
          </p:blipFill>
          <p:spPr>
            <a:xfrm>
              <a:off x="5798" y="2110"/>
              <a:ext cx="7406" cy="14961"/>
            </a:xfrm>
            <a:prstGeom prst="rect">
              <a:avLst/>
            </a:prstGeom>
          </p:spPr>
        </p:pic>
        <p:pic>
          <p:nvPicPr>
            <p:cNvPr id="51" name="图片 50" descr="F:/素材图片2/首页.jpg首页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9" cstate="email"/>
            <a:srcRect l="2291" t="5417" r="2291"/>
            <a:stretch>
              <a:fillRect/>
            </a:stretch>
          </p:blipFill>
          <p:spPr>
            <a:xfrm>
              <a:off x="6160" y="2403"/>
              <a:ext cx="6683" cy="14398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6683" h="14398">
                  <a:moveTo>
                    <a:pt x="2685" y="261"/>
                  </a:moveTo>
                  <a:cubicBezTo>
                    <a:pt x="2531" y="261"/>
                    <a:pt x="2407" y="386"/>
                    <a:pt x="2407" y="540"/>
                  </a:cubicBezTo>
                  <a:cubicBezTo>
                    <a:pt x="2407" y="694"/>
                    <a:pt x="2531" y="819"/>
                    <a:pt x="2685" y="819"/>
                  </a:cubicBezTo>
                  <a:lnTo>
                    <a:pt x="4015" y="819"/>
                  </a:lnTo>
                  <a:cubicBezTo>
                    <a:pt x="4168" y="819"/>
                    <a:pt x="4293" y="694"/>
                    <a:pt x="4293" y="540"/>
                  </a:cubicBezTo>
                  <a:cubicBezTo>
                    <a:pt x="4293" y="386"/>
                    <a:pt x="4168" y="261"/>
                    <a:pt x="4015" y="261"/>
                  </a:cubicBezTo>
                  <a:lnTo>
                    <a:pt x="2685" y="261"/>
                  </a:lnTo>
                  <a:close/>
                  <a:moveTo>
                    <a:pt x="859" y="0"/>
                  </a:moveTo>
                  <a:lnTo>
                    <a:pt x="5825" y="0"/>
                  </a:lnTo>
                  <a:cubicBezTo>
                    <a:pt x="6299" y="0"/>
                    <a:pt x="6683" y="386"/>
                    <a:pt x="6683" y="861"/>
                  </a:cubicBezTo>
                  <a:lnTo>
                    <a:pt x="6683" y="13537"/>
                  </a:lnTo>
                  <a:cubicBezTo>
                    <a:pt x="6683" y="14012"/>
                    <a:pt x="6299" y="14398"/>
                    <a:pt x="5825" y="14398"/>
                  </a:cubicBezTo>
                  <a:lnTo>
                    <a:pt x="859" y="14398"/>
                  </a:lnTo>
                  <a:cubicBezTo>
                    <a:pt x="384" y="14398"/>
                    <a:pt x="0" y="14012"/>
                    <a:pt x="0" y="13537"/>
                  </a:cubicBezTo>
                  <a:lnTo>
                    <a:pt x="0" y="861"/>
                  </a:lnTo>
                  <a:cubicBezTo>
                    <a:pt x="0" y="386"/>
                    <a:pt x="384" y="0"/>
                    <a:pt x="859" y="0"/>
                  </a:cubicBezTo>
                  <a:close/>
                </a:path>
              </a:pathLst>
            </a:custGeom>
          </p:spPr>
        </p:pic>
      </p:grpSp>
      <p:sp>
        <p:nvSpPr>
          <p:cNvPr id="52" name="文本框 51"/>
          <p:cNvSpPr txBox="1"/>
          <p:nvPr/>
        </p:nvSpPr>
        <p:spPr>
          <a:xfrm>
            <a:off x="-3243580" y="6429375"/>
            <a:ext cx="3158490" cy="3035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1600">
                <a:latin typeface="Arial Regular" panose="020B0604020202090204" charset="0"/>
                <a:cs typeface="Arial Regular" panose="020B0604020202090204" charset="0"/>
                <a:sym typeface="+mn-ea"/>
              </a:rPr>
              <a:t>🔗</a:t>
            </a:r>
            <a:r>
              <a:rPr lang="en-US" altLang="zh-CN" sz="1600">
                <a:latin typeface="Arial Regular" panose="020B0604020202090204" charset="0"/>
                <a:cs typeface="Arial Regular" panose="020B0604020202090204" charset="0"/>
                <a:sym typeface="+mn-ea"/>
              </a:rPr>
              <a:t> https://platform.duomai.com/</a:t>
            </a:r>
            <a:endParaRPr lang="en-US" altLang="zh-CN" sz="1600">
              <a:latin typeface="Arial Regular" panose="020B0604020202090204" charset="0"/>
              <a:cs typeface="Arial Regular" panose="020B0604020202090204" charset="0"/>
              <a:sym typeface="+mn-ea"/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-3013710" y="1974215"/>
            <a:ext cx="269938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000">
                <a:sym typeface="+mn-ea"/>
              </a:rPr>
              <a:t>@</a:t>
            </a:r>
            <a:r>
              <a:rPr lang="en-US" altLang="zh-CN" sz="2000">
                <a:sym typeface="+mn-ea"/>
              </a:rPr>
              <a:t>Kellytrind x </a:t>
            </a:r>
            <a:r>
              <a:rPr lang="zh-CN" altLang="en-US" sz="2000">
                <a:sym typeface="+mn-ea"/>
              </a:rPr>
              <a:t>品牌</a:t>
            </a:r>
            <a:endParaRPr lang="zh-CN" altLang="en-US" sz="2000">
              <a:sym typeface="+mn-ea"/>
            </a:endParaRPr>
          </a:p>
        </p:txBody>
      </p:sp>
      <p:sp>
        <p:nvSpPr>
          <p:cNvPr id="54" name="矩形 53"/>
          <p:cNvSpPr/>
          <p:nvPr/>
        </p:nvSpPr>
        <p:spPr>
          <a:xfrm>
            <a:off x="-3415665" y="1908810"/>
            <a:ext cx="3377565" cy="4926965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9" name="圆角矩形 58"/>
          <p:cNvSpPr/>
          <p:nvPr/>
        </p:nvSpPr>
        <p:spPr>
          <a:xfrm>
            <a:off x="17457420" y="2435225"/>
            <a:ext cx="2497455" cy="558800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Type</a:t>
            </a:r>
            <a:endParaRPr lang="en-US" altLang="zh-CN"/>
          </a:p>
        </p:txBody>
      </p:sp>
      <p:sp>
        <p:nvSpPr>
          <p:cNvPr id="60" name="圆角矩形 59"/>
          <p:cNvSpPr/>
          <p:nvPr/>
        </p:nvSpPr>
        <p:spPr>
          <a:xfrm>
            <a:off x="14853285" y="3225800"/>
            <a:ext cx="8340090" cy="1592580"/>
          </a:xfrm>
          <a:prstGeom prst="roundRect">
            <a:avLst>
              <a:gd name="adj" fmla="val 0"/>
            </a:avLst>
          </a:prstGeom>
          <a:solidFill>
            <a:schemeClr val="bg2">
              <a:lumMod val="9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8800"/>
          </a:p>
        </p:txBody>
      </p:sp>
      <p:sp>
        <p:nvSpPr>
          <p:cNvPr id="61" name="圆角矩形 60"/>
          <p:cNvSpPr/>
          <p:nvPr/>
        </p:nvSpPr>
        <p:spPr>
          <a:xfrm>
            <a:off x="14853285" y="2435225"/>
            <a:ext cx="2497455" cy="558800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Base</a:t>
            </a:r>
            <a:endParaRPr lang="en-US" altLang="zh-CN"/>
          </a:p>
        </p:txBody>
      </p:sp>
      <p:sp>
        <p:nvSpPr>
          <p:cNvPr id="62" name="圆角矩形 61"/>
          <p:cNvSpPr/>
          <p:nvPr/>
        </p:nvSpPr>
        <p:spPr>
          <a:xfrm>
            <a:off x="20090765" y="2435225"/>
            <a:ext cx="2497455" cy="558800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Tier</a:t>
            </a:r>
            <a:r>
              <a:rPr lang="zh-CN" altLang="en-US"/>
              <a:t>（可选</a:t>
            </a:r>
            <a:r>
              <a:rPr lang="zh-CN" altLang="en-US"/>
              <a:t>填）</a:t>
            </a:r>
            <a:endParaRPr lang="zh-CN" altLang="en-US"/>
          </a:p>
        </p:txBody>
      </p:sp>
      <p:sp>
        <p:nvSpPr>
          <p:cNvPr id="63" name="圆角矩形 62"/>
          <p:cNvSpPr/>
          <p:nvPr/>
        </p:nvSpPr>
        <p:spPr>
          <a:xfrm>
            <a:off x="15330170" y="3361373"/>
            <a:ext cx="1767840" cy="1339215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Follow</a:t>
            </a:r>
            <a:r>
              <a:rPr lang="en-US" altLang="zh-CN"/>
              <a:t>ers</a:t>
            </a:r>
            <a:endParaRPr lang="en-US" altLang="zh-CN"/>
          </a:p>
        </p:txBody>
      </p:sp>
      <p:sp>
        <p:nvSpPr>
          <p:cNvPr id="64" name="圆角矩形 63"/>
          <p:cNvSpPr/>
          <p:nvPr/>
        </p:nvSpPr>
        <p:spPr>
          <a:xfrm>
            <a:off x="17316450" y="3361373"/>
            <a:ext cx="1767840" cy="1339215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Engagement Rate</a:t>
            </a:r>
            <a:endParaRPr lang="en-US" altLang="zh-CN"/>
          </a:p>
        </p:txBody>
      </p:sp>
      <p:sp>
        <p:nvSpPr>
          <p:cNvPr id="65" name="圆角矩形 64"/>
          <p:cNvSpPr/>
          <p:nvPr/>
        </p:nvSpPr>
        <p:spPr>
          <a:xfrm>
            <a:off x="19302730" y="3361373"/>
            <a:ext cx="1767840" cy="1339215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Impression</a:t>
            </a:r>
            <a:endParaRPr lang="en-US" altLang="zh-CN"/>
          </a:p>
        </p:txBody>
      </p:sp>
      <p:sp>
        <p:nvSpPr>
          <p:cNvPr id="66" name="圆角矩形 65"/>
          <p:cNvSpPr/>
          <p:nvPr/>
        </p:nvSpPr>
        <p:spPr>
          <a:xfrm>
            <a:off x="14853285" y="4969510"/>
            <a:ext cx="4231005" cy="1411605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lnSpc>
                <a:spcPct val="100000"/>
              </a:lnSpc>
            </a:pPr>
            <a:r>
              <a:rPr lang="zh-CN" altLang="en-US" b="1" dirty="0">
                <a:solidFill>
                  <a:schemeClr val="bg1"/>
                </a:solidFill>
                <a:effectLst/>
                <a:latin typeface="Arial Bold" panose="020B0604020202090204" charset="0"/>
                <a:ea typeface="+mj-ea"/>
                <a:cs typeface="Arial Bold" panose="020B0604020202090204" charset="0"/>
                <a:sym typeface="+mn-ea"/>
              </a:rPr>
              <a:t>图表</a:t>
            </a:r>
            <a:r>
              <a:rPr lang="zh-CN" altLang="en-US" b="1" dirty="0">
                <a:solidFill>
                  <a:schemeClr val="bg1"/>
                </a:solidFill>
                <a:effectLst/>
                <a:latin typeface="Arial Bold" panose="020B0604020202090204" charset="0"/>
                <a:ea typeface="+mj-ea"/>
                <a:cs typeface="Arial Bold" panose="020B0604020202090204" charset="0"/>
                <a:sym typeface="+mn-ea"/>
              </a:rPr>
              <a:t>形式</a:t>
            </a:r>
            <a:endParaRPr lang="zh-CN" altLang="en-US" b="1" dirty="0">
              <a:solidFill>
                <a:schemeClr val="bg1"/>
              </a:solidFill>
              <a:effectLst/>
              <a:latin typeface="Arial Bold" panose="020B0604020202090204" charset="0"/>
              <a:ea typeface="+mj-ea"/>
              <a:cs typeface="Arial Bold" panose="020B0604020202090204" charset="0"/>
              <a:sym typeface="+mn-ea"/>
            </a:endParaRPr>
          </a:p>
        </p:txBody>
      </p:sp>
      <p:sp>
        <p:nvSpPr>
          <p:cNvPr id="67" name="圆角矩形 66"/>
          <p:cNvSpPr/>
          <p:nvPr/>
        </p:nvSpPr>
        <p:spPr>
          <a:xfrm>
            <a:off x="19274155" y="4953635"/>
            <a:ext cx="3864610" cy="1421765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自定义文字</a:t>
            </a:r>
            <a:endParaRPr lang="zh-CN" altLang="en-US"/>
          </a:p>
        </p:txBody>
      </p:sp>
      <p:sp>
        <p:nvSpPr>
          <p:cNvPr id="69" name="圆角矩形 68"/>
          <p:cNvSpPr/>
          <p:nvPr/>
        </p:nvSpPr>
        <p:spPr>
          <a:xfrm>
            <a:off x="21289010" y="3361373"/>
            <a:ext cx="1767840" cy="1339215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Average </a:t>
            </a:r>
            <a:r>
              <a:rPr lang="en-US" altLang="zh-CN"/>
              <a:t>Reach</a:t>
            </a:r>
            <a:endParaRPr lang="en-US" altLang="zh-CN"/>
          </a:p>
        </p:txBody>
      </p:sp>
      <p:sp>
        <p:nvSpPr>
          <p:cNvPr id="75" name="文本框 74"/>
          <p:cNvSpPr txBox="1"/>
          <p:nvPr/>
        </p:nvSpPr>
        <p:spPr>
          <a:xfrm>
            <a:off x="14940915" y="1730375"/>
            <a:ext cx="390906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>
                <a:solidFill>
                  <a:srgbClr val="C00000"/>
                </a:solidFill>
              </a:rPr>
              <a:t>平台</a:t>
            </a:r>
            <a:r>
              <a:rPr lang="en-US" altLang="zh-CN" sz="1600">
                <a:solidFill>
                  <a:srgbClr val="C00000"/>
                </a:solidFill>
              </a:rPr>
              <a:t>logo</a:t>
            </a:r>
            <a:r>
              <a:rPr lang="zh-CN" altLang="en-US" sz="1600">
                <a:solidFill>
                  <a:srgbClr val="C00000"/>
                </a:solidFill>
              </a:rPr>
              <a:t>：</a:t>
            </a:r>
            <a:r>
              <a:rPr lang="en-US" altLang="zh-CN" sz="1600">
                <a:solidFill>
                  <a:srgbClr val="C00000"/>
                </a:solidFill>
              </a:rPr>
              <a:t>Instagram</a:t>
            </a:r>
            <a:r>
              <a:rPr lang="zh-CN" altLang="en-US" sz="1600">
                <a:solidFill>
                  <a:srgbClr val="C00000"/>
                </a:solidFill>
              </a:rPr>
              <a:t>，</a:t>
            </a:r>
            <a:r>
              <a:rPr lang="en-US" altLang="zh-CN" sz="1600">
                <a:solidFill>
                  <a:srgbClr val="C00000"/>
                </a:solidFill>
              </a:rPr>
              <a:t>tiktok</a:t>
            </a:r>
            <a:r>
              <a:rPr lang="zh-CN" altLang="en-US" sz="1600">
                <a:solidFill>
                  <a:srgbClr val="C00000"/>
                </a:solidFill>
              </a:rPr>
              <a:t>，小红书等</a:t>
            </a:r>
            <a:endParaRPr lang="en-US" altLang="zh-CN" sz="1600">
              <a:solidFill>
                <a:srgbClr val="C00000"/>
              </a:solidFill>
            </a:endParaRPr>
          </a:p>
        </p:txBody>
      </p:sp>
      <p:cxnSp>
        <p:nvCxnSpPr>
          <p:cNvPr id="76" name="直接箭头连接符 75"/>
          <p:cNvCxnSpPr/>
          <p:nvPr/>
        </p:nvCxnSpPr>
        <p:spPr>
          <a:xfrm flipH="1">
            <a:off x="14940915" y="2068195"/>
            <a:ext cx="527685" cy="1219835"/>
          </a:xfrm>
          <a:prstGeom prst="straightConnector1">
            <a:avLst/>
          </a:prstGeom>
          <a:ln w="19050">
            <a:solidFill>
              <a:srgbClr val="C0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77" name="组合 76"/>
          <p:cNvGrpSpPr/>
          <p:nvPr>
            <p:custDataLst>
              <p:tags r:id="rId10"/>
            </p:custDataLst>
          </p:nvPr>
        </p:nvGrpSpPr>
        <p:grpSpPr>
          <a:xfrm rot="0">
            <a:off x="12812395" y="2423160"/>
            <a:ext cx="1945640" cy="3930650"/>
            <a:chOff x="5798" y="2110"/>
            <a:chExt cx="7406" cy="14960"/>
          </a:xfrm>
        </p:grpSpPr>
        <p:pic>
          <p:nvPicPr>
            <p:cNvPr id="78" name="图片 77" descr="border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7"/>
            <a:stretch>
              <a:fillRect/>
            </a:stretch>
          </p:blipFill>
          <p:spPr>
            <a:xfrm>
              <a:off x="5798" y="2110"/>
              <a:ext cx="7406" cy="14961"/>
            </a:xfrm>
            <a:prstGeom prst="rect">
              <a:avLst/>
            </a:prstGeom>
          </p:spPr>
        </p:pic>
        <p:pic>
          <p:nvPicPr>
            <p:cNvPr id="79" name="图片 78" descr="F:/素材图片2/首页.jpg首页"/>
            <p:cNvPicPr>
              <a:picLocks noChangeAspect="1"/>
            </p:cNvPicPr>
            <p:nvPr>
              <p:custDataLst>
                <p:tags r:id="rId12"/>
              </p:custDataLst>
            </p:nvPr>
          </p:nvPicPr>
          <p:blipFill>
            <a:blip r:embed="rId9" cstate="email"/>
            <a:srcRect l="2291" t="5417" r="2291"/>
            <a:stretch>
              <a:fillRect/>
            </a:stretch>
          </p:blipFill>
          <p:spPr>
            <a:xfrm>
              <a:off x="6160" y="2403"/>
              <a:ext cx="6683" cy="14398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6683" h="14398">
                  <a:moveTo>
                    <a:pt x="2685" y="261"/>
                  </a:moveTo>
                  <a:cubicBezTo>
                    <a:pt x="2531" y="261"/>
                    <a:pt x="2407" y="386"/>
                    <a:pt x="2407" y="540"/>
                  </a:cubicBezTo>
                  <a:cubicBezTo>
                    <a:pt x="2407" y="694"/>
                    <a:pt x="2531" y="819"/>
                    <a:pt x="2685" y="819"/>
                  </a:cubicBezTo>
                  <a:lnTo>
                    <a:pt x="4015" y="819"/>
                  </a:lnTo>
                  <a:cubicBezTo>
                    <a:pt x="4168" y="819"/>
                    <a:pt x="4293" y="694"/>
                    <a:pt x="4293" y="540"/>
                  </a:cubicBezTo>
                  <a:cubicBezTo>
                    <a:pt x="4293" y="386"/>
                    <a:pt x="4168" y="261"/>
                    <a:pt x="4015" y="261"/>
                  </a:cubicBezTo>
                  <a:lnTo>
                    <a:pt x="2685" y="261"/>
                  </a:lnTo>
                  <a:close/>
                  <a:moveTo>
                    <a:pt x="859" y="0"/>
                  </a:moveTo>
                  <a:lnTo>
                    <a:pt x="5825" y="0"/>
                  </a:lnTo>
                  <a:cubicBezTo>
                    <a:pt x="6299" y="0"/>
                    <a:pt x="6683" y="386"/>
                    <a:pt x="6683" y="861"/>
                  </a:cubicBezTo>
                  <a:lnTo>
                    <a:pt x="6683" y="13537"/>
                  </a:lnTo>
                  <a:cubicBezTo>
                    <a:pt x="6683" y="14012"/>
                    <a:pt x="6299" y="14398"/>
                    <a:pt x="5825" y="14398"/>
                  </a:cubicBezTo>
                  <a:lnTo>
                    <a:pt x="859" y="14398"/>
                  </a:lnTo>
                  <a:cubicBezTo>
                    <a:pt x="384" y="14398"/>
                    <a:pt x="0" y="14012"/>
                    <a:pt x="0" y="13537"/>
                  </a:cubicBezTo>
                  <a:lnTo>
                    <a:pt x="0" y="861"/>
                  </a:lnTo>
                  <a:cubicBezTo>
                    <a:pt x="0" y="386"/>
                    <a:pt x="384" y="0"/>
                    <a:pt x="859" y="0"/>
                  </a:cubicBezTo>
                  <a:close/>
                </a:path>
              </a:pathLst>
            </a:custGeom>
          </p:spPr>
        </p:pic>
      </p:grpSp>
      <p:sp>
        <p:nvSpPr>
          <p:cNvPr id="80" name="文本框 79"/>
          <p:cNvSpPr txBox="1"/>
          <p:nvPr/>
        </p:nvSpPr>
        <p:spPr>
          <a:xfrm>
            <a:off x="12543790" y="1931035"/>
            <a:ext cx="269938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000">
                <a:sym typeface="+mn-ea"/>
              </a:rPr>
              <a:t>@</a:t>
            </a:r>
            <a:r>
              <a:rPr lang="en-US" altLang="zh-CN" sz="2000">
                <a:sym typeface="+mn-ea"/>
              </a:rPr>
              <a:t>Kellytrind x </a:t>
            </a:r>
            <a:r>
              <a:rPr lang="zh-CN" altLang="en-US" sz="2000">
                <a:sym typeface="+mn-ea"/>
              </a:rPr>
              <a:t>品牌</a:t>
            </a:r>
            <a:endParaRPr lang="zh-CN" altLang="en-US" sz="2000">
              <a:sym typeface="+mn-ea"/>
            </a:endParaRPr>
          </a:p>
        </p:txBody>
      </p:sp>
      <p:pic>
        <p:nvPicPr>
          <p:cNvPr id="81" name="图片 80" descr="wps_doc_67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4431645" y="3225800"/>
            <a:ext cx="641985" cy="641985"/>
          </a:xfrm>
          <a:prstGeom prst="rect">
            <a:avLst/>
          </a:prstGeom>
        </p:spPr>
      </p:pic>
      <p:sp>
        <p:nvSpPr>
          <p:cNvPr id="82" name="文本框 81"/>
          <p:cNvSpPr txBox="1"/>
          <p:nvPr/>
        </p:nvSpPr>
        <p:spPr>
          <a:xfrm>
            <a:off x="12678410" y="6453505"/>
            <a:ext cx="3158490" cy="3035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1600">
                <a:latin typeface="Arial Regular" panose="020B0604020202090204" charset="0"/>
                <a:cs typeface="Arial Regular" panose="020B0604020202090204" charset="0"/>
                <a:sym typeface="+mn-ea"/>
              </a:rPr>
              <a:t>🔗</a:t>
            </a:r>
            <a:r>
              <a:rPr lang="en-US" altLang="zh-CN" sz="1600">
                <a:latin typeface="Arial Regular" panose="020B0604020202090204" charset="0"/>
                <a:cs typeface="Arial Regular" panose="020B0604020202090204" charset="0"/>
                <a:sym typeface="+mn-ea"/>
              </a:rPr>
              <a:t> https://platform.duomai.com/</a:t>
            </a:r>
            <a:endParaRPr lang="en-US" altLang="zh-CN" sz="1600">
              <a:latin typeface="Arial Regular" panose="020B0604020202090204" charset="0"/>
              <a:cs typeface="Arial Regular" panose="020B0604020202090204" charset="0"/>
              <a:sym typeface="+mn-ea"/>
            </a:endParaRPr>
          </a:p>
        </p:txBody>
      </p:sp>
      <p:graphicFrame>
        <p:nvGraphicFramePr>
          <p:cNvPr id="83" name="图表 82" descr="7b0a202020202263686172745265734964223a20223530303733323739220a7d0a"/>
          <p:cNvGraphicFramePr/>
          <p:nvPr/>
        </p:nvGraphicFramePr>
        <p:xfrm>
          <a:off x="17098010" y="7067550"/>
          <a:ext cx="2410460" cy="13957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84" name="文本框 83"/>
          <p:cNvSpPr txBox="1"/>
          <p:nvPr/>
        </p:nvSpPr>
        <p:spPr>
          <a:xfrm>
            <a:off x="15530195" y="7018020"/>
            <a:ext cx="315849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zh-CN" sz="1400" b="1" dirty="0">
                <a:solidFill>
                  <a:srgbClr val="FF9300"/>
                </a:solidFill>
                <a:effectLst/>
                <a:latin typeface="Arial Bold" panose="020B0604020202090204" charset="0"/>
                <a:ea typeface="+mj-ea"/>
                <a:cs typeface="Arial Bold" panose="020B0604020202090204" charset="0"/>
                <a:sym typeface="+mn-ea"/>
              </a:rPr>
              <a:t>Audience Demographics</a:t>
            </a:r>
            <a:endParaRPr lang="en-US" altLang="zh-CN" sz="1400" b="1" dirty="0">
              <a:solidFill>
                <a:srgbClr val="FF9300"/>
              </a:solidFill>
              <a:effectLst/>
              <a:latin typeface="Arial Bold" panose="020B0604020202090204" charset="0"/>
              <a:ea typeface="+mj-ea"/>
              <a:cs typeface="Arial Bold" panose="020B0604020202090204" charset="0"/>
              <a:sym typeface="+mn-ea"/>
            </a:endParaRPr>
          </a:p>
        </p:txBody>
      </p:sp>
      <p:sp>
        <p:nvSpPr>
          <p:cNvPr id="2" name="圆角矩形 1"/>
          <p:cNvSpPr/>
          <p:nvPr/>
        </p:nvSpPr>
        <p:spPr>
          <a:xfrm>
            <a:off x="14853285" y="7018020"/>
            <a:ext cx="4231005" cy="1411605"/>
          </a:xfrm>
          <a:prstGeom prst="round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bg2">
                    <a:lumMod val="75000"/>
                  </a:schemeClr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lnSpc>
                <a:spcPct val="100000"/>
              </a:lnSpc>
            </a:pPr>
            <a:endParaRPr lang="zh-CN" altLang="en-US" b="1" dirty="0">
              <a:solidFill>
                <a:schemeClr val="bg1"/>
              </a:solidFill>
              <a:effectLst/>
              <a:latin typeface="Arial Bold" panose="020B0604020202090204" charset="0"/>
              <a:ea typeface="+mj-ea"/>
              <a:cs typeface="Arial Bold" panose="020B0604020202090204" charset="0"/>
              <a:sym typeface="+mn-ea"/>
            </a:endParaRPr>
          </a:p>
        </p:txBody>
      </p:sp>
      <p:graphicFrame>
        <p:nvGraphicFramePr>
          <p:cNvPr id="3" name="图表 2" descr="7b0a202020202263686172745265734964223a20223530303733323739220a7d0a"/>
          <p:cNvGraphicFramePr/>
          <p:nvPr/>
        </p:nvGraphicFramePr>
        <p:xfrm>
          <a:off x="14431645" y="7067550"/>
          <a:ext cx="2409825" cy="13944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4" name="图表 3" descr="7b0a202020202263686172745265734964223a20223530303733323639220a7d0a"/>
          <p:cNvGraphicFramePr/>
          <p:nvPr/>
        </p:nvGraphicFramePr>
        <p:xfrm>
          <a:off x="16146145" y="7241540"/>
          <a:ext cx="1645920" cy="122047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cxnSp>
        <p:nvCxnSpPr>
          <p:cNvPr id="5" name="直接箭头连接符 4"/>
          <p:cNvCxnSpPr/>
          <p:nvPr/>
        </p:nvCxnSpPr>
        <p:spPr>
          <a:xfrm>
            <a:off x="16364585" y="5615940"/>
            <a:ext cx="0" cy="1346835"/>
          </a:xfrm>
          <a:prstGeom prst="straightConnector1">
            <a:avLst/>
          </a:prstGeom>
          <a:ln w="19050">
            <a:solidFill>
              <a:srgbClr val="C0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18849975" y="6562725"/>
            <a:ext cx="104521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>
                <a:highlight>
                  <a:srgbClr val="FFFF00"/>
                </a:highlight>
              </a:rPr>
              <a:t>ref</a:t>
            </a:r>
            <a:endParaRPr lang="en-US" altLang="zh-CN" sz="2000">
              <a:highlight>
                <a:srgbClr val="FFFF00"/>
              </a:highlight>
            </a:endParaRPr>
          </a:p>
        </p:txBody>
      </p:sp>
      <p:cxnSp>
        <p:nvCxnSpPr>
          <p:cNvPr id="10" name="直接箭头连接符 9"/>
          <p:cNvCxnSpPr/>
          <p:nvPr/>
        </p:nvCxnSpPr>
        <p:spPr>
          <a:xfrm flipH="1">
            <a:off x="-587375" y="4818380"/>
            <a:ext cx="2506980" cy="0"/>
          </a:xfrm>
          <a:prstGeom prst="straightConnector1">
            <a:avLst/>
          </a:prstGeom>
          <a:ln w="19050">
            <a:solidFill>
              <a:srgbClr val="C0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" name="直接箭头连接符 11"/>
          <p:cNvCxnSpPr/>
          <p:nvPr/>
        </p:nvCxnSpPr>
        <p:spPr>
          <a:xfrm>
            <a:off x="9453880" y="4818380"/>
            <a:ext cx="6050915" cy="0"/>
          </a:xfrm>
          <a:prstGeom prst="straightConnector1">
            <a:avLst/>
          </a:prstGeom>
          <a:ln w="19050">
            <a:solidFill>
              <a:srgbClr val="C0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4" name="文本框 13"/>
          <p:cNvSpPr txBox="1"/>
          <p:nvPr/>
        </p:nvSpPr>
        <p:spPr>
          <a:xfrm>
            <a:off x="3249930" y="3225800"/>
            <a:ext cx="2775585" cy="3018790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noAutofit/>
          </a:bodyPr>
          <a:p>
            <a:pPr>
              <a:lnSpc>
                <a:spcPct val="150000"/>
              </a:lnSpc>
            </a:pPr>
            <a:r>
              <a:rPr lang="zh-CN" altLang="en-US" sz="1400"/>
              <a:t>两种</a:t>
            </a:r>
            <a:r>
              <a:rPr lang="en-US" altLang="zh-CN" sz="1400"/>
              <a:t>Publishers</a:t>
            </a:r>
            <a:r>
              <a:rPr lang="zh-CN" altLang="en-US" sz="1400"/>
              <a:t>模版：</a:t>
            </a:r>
            <a:endParaRPr lang="zh-CN" altLang="en-US" sz="1400"/>
          </a:p>
          <a:p>
            <a:pPr>
              <a:lnSpc>
                <a:spcPct val="150000"/>
              </a:lnSpc>
            </a:pPr>
            <a:r>
              <a:rPr lang="en-US" altLang="zh-CN" sz="1400"/>
              <a:t>Publisher 1</a:t>
            </a:r>
            <a:r>
              <a:rPr lang="zh-CN" altLang="en-US" sz="1400"/>
              <a:t>：</a:t>
            </a:r>
            <a:endParaRPr lang="zh-CN" altLang="en-US" sz="1400"/>
          </a:p>
          <a:p>
            <a:pPr>
              <a:lnSpc>
                <a:spcPct val="150000"/>
              </a:lnSpc>
            </a:pPr>
            <a:r>
              <a:rPr lang="zh-CN" altLang="en-US" sz="1400"/>
              <a:t>简约版，多个</a:t>
            </a:r>
            <a:r>
              <a:rPr lang="en-US" altLang="zh-CN" sz="1400"/>
              <a:t>Publishers</a:t>
            </a:r>
            <a:r>
              <a:rPr lang="zh-CN" altLang="en-US" sz="1400"/>
              <a:t>时可用</a:t>
            </a:r>
            <a:endParaRPr lang="zh-CN" altLang="en-US" sz="1400"/>
          </a:p>
          <a:p>
            <a:pPr>
              <a:lnSpc>
                <a:spcPct val="150000"/>
              </a:lnSpc>
            </a:pPr>
            <a:endParaRPr lang="zh-CN" altLang="en-US" sz="1400"/>
          </a:p>
          <a:p>
            <a:pPr>
              <a:lnSpc>
                <a:spcPct val="150000"/>
              </a:lnSpc>
            </a:pPr>
            <a:r>
              <a:rPr lang="en-US" altLang="zh-CN" sz="1400"/>
              <a:t>Publishers 2</a:t>
            </a:r>
            <a:r>
              <a:rPr lang="zh-CN" altLang="en-US" sz="1400"/>
              <a:t>：</a:t>
            </a:r>
            <a:endParaRPr lang="zh-CN" altLang="en-US" sz="1400"/>
          </a:p>
          <a:p>
            <a:pPr>
              <a:lnSpc>
                <a:spcPct val="150000"/>
              </a:lnSpc>
            </a:pPr>
            <a:r>
              <a:rPr lang="zh-CN" altLang="en-US" sz="1400"/>
              <a:t>只有单个</a:t>
            </a:r>
            <a:r>
              <a:rPr lang="en-US" altLang="zh-CN" sz="1400"/>
              <a:t>Publishers</a:t>
            </a:r>
            <a:r>
              <a:rPr lang="zh-CN" altLang="en-US" sz="1400"/>
              <a:t>，或客户对</a:t>
            </a:r>
            <a:r>
              <a:rPr lang="en-US" altLang="zh-CN" sz="1400"/>
              <a:t>Publishers</a:t>
            </a:r>
            <a:r>
              <a:rPr lang="zh-CN" altLang="en-US" sz="1400"/>
              <a:t>要求高时</a:t>
            </a:r>
            <a:r>
              <a:rPr lang="zh-CN" altLang="en-US" sz="1400"/>
              <a:t>可用</a:t>
            </a:r>
            <a:endParaRPr lang="zh-CN" altLang="en-US" sz="1400"/>
          </a:p>
        </p:txBody>
      </p:sp>
    </p:spTree>
    <p:custDataLst>
      <p:tags r:id="rId14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截屏2026-06-26 15.12.3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94260" y="1158875"/>
            <a:ext cx="7721600" cy="435610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242570" y="0"/>
            <a:ext cx="826198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en-US" altLang="zh-CN" sz="3200"/>
              <a:t>Insights &amp; Strategic Recommendations</a:t>
            </a:r>
            <a:endParaRPr lang="en-US" altLang="zh-CN" sz="3200"/>
          </a:p>
        </p:txBody>
      </p:sp>
      <p:sp>
        <p:nvSpPr>
          <p:cNvPr id="6" name="圆角矩形 5"/>
          <p:cNvSpPr/>
          <p:nvPr/>
        </p:nvSpPr>
        <p:spPr>
          <a:xfrm>
            <a:off x="242570" y="1849755"/>
            <a:ext cx="5605145" cy="4695825"/>
          </a:xfrm>
          <a:prstGeom prst="roundRect">
            <a:avLst>
              <a:gd name="adj" fmla="val 0"/>
            </a:avLst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2800">
              <a:solidFill>
                <a:schemeClr val="tx1"/>
              </a:solidFill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6226810" y="1849755"/>
            <a:ext cx="5605145" cy="4695825"/>
          </a:xfrm>
          <a:prstGeom prst="roundRect">
            <a:avLst>
              <a:gd name="adj" fmla="val 0"/>
            </a:avLst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2800">
              <a:solidFill>
                <a:schemeClr val="tx1"/>
              </a:solidFill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397510" y="2042160"/>
            <a:ext cx="5247640" cy="1877695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圆角矩形 10"/>
          <p:cNvSpPr/>
          <p:nvPr/>
        </p:nvSpPr>
        <p:spPr>
          <a:xfrm>
            <a:off x="6419215" y="2042160"/>
            <a:ext cx="5247640" cy="1877695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圆角矩形 11"/>
          <p:cNvSpPr/>
          <p:nvPr/>
        </p:nvSpPr>
        <p:spPr>
          <a:xfrm>
            <a:off x="242570" y="993775"/>
            <a:ext cx="5605145" cy="692150"/>
          </a:xfrm>
          <a:prstGeom prst="roundRect">
            <a:avLst>
              <a:gd name="adj" fmla="val 0"/>
            </a:avLst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800">
                <a:solidFill>
                  <a:schemeClr val="tx1"/>
                </a:solidFill>
              </a:rPr>
              <a:t>What </a:t>
            </a:r>
            <a:r>
              <a:rPr lang="en-US" altLang="zh-CN" sz="2800">
                <a:solidFill>
                  <a:schemeClr val="tx1"/>
                </a:solidFill>
              </a:rPr>
              <a:t>Works</a:t>
            </a:r>
            <a:endParaRPr lang="en-US" altLang="zh-CN" sz="2800">
              <a:solidFill>
                <a:schemeClr val="tx1"/>
              </a:solidFill>
            </a:endParaRPr>
          </a:p>
        </p:txBody>
      </p:sp>
      <p:sp>
        <p:nvSpPr>
          <p:cNvPr id="13" name="圆角矩形 12"/>
          <p:cNvSpPr/>
          <p:nvPr/>
        </p:nvSpPr>
        <p:spPr>
          <a:xfrm>
            <a:off x="6226810" y="993775"/>
            <a:ext cx="5605145" cy="692150"/>
          </a:xfrm>
          <a:prstGeom prst="roundRect">
            <a:avLst>
              <a:gd name="adj" fmla="val 0"/>
            </a:avLst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800">
                <a:solidFill>
                  <a:schemeClr val="tx1"/>
                </a:solidFill>
              </a:rPr>
              <a:t>Challenge &amp; </a:t>
            </a:r>
            <a:r>
              <a:rPr lang="en-US" altLang="zh-CN" sz="2800">
                <a:solidFill>
                  <a:schemeClr val="tx1"/>
                </a:solidFill>
              </a:rPr>
              <a:t>Strategy</a:t>
            </a:r>
            <a:endParaRPr lang="en-US" altLang="zh-CN" sz="2800">
              <a:solidFill>
                <a:schemeClr val="tx1"/>
              </a:solidFill>
            </a:endParaRPr>
          </a:p>
        </p:txBody>
      </p:sp>
      <p:cxnSp>
        <p:nvCxnSpPr>
          <p:cNvPr id="14" name="直接箭头连接符 13"/>
          <p:cNvCxnSpPr/>
          <p:nvPr/>
        </p:nvCxnSpPr>
        <p:spPr>
          <a:xfrm>
            <a:off x="8954135" y="4689475"/>
            <a:ext cx="5072380" cy="0"/>
          </a:xfrm>
          <a:prstGeom prst="straightConnector1">
            <a:avLst/>
          </a:prstGeom>
          <a:ln w="19050">
            <a:solidFill>
              <a:srgbClr val="C0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2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21005" y="1807845"/>
            <a:ext cx="4490085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en-US" altLang="zh-CN"/>
              <a:t>Package</a:t>
            </a:r>
            <a:endParaRPr lang="en-US" altLang="zh-CN"/>
          </a:p>
        </p:txBody>
      </p:sp>
      <p:sp>
        <p:nvSpPr>
          <p:cNvPr id="9" name="文本框 8"/>
          <p:cNvSpPr txBox="1"/>
          <p:nvPr/>
        </p:nvSpPr>
        <p:spPr>
          <a:xfrm>
            <a:off x="421005" y="3021965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文字内容按照</a:t>
            </a:r>
            <a:r>
              <a:rPr lang="en-US" altLang="zh-CN"/>
              <a:t>Q3</a:t>
            </a:r>
            <a:r>
              <a:rPr lang="zh-CN" altLang="en-US"/>
              <a:t>的进行填充，每个版块都需要支持修改，</a:t>
            </a:r>
            <a:r>
              <a:rPr lang="zh-CN" altLang="en-US"/>
              <a:t>拖动和</a:t>
            </a:r>
            <a:r>
              <a:rPr lang="zh-CN" altLang="en-US"/>
              <a:t>删除</a:t>
            </a:r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421005" y="2484120"/>
            <a:ext cx="26269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背景</a:t>
            </a:r>
            <a:r>
              <a:rPr lang="zh-CN" altLang="en-US"/>
              <a:t>支持自定义</a:t>
            </a:r>
            <a:endParaRPr lang="en-US" altLang="zh-CN"/>
          </a:p>
        </p:txBody>
      </p:sp>
      <p:grpSp>
        <p:nvGrpSpPr>
          <p:cNvPr id="5" name="组合 4"/>
          <p:cNvGrpSpPr/>
          <p:nvPr/>
        </p:nvGrpSpPr>
        <p:grpSpPr>
          <a:xfrm>
            <a:off x="5178425" y="1163320"/>
            <a:ext cx="7012940" cy="3968750"/>
            <a:chOff x="8155" y="1832"/>
            <a:chExt cx="11044" cy="6250"/>
          </a:xfrm>
        </p:grpSpPr>
        <p:pic>
          <p:nvPicPr>
            <p:cNvPr id="2" name="图片 1" descr="/Users/fengjiayi/Library/Containers/com.kingsoft.wpsoffice.mac/Data/tmp/picturecompress_20260625115136/output_1.pngoutput_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8155" y="1832"/>
              <a:ext cx="11045" cy="6250"/>
            </a:xfrm>
            <a:prstGeom prst="rect">
              <a:avLst/>
            </a:prstGeom>
          </p:spPr>
        </p:pic>
        <p:sp>
          <p:nvSpPr>
            <p:cNvPr id="3" name="文本框 2"/>
            <p:cNvSpPr txBox="1"/>
            <p:nvPr/>
          </p:nvSpPr>
          <p:spPr>
            <a:xfrm>
              <a:off x="8155" y="1832"/>
              <a:ext cx="1646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2800">
                  <a:highlight>
                    <a:srgbClr val="FFFF00"/>
                  </a:highlight>
                </a:rPr>
                <a:t>ref</a:t>
              </a:r>
              <a:endParaRPr lang="en-US" altLang="zh-CN" sz="2800">
                <a:highlight>
                  <a:srgbClr val="FFFF00"/>
                </a:highlight>
              </a:endParaRPr>
            </a:p>
          </p:txBody>
        </p:sp>
      </p:grpSp>
    </p:spTree>
    <p:custDataLst>
      <p:tags r:id="rId2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3" name="AutoShape 3"/>
          <p:cNvSpPr/>
          <p:nvPr/>
        </p:nvSpPr>
        <p:spPr>
          <a:xfrm>
            <a:off x="1176655" y="1419860"/>
            <a:ext cx="9880600" cy="2628900"/>
          </a:xfrm>
          <a:prstGeom prst="rect">
            <a:avLst/>
          </a:prstGeom>
          <a:noFill/>
          <a:ln w="12700">
            <a:noFill/>
            <a:prstDash val="solid"/>
          </a:ln>
          <a:effectLst>
            <a:outerShdw blurRad="76200" dist="50800" dir="5400000" algn="ctr" rotWithShape="0">
              <a:srgbClr val="A6A6A6">
                <a:alpha val="42000"/>
              </a:srgb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6600" b="1" i="0" u="none" strike="noStrike">
                <a:solidFill>
                  <a:srgbClr val="FF9102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THANKS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4621530" y="4465320"/>
            <a:ext cx="3143250" cy="33083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indent="0" algn="ctr">
              <a:lnSpc>
                <a:spcPct val="92000"/>
              </a:lnSpc>
              <a:defRPr/>
            </a:pPr>
            <a:r>
              <a:rPr lang="en-US" sz="1700" b="1" i="0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Get in Touch with us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2446020" y="5486400"/>
            <a:ext cx="3143250" cy="33083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indent="0" algn="ctr">
              <a:lnSpc>
                <a:spcPct val="92000"/>
              </a:lnSpc>
              <a:defRPr/>
            </a:pPr>
            <a:r>
              <a:rPr lang="en-US" sz="1800" b="1" i="0" u="none" strike="noStrike">
                <a:solidFill>
                  <a:srgbClr val="FF9102"/>
                </a:solidFill>
                <a:latin typeface="Montserrat"/>
                <a:ea typeface="Montserrat"/>
                <a:cs typeface="Montserrat"/>
                <a:sym typeface="Montserrat"/>
              </a:rPr>
              <a:t>Social Markting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6934835" y="5486400"/>
            <a:ext cx="3143250" cy="33083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indent="0" algn="ctr">
              <a:lnSpc>
                <a:spcPct val="92000"/>
              </a:lnSpc>
              <a:defRPr/>
            </a:pPr>
            <a:r>
              <a:rPr lang="en-US" sz="1800" b="1" i="0" u="none" strike="noStrike">
                <a:solidFill>
                  <a:srgbClr val="FF9102"/>
                </a:solidFill>
                <a:latin typeface="Montserrat"/>
                <a:ea typeface="Montserrat"/>
                <a:cs typeface="Montserrat"/>
                <a:sym typeface="Montserrat"/>
              </a:rPr>
              <a:t>Affiliate Markting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342900" y="457200"/>
            <a:ext cx="2204085" cy="56959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indent="0" algn="l">
              <a:lnSpc>
                <a:spcPct val="92000"/>
              </a:lnSpc>
              <a:defRPr/>
            </a:pPr>
            <a:r>
              <a:rPr lang="en-US" sz="1200" b="1" i="0" u="none" strike="noStrike">
                <a:solidFill>
                  <a:srgbClr val="FF9102"/>
                </a:solidFill>
                <a:latin typeface="Montserrat"/>
                <a:ea typeface="Montserrat"/>
                <a:cs typeface="Montserrat"/>
                <a:sym typeface="Montserrat"/>
              </a:rPr>
              <a:t>THE GLOBAL</a:t>
            </a:r>
            <a:endParaRPr lang="en-US" sz="1100"/>
          </a:p>
          <a:p>
            <a:pPr indent="0" algn="l">
              <a:lnSpc>
                <a:spcPct val="92000"/>
              </a:lnSpc>
            </a:pPr>
            <a:r>
              <a:rPr lang="en-US" sz="1200" b="1" i="0" u="none" strike="noStrike">
                <a:solidFill>
                  <a:srgbClr val="FF9102"/>
                </a:solidFill>
                <a:latin typeface="Montserrat"/>
                <a:ea typeface="Montserrat"/>
                <a:cs typeface="Montserrat"/>
                <a:sym typeface="Montserrat"/>
              </a:rPr>
              <a:t>MARKETING AGENCY</a:t>
            </a:r>
            <a:endParaRPr lang="en-US" sz="1200" b="1" i="0" u="none" strike="noStrike">
              <a:solidFill>
                <a:srgbClr val="FF910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2282825" y="5760720"/>
            <a:ext cx="4249420" cy="2819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indent="0" algn="l">
              <a:lnSpc>
                <a:spcPct val="92000"/>
              </a:lnSpc>
              <a:defRPr/>
            </a:pPr>
            <a:r>
              <a:rPr lang="en-US" sz="1800" b="0" i="0" u="none" strike="noStrike">
                <a:solidFill>
                  <a:srgbClr val="34220A"/>
                </a:solidFill>
                <a:latin typeface="Montserrat Alternates Light"/>
                <a:ea typeface="Montserrat Alternates Light"/>
                <a:cs typeface="Montserrat Alternates Light"/>
                <a:sym typeface="Montserrat Alternates Light"/>
              </a:rPr>
              <a:t>dmsocialteam@duomai.com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742430" y="5750560"/>
            <a:ext cx="3607435" cy="2819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indent="0" algn="ctr">
              <a:lnSpc>
                <a:spcPct val="92000"/>
              </a:lnSpc>
              <a:defRPr/>
            </a:pPr>
            <a:r>
              <a:rPr lang="en-US" sz="1800" b="0" i="0" u="none" strike="noStrike">
                <a:solidFill>
                  <a:srgbClr val="34220A"/>
                </a:solidFill>
                <a:latin typeface="Montserrat Alternates Light"/>
                <a:ea typeface="Montserrat Alternates Light"/>
                <a:cs typeface="Montserrat Alternates Light"/>
                <a:sym typeface="Montserrat Alternates Light"/>
              </a:rPr>
              <a:t>support@duomai.com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3124835" y="564515"/>
            <a:ext cx="876300" cy="2159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800" b="1" i="0" u="none" strike="noStrike">
                <a:solidFill>
                  <a:srgbClr val="656B01"/>
                </a:solidFill>
                <a:latin typeface="Montserrat"/>
                <a:ea typeface="Montserrat"/>
                <a:cs typeface="Montserrat"/>
                <a:sym typeface="Montserrat"/>
              </a:rPr>
              <a:t>Brands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811395" y="564515"/>
            <a:ext cx="876300" cy="2159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800" b="1" i="0" u="none" strike="noStrike">
                <a:solidFill>
                  <a:srgbClr val="656B01"/>
                </a:solidFill>
                <a:latin typeface="Montserrat"/>
                <a:ea typeface="Montserrat"/>
                <a:cs typeface="Montserrat"/>
                <a:sym typeface="Montserrat"/>
              </a:rPr>
              <a:t>Publishers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634480" y="564515"/>
            <a:ext cx="1130300" cy="2159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800" b="1" i="0" u="none" strike="noStrike">
                <a:solidFill>
                  <a:srgbClr val="656B01"/>
                </a:solidFill>
                <a:latin typeface="Montserrat"/>
                <a:ea typeface="Montserrat"/>
                <a:cs typeface="Montserrat"/>
                <a:sym typeface="Montserrat"/>
              </a:rPr>
              <a:t>Spotlights Offers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8536940" y="564515"/>
            <a:ext cx="1130300" cy="2159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800" b="1" i="0" u="none" strike="noStrike">
                <a:solidFill>
                  <a:srgbClr val="656B01"/>
                </a:solidFill>
                <a:latin typeface="Montserrat"/>
                <a:ea typeface="Montserrat"/>
                <a:cs typeface="Montserrat"/>
                <a:sym typeface="Montserrat"/>
              </a:rPr>
              <a:t>Solutions</a:t>
            </a:r>
            <a:endParaRPr lang="en-US" sz="110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TABLE_ENDDRAG_ORIGIN_RECT" val="559*304"/>
  <p:tag name="TABLE_ENDDRAG_RECT" val="370*204*559*304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8.xml><?xml version="1.0" encoding="utf-8"?>
<p:tagLst xmlns:p="http://schemas.openxmlformats.org/presentationml/2006/main">
  <p:tag name="KSO_WM_UNIT_PIC_EFFECT" val="1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custom40479684_1*i*1"/>
  <p:tag name="KSO_WM_TEMPLATE_CATEGORY" val="custom"/>
  <p:tag name="KSO_WM_TEMPLATE_INDEX" val="40479684"/>
  <p:tag name="KSO_WM_UNIT_LAYERLEVEL" val="1"/>
  <p:tag name="KSO_WM_TAG_VERSION" val="3.0"/>
  <p:tag name="KSO_WM_BEAUTIFY_FLAG" val="#wm#"/>
  <p:tag name="KSO_WM_UNIT_PIC_EFFECT" val="1"/>
</p:tagLst>
</file>

<file path=ppt/tags/tag70.xml><?xml version="1.0" encoding="utf-8"?>
<p:tagLst xmlns:p="http://schemas.openxmlformats.org/presentationml/2006/main">
  <p:tag name="KSO_WM_UNIT_VALUE" val="2538*1178"/>
  <p:tag name="KSO_WM_UNIT_HIGHLIGHT" val="0"/>
  <p:tag name="KSO_WM_UNIT_COMPATIBLE" val="0"/>
  <p:tag name="KSO_WM_UNIT_DIAGRAM_ISNUMVISUAL" val="0"/>
  <p:tag name="KSO_WM_UNIT_DIAGRAM_ISREFERUNIT" val="0"/>
  <p:tag name="KSO_WM_UNIT_TYPE" val="d"/>
  <p:tag name="KSO_WM_UNIT_INDEX" val="1"/>
  <p:tag name="KSO_WM_UNIT_ID" val="custom40479684_1*d*1"/>
  <p:tag name="KSO_WM_TEMPLATE_CATEGORY" val="custom"/>
  <p:tag name="KSO_WM_TEMPLATE_INDEX" val="40479684"/>
  <p:tag name="KSO_WM_UNIT_LAYERLEVEL" val="1"/>
  <p:tag name="KSO_WM_TAG_VERSION" val="3.0"/>
  <p:tag name="KSO_WM_BEAUTIFY_FLAG" val="#wm#"/>
  <p:tag name="KSO_WM_UNIT_PIC_EFFECT" val="1"/>
</p:tagLst>
</file>

<file path=ppt/tags/tag71.xml><?xml version="1.0" encoding="utf-8"?>
<p:tagLst xmlns:p="http://schemas.openxmlformats.org/presentationml/2006/main">
  <p:tag name="KSO_WM_UNIT_PIC_EFFECT" val="1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custom40479684_1*i*1"/>
  <p:tag name="KSO_WM_TEMPLATE_CATEGORY" val="custom"/>
  <p:tag name="KSO_WM_TEMPLATE_INDEX" val="40479684"/>
  <p:tag name="KSO_WM_UNIT_LAYERLEVEL" val="1"/>
  <p:tag name="KSO_WM_TAG_VERSION" val="3.0"/>
  <p:tag name="KSO_WM_BEAUTIFY_FLAG" val="#wm#"/>
  <p:tag name="KSO_WM_UNIT_PIC_EFFECT" val="1"/>
</p:tagLst>
</file>

<file path=ppt/tags/tag73.xml><?xml version="1.0" encoding="utf-8"?>
<p:tagLst xmlns:p="http://schemas.openxmlformats.org/presentationml/2006/main">
  <p:tag name="KSO_WM_UNIT_VALUE" val="2538*1178"/>
  <p:tag name="KSO_WM_UNIT_HIGHLIGHT" val="0"/>
  <p:tag name="KSO_WM_UNIT_COMPATIBLE" val="0"/>
  <p:tag name="KSO_WM_UNIT_DIAGRAM_ISNUMVISUAL" val="0"/>
  <p:tag name="KSO_WM_UNIT_DIAGRAM_ISREFERUNIT" val="0"/>
  <p:tag name="KSO_WM_UNIT_TYPE" val="d"/>
  <p:tag name="KSO_WM_UNIT_INDEX" val="1"/>
  <p:tag name="KSO_WM_UNIT_ID" val="custom40479684_1*d*1"/>
  <p:tag name="KSO_WM_TEMPLATE_CATEGORY" val="custom"/>
  <p:tag name="KSO_WM_TEMPLATE_INDEX" val="40479684"/>
  <p:tag name="KSO_WM_UNIT_LAYERLEVEL" val="1"/>
  <p:tag name="KSO_WM_TAG_VERSION" val="3.0"/>
  <p:tag name="KSO_WM_BEAUTIFY_FLAG" val="#wm#"/>
  <p:tag name="KSO_WM_UNIT_PIC_EFFECT" val="1"/>
</p:tagLst>
</file>

<file path=ppt/tags/tag7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  <p:tag name="resource_record_key" val="{&quot;65&quot;:[20205081],&quot;8&quot;:[20476883,50073279,50073269]}"/>
</p:tagLst>
</file>

<file path=ppt/tags/tag7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7.xml><?xml version="1.0" encoding="utf-8"?>
<p:tagLst xmlns:p="http://schemas.openxmlformats.org/presentationml/2006/main">
  <p:tag name="resource_record_key" val="{&quot;65&quot;:[20205081],&quot;8&quot;:[20476883,50073279,50073269]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果汁橙">
    <a:dk1>
      <a:srgbClr val="000000"/>
    </a:dk1>
    <a:lt1>
      <a:srgbClr val="FFFFFF"/>
    </a:lt1>
    <a:dk2>
      <a:srgbClr val="000000"/>
    </a:dk2>
    <a:lt2>
      <a:srgbClr val="F8F8F8"/>
    </a:lt2>
    <a:accent1>
      <a:srgbClr val="EE2D2D"/>
    </a:accent1>
    <a:accent2>
      <a:srgbClr val="F89A46"/>
    </a:accent2>
    <a:accent3>
      <a:srgbClr val="F9BFA6"/>
    </a:accent3>
    <a:accent4>
      <a:srgbClr val="F3621B"/>
    </a:accent4>
    <a:accent5>
      <a:srgbClr val="ECB175"/>
    </a:accent5>
    <a:accent6>
      <a:srgbClr val="F29079"/>
    </a:accent6>
    <a:hlink>
      <a:srgbClr val="5F5F5F"/>
    </a:hlink>
    <a:folHlink>
      <a:srgbClr val="919191"/>
    </a:folHlink>
  </a:clrScheme>
  <a:fontScheme name="WPS">
    <a:majorFont>
      <a:latin typeface="Calibri Light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WPS">
    <a:fillStyleLst>
      <a:solidFill>
        <a:schemeClr val="phClr"/>
      </a:solidFill>
      <a:gradFill>
        <a:gsLst>
          <a:gs pos="0">
            <a:schemeClr val="phClr">
              <a:lumOff val="17500"/>
            </a:schemeClr>
          </a:gs>
          <a:gs pos="100000">
            <a:schemeClr val="phClr"/>
          </a:gs>
        </a:gsLst>
        <a:lin ang="2700000" scaled="0"/>
      </a:gradFill>
      <a:gradFill>
        <a:gsLst>
          <a:gs pos="0">
            <a:schemeClr val="phClr">
              <a:hueOff val="-2520000"/>
            </a:schemeClr>
          </a:gs>
          <a:gs pos="100000">
            <a:schemeClr val="phClr"/>
          </a:gs>
        </a:gsLst>
        <a:lin ang="27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2700" cap="flat" cmpd="sng" algn="ctr">
        <a:gradFill>
          <a:gsLst>
            <a:gs pos="0">
              <a:schemeClr val="phClr">
                <a:hueOff val="-4200000"/>
              </a:schemeClr>
            </a:gs>
            <a:gs pos="100000">
              <a:schemeClr val="phClr"/>
            </a:gs>
          </a:gsLst>
          <a:lin ang="2700000" scaled="1"/>
        </a:gradFill>
        <a:prstDash val="solid"/>
        <a:miter lim="800000"/>
      </a:ln>
    </a:lnStyleLst>
    <a:effectStyleLst>
      <a:effectStyle>
        <a:effectLst>
          <a:outerShdw blurRad="101600" dist="50800" dir="5400000" algn="ctr" rotWithShape="0">
            <a:schemeClr val="phClr">
              <a:alpha val="60000"/>
            </a:schemeClr>
          </a:outerShdw>
        </a:effectLst>
      </a:effectStyle>
      <a:effectStyle>
        <a:effectLst>
          <a:reflection stA="50000" endA="300" endPos="40000" dist="25400" dir="5400000" sy="-100000" algn="bl" rotWithShape="0"/>
        </a:effectLst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1483</Words>
  <Application>WPS 演示</Application>
  <PresentationFormat>宽屏</PresentationFormat>
  <Paragraphs>175</Paragraphs>
  <Slides>8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9" baseType="lpstr">
      <vt:lpstr>Arial</vt:lpstr>
      <vt:lpstr>宋体</vt:lpstr>
      <vt:lpstr>Wingdings</vt:lpstr>
      <vt:lpstr>Wingdings</vt:lpstr>
      <vt:lpstr>Arial Regular</vt:lpstr>
      <vt:lpstr>Arial Bold</vt:lpstr>
      <vt:lpstr>微软雅黑</vt:lpstr>
      <vt:lpstr>汉仪旗黑</vt:lpstr>
      <vt:lpstr>苹方-简</vt:lpstr>
      <vt:lpstr>Apple Color Emoji</vt:lpstr>
      <vt:lpstr>宋体</vt:lpstr>
      <vt:lpstr>Arial Unicode MS</vt:lpstr>
      <vt:lpstr>微软雅黑</vt:lpstr>
      <vt:lpstr>汉仪书宋二KW</vt:lpstr>
      <vt:lpstr>Calibri</vt:lpstr>
      <vt:lpstr>Helvetica Neue</vt:lpstr>
      <vt:lpstr>Montserrat Black</vt:lpstr>
      <vt:lpstr>Thonburi</vt:lpstr>
      <vt:lpstr>Montserrat</vt:lpstr>
      <vt:lpstr>Montserrat Alternates Light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丰嘉怡</cp:lastModifiedBy>
  <cp:revision>187</cp:revision>
  <dcterms:created xsi:type="dcterms:W3CDTF">2026-06-26T07:58:47Z</dcterms:created>
  <dcterms:modified xsi:type="dcterms:W3CDTF">2026-06-26T07:58:47Z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2052-7.5.1.8994</vt:lpwstr>
  </property>
  <property fmtid="{D5CDD505-2E9C-101B-9397-08002B2CF9AE}" pid="3" name="ICV">
    <vt:lpwstr>2100D34E74136098CEF13D6A919DA615_41</vt:lpwstr>
  </property>
</Properties>
</file>